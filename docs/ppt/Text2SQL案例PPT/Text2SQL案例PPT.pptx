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3" Type="http://schemas.openxmlformats.org/officeDocument/2006/relationships/slide" Target="slides/slide3.xml" /><Relationship Id="rId10" Type="http://schemas.openxmlformats.org/officeDocument/2006/relationships/slide" Target="slides/slide10.xml" /><Relationship Id="rId14" Type="http://schemas.openxmlformats.org/officeDocument/2006/relationships/presProps" Target="presProps.xml" /><Relationship Id="rId11" Type="http://schemas.openxmlformats.org/officeDocument/2006/relationships/slide" Target="slides/slide11.xml" /><Relationship Id="rId15" Type="http://schemas.openxmlformats.org/officeDocument/2006/relationships/tableStyles" Target="tableStyles.xml" /><Relationship Id="rId12" Type="http://schemas.openxmlformats.org/officeDocument/2006/relationships/slide" Target="slides/slide12.xml" /><Relationship Id="rId13" Type="http://schemas.openxmlformats.org/officeDocument/2006/relationships/notesMaster" Target="notesMasters/notesMaster1.xml" /><Relationship Id="rId4" Type="http://schemas.openxmlformats.org/officeDocument/2006/relationships/slide" Target="slides/slide4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&#13;&#10;    background: 'linear-gradient(135deg, #0F172A 0%, #1E3A8A 100%)',&#13;&#10;    padding: '80px 72px 64px 72px',&#13;&#10;}}&gt;&#13;&#10;    &lt;Box style={{ height: '100%', flexDirection: 'column', justifyContent: 'space-between' }}&gt;&#13;&#10;        &lt;Box style={{ flexDirection: 'column' }}&gt;&#13;&#10;            &lt;Box style={{ width: 76, height: 6, background: '#3B82F6' }} /&gt;&#13;&#10;            &lt;Text style={{&#13;&#10;                fontSize: 54, fontWeight: 'bold', color: '#FFFFFF',&#13;&#10;                lineHeight: 1.2, marginTop: 32, fontFamily: '微软雅黑',&#13;&#10;            }}&gt;&#13;&#10;                基于 Text2SQL 的&lt;br /&gt;电商数据分析 Agent&#13;&#10;            &lt;/Text&gt;&#13;&#10;            &lt;Text style={{&#13;&#10;                fontSize: 22, color: 'rgba(255,255,255,0.78)',&#13;&#10;                marginTop: 26, fontFamily: '微软雅黑',&#13;&#10;            }}&gt;&#13;&#10;                口径集中配置 · 执行前校验 · 结果可追溯&#13;&#10;            &lt;/Text&gt;&#13;&#10;        &lt;/Box&gt;&#13;&#10;&#13;&#10;        &lt;Box style={{ flexDirection: 'column', gap: 14 }}&gt;&#13;&#10;            &lt;Box style={{ width: '100%', height: 1, background: 'rgba(255,255,255,0.22)' }} /&gt;&#13;&#10;            &lt;Box style={{ flexDirection: 'row', alignItems: 'center', gap: 36 }}&gt;&#13;&#10;                &lt;Text style={{ fontSize: 16, color: 'rgba(255,255,255,0.70)', fontFamily: '微软雅黑' }}&gt;&#13;&#10;                    课程：（待填写）&#13;&#10;                &lt;/Text&gt;&#13;&#10;                &lt;Text style={{ fontSize: 16, color: 'rgba(255,255,255,0.70)', fontFamily: '微软雅黑' }}&gt;&#13;&#10;                    姓名：李金盛&#13;&#10;                &lt;/Text&gt;&#13;&#10;                &lt;Text style={{ fontSize: 16, color: 'rgba(255,255,255,0.70)', fontFamily: '微软雅黑' }}&gt;&#13;&#10;                    日期：2026-09-15&#13;&#10;                &lt;/Text&gt;&#13;&#10;            &lt;/Box&gt;&#13;&#10;        &lt;/Box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3A8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85800" y="762000"/>
            <a:ext cx="723900" cy="571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85800" y="1123950"/>
            <a:ext cx="10820400" cy="14859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050" b="1">
                <a:solidFill>
                  <a:srgbClr val="FFFFFF"/>
                </a:solidFill>
                <a:latin typeface="微软雅黑"/>
                <a:ea typeface="微软雅黑"/>
              </a:rPr>
              <a:t>基于</a:t>
            </a:r>
            <a:r>
              <a:rPr lang="en-US" sz="4050" b="1">
                <a:solidFill>
                  <a:srgbClr val="FFFFFF"/>
                </a:solidFill>
                <a:latin typeface="微软雅黑"/>
                <a:ea typeface="微软雅黑"/>
              </a:rPr>
              <a:t> Text2SQL </a:t>
            </a:r>
            <a:r>
              <a:rPr lang="zh-CN" sz="4050" b="1">
                <a:solidFill>
                  <a:srgbClr val="FFFFFF"/>
                </a:solidFill>
                <a:latin typeface="微软雅黑"/>
                <a:ea typeface="微软雅黑"/>
              </a:rPr>
              <a:t>的</a:t>
            </a:r>
            <a:endParaRPr/>
          </a:p>
          <a:p>
            <a:pPr>
              <a:lnSpc>
                <a:spcPct val="120000"/>
              </a:lnSpc>
            </a:pPr>
            <a:r>
              <a:rPr lang="zh-CN" sz="4050" b="1">
                <a:solidFill>
                  <a:srgbClr val="FFFFFF"/>
                </a:solidFill>
                <a:latin typeface="微软雅黑"/>
                <a:ea typeface="微软雅黑"/>
              </a:rPr>
              <a:t>电商数据分析</a:t>
            </a:r>
            <a:r>
              <a:rPr lang="en-US" sz="4050" b="1">
                <a:solidFill>
                  <a:srgbClr val="FFFFFF"/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85800" y="2857500"/>
            <a:ext cx="10820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口径集中配置</a:t>
            </a:r>
            <a:r>
              <a:rPr lang="en-US" sz="1650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 · </a:t>
            </a:r>
            <a:r>
              <a:rPr lang="zh-CN" sz="1650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执行前校验</a:t>
            </a:r>
            <a:r>
              <a:rPr lang="en-US" sz="1650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 · </a:t>
            </a:r>
            <a:r>
              <a:rPr lang="zh-CN" sz="1650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结果可追溯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85800" y="5915025"/>
            <a:ext cx="10820400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60579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课程：（待填写）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2247900" y="60579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姓名：李金盛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3505200" y="605790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日期：</a:t>
            </a:r>
            <a:r>
              <a:rPr lang="en-US" sz="1200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2026-09-15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20" name="" descr="&lt;Slide style={{ background: '#FFFFFF', padding: '32px 56px 24px 56px' }}&gt;&#13;&#10;        &lt;Box style={{ height: 84, flexDirection: 'row', alignItems: 'center', gap: 16 }}&gt;&#13;&#10;        &lt;Box style={{ width: 6, height: 44, background: '#3B82F6' }} /&gt;&#13;&#10;        &lt;Text style={{ fontSize: 34, fontWeight: 'bold', color: '#0F172A', fontFamily: '微软雅黑' }}&gt;&#13;&#10;            业务要一个数，要等多久&#13;&#10;        &lt;/Text&gt;&#13;&#10;    &lt;/Box&gt;&#13;&#10;&#13;&#10;        &lt;Box style={{ height: 548, flexDirection: 'row', gap: 32 }}&gt;&#13;&#10;                &lt;Box style={{ width: 688, flexDirection: 'column' }}&gt;&#13;&#10;            &lt;Text style={{ fontSize: 22, fontWeight: 'bold', color: '#0F172A', fontFamily: '微软雅黑' }}&gt;&#13;&#10;                一次业务取数的实际路径&#13;&#10;            &lt;/Text&gt;&#13;&#10;            &lt;Box style={{ height: 14 }} /&gt;&#13;&#10;            {[&#13;&#10;                ['1', '业务提出需求', '一句话描述要什么数，通常不带口径'],&#13;&#10;                ['2', '数据同学排期', '需求进入队列，交付时间取决于人力'],&#13;&#10;                ['3', '来回确认口径', '“销量”是订单数还是商品件数，靠口头对齐'],&#13;&#10;                ['4', '写 SQL 取数', '同类逻辑反复重写，上次的结果无法复用'],&#13;&#10;                ['5', '交付表格', '结果离开上下文，下次还要再问一遍'],&#13;&#10;            ].map((row, i) =&gt; (&#13;&#10;                &lt;Box key={i} style={{ flexDirection: 'row', alignItems: 'center', gap: 16, height: 64 }}&gt;&#13;&#10;                    &lt;Box style={{&#13;&#10;                        width: 40, height: 40, borderRadius: 8,&#13;&#10;                        background: i === 0 ? '#3B82F6' : 'rgba(59,130,246,0.12)',&#13;&#10;                        alignItems: 'center', justifyContent: 'center',&#13;&#10;                    }}&gt;&#13;&#10;                        &lt;Text style={{&#13;&#10;                            fontSize: 18, fontWeight: 'bold',&#13;&#10;                            color: i === 0 ? '#FFFFFF' : '#3B82F6',&#13;&#10;                            fontFamily: 'Consolas',&#13;&#10;                        }}&gt;{row[0]}&lt;/Text&gt;&#13;&#10;                    &lt;/Box&gt;&#13;&#10;                    &lt;Box style={{ flexDirection: 'column', gap: 3 }}&gt;&#13;&#10;                        &lt;Text style={{ fontSize: 19, fontWeight: 'bold', color: '#0F172A', fontFamily: '微软雅黑' }}&gt;&#13;&#10;                            {row[1]}&#13;&#10;                        &lt;/Text&gt;&#13;&#10;                        &lt;Text style={{ fontSize: 15, color: 'rgba(15,23,42,0.66)', fontFamily: '微软雅黑' }}&gt;&#13;&#10;                            {row[2]}&#13;&#10;                        &lt;/Text&gt;&#13;&#10;                    &lt;/Box&gt;&#13;&#10;                &lt;/Box&gt;&#13;&#10;            ))}&#13;&#10;            &lt;Box style={{ height: 18 }} /&gt;&#13;&#10;            &lt;Box style={{&#13;&#10;                background: 'rgba(6,182,212,0.10)',&#13;&#10;                borderLeft: '4px solid #06B6D4',&#13;&#10;                padding: '14px 18px',&#13;&#10;                borderRadius: 6,&#13;&#10;            }}&gt;&#13;&#10;                &lt;Text style={{ fontSize: 16, color: '#0F172A', lineHeight: 1.5, fontFamily: '微软雅黑' }}&gt;&#13;&#10;                    三步损耗落在等待、口径与复用上，交付周期由此被人为拉长。&#13;&#10;                &lt;/Text&gt;&#13;&#10;            &lt;/Box&gt;&#13;&#10;        &lt;/Box&gt;&#13;&#10;&#13;&#10;                &lt;Box style={{ width: 448, flexDirection: 'column' }}&gt;&#13;&#10;            &lt;Text style={{ fontSize: 22, fontWeight: 'bold', color: '#0F172A', fontFamily: '微软雅黑' }}&gt;&#13;&#10;                损耗集中在三处&#13;&#10;            &lt;/Text&gt;&#13;&#10;            &lt;Box style={{ height: 14 }} /&gt;&#13;&#10;            {[&#13;&#10;                ['等待', '需求排队，交付周期由人力决定；问题越急，等待成本越高。'],&#13;&#10;                ['口径歧义', '同一个业务词在不同人手里对应不同的 SQL，结果对不上又难以定位。'],&#13;&#10;                ['重复劳动', '相似需求每次从头对齐一遍，口径没有沉淀成可复用的资产。'],&#13;&#10;            ].map((row, i) =&gt; (&#13;&#10;                &lt;Box key={i} style={{&#13;&#10;                    background: 'rgba(59,130,246,0.08)',&#13;&#10;                    borderRadius: 8,&#13;&#10;                    padding: '20px 20px',&#13;&#10;                    marginBottom: 14,&#13;&#10;                    flexDirection: 'column',&#13;&#10;                    gap: 8,&#13;&#10;                }}&gt;&#13;&#10;                    &lt;Text style={{ fontSize: 19, fontWeight: 'bold', color: '#3B82F6', fontFamily: '微软雅黑' }}&gt;&#13;&#10;                        {row[0]}&#13;&#10;                    &lt;/Text&gt;&#13;&#10;                    &lt;Text style={{ fontSize: 15, color: '#0F172A', lineHeight: 1.5, fontFamily: '微软雅黑' }}&gt;&#13;&#10;                        {row[1]}&#13;&#10;                    &lt;/Text&gt;&#13;&#10;                &lt;/Box&gt;&#13;&#10;            ))}&#13;&#10;        &lt;/Box&gt;&#13;&#10;    &lt;/Box&gt;&#13;&#10;&#13;&#10;        &lt;Box style={{ height: 32, flexDirection: 'row', alignItems: 'center', justifyContent: 'space-between' }}&gt;&#13;&#10;        &lt;Text style={{ fontSize: 14, color: 'rgba(15,23,42,0.60)', fontFamily: '微软雅黑' }}&gt;&#13;&#10;            Text2SQL 电商数据分析 Agent&#13;&#10;        &lt;/Text&gt;&#13;&#10;        &lt;Text style={{ fontSize: 14, color: 'rgba(15,23,42,0.60)', fontFamily: '微软雅黑' }}&gt;02 / 12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2" name=""/>
          <p:cNvSpPr/>
          <p:nvPr/>
        </p:nvSpPr>
        <p:spPr>
          <a:xfrm rot="0" flipH="0" flipV="0">
            <a:off x="533400" y="495300"/>
            <a:ext cx="57150" cy="4191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42950" y="51435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/>
                <a:ea typeface="微软雅黑"/>
              </a:rPr>
              <a:t>业务要一个数，要等多久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33400" y="1104900"/>
            <a:ext cx="655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微软雅黑"/>
                <a:ea typeface="微软雅黑"/>
              </a:rPr>
              <a:t>一次业务取数的实际路径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533400" y="16097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76275" y="1695450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066800" y="1590675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微软雅黑"/>
                <a:ea typeface="微软雅黑"/>
              </a:rPr>
              <a:t>业务提出需求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066800" y="1838325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一句话描述要什么数，通常不带口径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533400" y="22193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3B82F6">
              <a:alpha val="12000"/>
            </a:srgbClr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76275" y="2305050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B82F6"/>
                </a:solidFill>
                <a:latin typeface="Consolas"/>
                <a:ea typeface="Consolas"/>
              </a:rPr>
              <a:t>2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066800" y="2200275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微软雅黑"/>
                <a:ea typeface="微软雅黑"/>
              </a:rPr>
              <a:t>数据同学排期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066800" y="2447925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需求进入队列，交付时间取决于人力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533400" y="28289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3B82F6">
              <a:alpha val="12000"/>
            </a:srgbClr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76275" y="2914650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B82F6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066800" y="2809875"/>
            <a:ext cx="2695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微软雅黑"/>
                <a:ea typeface="微软雅黑"/>
              </a:rPr>
              <a:t>来回确认口径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066800" y="3057525"/>
            <a:ext cx="2695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“销量”是订单数还是商品件数，靠口头对齐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533400" y="34385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3B82F6">
              <a:alpha val="12000"/>
            </a:srgbClr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76275" y="3524250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B82F6"/>
                </a:solidFill>
                <a:latin typeface="Consolas"/>
                <a:ea typeface="Consolas"/>
              </a:rPr>
              <a:t>4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066800" y="3419475"/>
            <a:ext cx="2571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微软雅黑"/>
                <a:ea typeface="微软雅黑"/>
              </a:rPr>
              <a:t>写</a:t>
            </a:r>
            <a:r>
              <a:rPr lang="en-US" sz="1425" b="1">
                <a:solidFill>
                  <a:srgbClr val="0F172A"/>
                </a:solidFill>
                <a:latin typeface="微软雅黑"/>
                <a:ea typeface="微软雅黑"/>
              </a:rPr>
              <a:t> SQL </a:t>
            </a:r>
            <a:r>
              <a:rPr lang="zh-CN" sz="1425" b="1">
                <a:solidFill>
                  <a:srgbClr val="0F172A"/>
                </a:solidFill>
                <a:latin typeface="微软雅黑"/>
                <a:ea typeface="微软雅黑"/>
              </a:rPr>
              <a:t>取数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066800" y="3667125"/>
            <a:ext cx="2571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同类逻辑反复重写，上次的结果无法复用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533400" y="40481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3B82F6">
              <a:alpha val="12000"/>
            </a:srgbClr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76275" y="4133850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B82F6"/>
                </a:solidFill>
                <a:latin typeface="Consolas"/>
                <a:ea typeface="Consolas"/>
              </a:rPr>
              <a:t>5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066800" y="4029075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微软雅黑"/>
                <a:ea typeface="微软雅黑"/>
              </a:rPr>
              <a:t>交付表格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066800" y="4276725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结果离开上下文，下次还要再问一遍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571500" y="4714875"/>
            <a:ext cx="6553200" cy="542925"/>
          </a:xfrm>
          <a:prstGeom prst="roundRect">
            <a:avLst>
              <a:gd name="adj" fmla="val 10526"/>
            </a:avLst>
          </a:prstGeom>
          <a:solidFill>
            <a:srgbClr val="06B6D4">
              <a:alpha val="10000"/>
            </a:srgbClr>
          </a:solidFill>
          <a:ln/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571500" y="4714875"/>
            <a:ext cx="6553200" cy="542925"/>
          </a:xfrm>
          <a:custGeom>
            <a:pathLst>
              <a:path w="688" h="57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55"/>
                </a:lnTo>
                <a:cubicBezTo>
                  <a:pt x="4" y="56"/>
                  <a:pt x="5" y="57"/>
                  <a:pt x="6" y="57"/>
                </a:cubicBezTo>
                <a:cubicBezTo>
                  <a:pt x="3" y="57"/>
                  <a:pt x="0" y="54"/>
                  <a:pt x="0" y="5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42950" y="4848225"/>
            <a:ext cx="6172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0F172A"/>
                </a:solidFill>
                <a:latin typeface="微软雅黑"/>
                <a:ea typeface="微软雅黑"/>
              </a:rPr>
              <a:t>三步损耗落在等待、口径与复用上，交付周期由此被人为拉长。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391400" y="1104900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微软雅黑"/>
                <a:ea typeface="微软雅黑"/>
              </a:rPr>
              <a:t>损耗集中在三处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7391400" y="1495425"/>
            <a:ext cx="4267200" cy="933450"/>
          </a:xfrm>
          <a:prstGeom prst="roundRect">
            <a:avLst>
              <a:gd name="adj" fmla="val 8163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581900" y="1685925"/>
            <a:ext cx="3886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B82F6"/>
                </a:solidFill>
                <a:latin typeface="微软雅黑"/>
                <a:ea typeface="微软雅黑"/>
              </a:rPr>
              <a:t>等待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581900" y="1981200"/>
            <a:ext cx="3886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0F172A"/>
                </a:solidFill>
                <a:latin typeface="微软雅黑"/>
                <a:ea typeface="微软雅黑"/>
              </a:rPr>
              <a:t>需求排队，交付周期由人力决定；问题越急，等待成本越高。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7391400" y="2562225"/>
            <a:ext cx="4267200" cy="1190625"/>
          </a:xfrm>
          <a:prstGeom prst="roundRect">
            <a:avLst>
              <a:gd name="adj" fmla="val 6400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581900" y="2752725"/>
            <a:ext cx="3886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B82F6"/>
                </a:solidFill>
                <a:latin typeface="微软雅黑"/>
                <a:ea typeface="微软雅黑"/>
              </a:rPr>
              <a:t>口径歧义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581900" y="3048000"/>
            <a:ext cx="3886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0F172A"/>
                </a:solidFill>
                <a:latin typeface="微软雅黑"/>
                <a:ea typeface="微软雅黑"/>
              </a:rPr>
              <a:t>同一个业务词在不同人手里对应不同的</a:t>
            </a:r>
            <a:r>
              <a:rPr lang="en-US" sz="1125">
                <a:solidFill>
                  <a:srgbClr val="0F172A"/>
                </a:solidFill>
                <a:latin typeface="微软雅黑"/>
                <a:ea typeface="微软雅黑"/>
              </a:rPr>
              <a:t> SQL</a:t>
            </a:r>
            <a:r>
              <a:rPr lang="zh-CN" sz="1125">
                <a:solidFill>
                  <a:srgbClr val="0F172A"/>
                </a:solidFill>
                <a:latin typeface="微软雅黑"/>
                <a:ea typeface="微软雅黑"/>
              </a:rPr>
              <a:t>，结果对不上又难以定位。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7391400" y="3886200"/>
            <a:ext cx="4267200" cy="933450"/>
          </a:xfrm>
          <a:prstGeom prst="roundRect">
            <a:avLst>
              <a:gd name="adj" fmla="val 8163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581900" y="4076700"/>
            <a:ext cx="3886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B82F6"/>
                </a:solidFill>
                <a:latin typeface="微软雅黑"/>
                <a:ea typeface="微软雅黑"/>
              </a:rPr>
              <a:t>重复劳动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581900" y="4371975"/>
            <a:ext cx="3886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0F172A"/>
                </a:solidFill>
                <a:latin typeface="微软雅黑"/>
                <a:ea typeface="微软雅黑"/>
              </a:rPr>
              <a:t>相似需求每次从头对齐一遍，口径没有沉淀成可复用的资产。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5334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229975" y="64008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60" name="" descr="&lt;Slide style={{ background: '#FFFFFF', padding: '32px 56px 24px 56px' }}&gt;&#13;&#10;        &lt;Box style={{ height: 84, flexDirection: 'row', alignItems: 'center', gap: 16 }}&gt;&#13;&#10;        &lt;Box style={{ width: 6, height: 44, background: '#3B82F6' }} /&gt;&#13;&#10;        &lt;Text style={{ fontSize: 34, fontWeight: 'bold', color: '#0F172A', fontFamily: '微软雅黑' }}&gt;&#13;&#10;            一句话进来，可追溯的结果出去&#13;&#10;        &lt;/Text&gt;&#13;&#10;    &lt;/Box&gt;&#13;&#10;&#13;&#10;        &lt;Box style={{ height: 548, flexDirection: 'row', gap: 32 }}&gt;&#13;&#10;                &lt;Box style={{ width: 330, flexDirection: 'column' }}&gt;&#13;&#10;            &lt;Text style={{ fontSize: 22, fontWeight: 'bold', color: '#0F172A', fontFamily: '微软雅黑' }}&gt;&#13;&#10;                四段闭环&#13;&#10;            &lt;/Text&gt;&#13;&#10;            &lt;Box style={{ height: 16 }} /&gt;&#13;&#10;            {[&#13;&#10;                ['意图识别', '判断是取数、追问还是闲聊'],&#13;&#10;                ['口径召回', '从语义层取回指标与维度定义'],&#13;&#10;                ['生成与校验', '出 SQL，先过守卫再执行'],&#13;&#10;                ['执行与呈现', '结果配图表与结论一起返回'],&#13;&#10;            ].map((row, i) =&gt; (&#13;&#10;                &lt;Box key={i} style={{ flexDirection: 'column' }}&gt;&#13;&#10;                    &lt;Box style={{&#13;&#10;                        flexDirection: 'row', alignItems: 'center', gap: 12,&#13;&#10;                        background: i === 0 ? '#3B82F6' : i === 1 ? '#06B6D4' : 'rgba(59,130,246,0.12)',&#13;&#10;                        borderRadius: 8, padding: '14px 16px',&#13;&#10;                    }}&gt;&#13;&#10;                        &lt;Text style={{&#13;&#10;                            fontSize: 16, fontWeight: 'bold', fontFamily: 'Consolas',&#13;&#10;                            color: i &lt; 2 ? '#FFFFFF' : '#3B82F6',&#13;&#10;                        }}&gt;0{i + 1}&lt;/Text&gt;&#13;&#10;                        &lt;Box style={{ flexDirection: 'column', gap: 2 }}&gt;&#13;&#10;                            &lt;Text style={{&#13;&#10;                                fontSize: 18, fontWeight: 'bold', fontFamily: '微软雅黑',&#13;&#10;                                color: i &lt; 2 ? '#FFFFFF' : '#0F172A',&#13;&#10;                            }}&gt;{row[0]}&lt;/Text&gt;&#13;&#10;                            &lt;Text style={{&#13;&#10;                                fontSize: 14, fontFamily: '微软雅黑',&#13;&#10;                                color: i &lt; 2 ? 'rgba(255,255,255,0.85)' : 'rgba(15,23,42,0.66)',&#13;&#10;                            }}&gt;{row[1]}&lt;/Text&gt;&#13;&#10;                        &lt;/Box&gt;&#13;&#10;                    &lt;/Box&gt;&#13;&#10;                    {i &lt; 3 ? &lt;Box style={{ width: 2, height: 16, background: '#3B82F6', marginLeft: 24 }} /&gt; : null}&#13;&#10;                &lt;/Box&gt;&#13;&#10;            ))}&#13;&#10;            &lt;Box style={{ height: 20 }} /&gt;&#13;&#10;            &lt;Box style={{ background: 'rgba(6,182,212,0.10)', borderRadius: 8, padding: '16px 18px' }}&gt;&#13;&#10;                &lt;Text style={{ fontSize: 15, color: '#0F172A', lineHeight: 1.5, fontFamily: '微软雅黑' }}&gt;&#13;&#10;                    每一段的输入输出都有明确落点，任一段失败都能定位到具体环节。&#13;&#10;                &lt;/Text&gt;&#13;&#10;            &lt;/Box&gt;&#13;&#10;        &lt;/Box&gt;&#13;&#10;&#13;&#10;                &lt;Box style={{ width: 806, flexDirection: 'column' }}&gt;&#13;&#10;            &lt;Text style={{ fontSize: 22, fontWeight: 'bold', color: '#0F172A', fontFamily: '微软雅黑' }}&gt;&#13;&#10;                “可信”指什么：三条判据，各落到一个机制&#13;&#10;            &lt;/Text&gt;&#13;&#10;            &lt;Box style={{ height: 16 }} /&gt;&#13;&#10;            &lt;Table&#13;&#10;                style={{ width: '100%', height: 320 }}&#13;&#10;                defaultTextStyle={{ fontSize: 15, textAlign: 'left', fontFamily: '微软雅黑', color: '#0F172A' }}&#13;&#10;                defaultCellStyle={{&#13;&#10;                    padding: 14,&#13;&#10;                    border: {&#13;&#10;                        left: { width: 1, color: 'rgba(15,23,42,0.12)' },&#13;&#10;                        right: { width: 1, color: 'rgba(15,23,42,0.12)' },&#13;&#10;                        top: { width: 1, color: 'rgba(15,23,42,0.12)' },&#13;&#10;                        bottom: { width: 1, color: 'rgba(15,23,42,0.12)' },&#13;&#10;                    },&#13;&#10;                }}&#13;&#10;                cells={[&#13;&#10;                    [&#13;&#10;                        { text: '判据', textStyle: { bold: true, color: '#FFFFFF', fontSize: 16 }, cellStyle: { background: { color: '#06B6D4' } } },&#13;&#10;                        { text: '实现方式', textStyle: { bold: true, color: '#FFFFFF', fontSize: 16 }, cellStyle: { background: { color: '#06B6D4' } } },&#13;&#10;                        { text: '落到哪里', textStyle: { bold: true, color: '#FFFFFF', fontSize: 16 }, cellStyle: { background: { color: '#06B6D4' } } },&#13;&#10;                    ],&#13;&#10;                    [&#13;&#10;                        { text: '口径可追溯', textStyle: { bold: true } },&#13;&#10;                        '命中的指标与维度随结果返回，边界说明原样透传',&#13;&#10;                        '结果区展示本轮采用的指标与 caveats',&#13;&#10;                    ],&#13;&#10;                    [&#13;&#10;                        { text: '过程可核对', textStyle: { bold: true }, cellStyle: { background: { color: 'rgba(15,23,42,0.04)' } } },&#13;&#10;                        { text: '本轮 SQL 与结果集对使用者可见，不隐藏中间过程', cellStyle: { background: { color: 'rgba(15,23,42,0.04)' } } },&#13;&#10;                        { text: 'SQL 面板与结果表同屏呈现', cellStyle: { background: { color: 'rgba(15,23,42,0.04)' } } },&#13;&#10;                    ],&#13;&#10;                    [&#13;&#10;                        { text: '越权不会发生', textStyle: { bold: true } },&#13;&#10;                        '执行前在 AST 层校验，只放行单条查询类语句',&#13;&#10;                        '守卫九条规则，逐条有对应用例',&#13;&#10;                    ],&#13;&#10;                ]}&#13;&#10;            /&gt;&#13;&#10;            &lt;Box style={{ height: 18 }} /&gt;&#13;&#10;            &lt;Text style={{ fontSize: 16, color: 'rgba(15,23,42,0.72)', lineHeight: 1.55, fontFamily: '微软雅黑' }}&gt;&#13;&#10;                三条判据不是并列口号：前两条决定结果能不能被复核，第三条决定系统在被诱导时会不会越界。&#13;&#10;            &lt;/Text&gt;&#13;&#10;        &lt;/Box&gt;&#13;&#10;    &lt;/Box&gt;&#13;&#10;&#13;&#10;        &lt;Box style={{ height: 32, flexDirection: 'row', alignItems: 'center', justifyContent: 'space-between' }}&gt;&#13;&#10;        &lt;Text style={{ fontSize: 14, color: 'rgba(15,23,42,0.60)', fontFamily: '微软雅黑' }}&gt;&#13;&#10;            Text2SQL 电商数据分析 Agent&#13;&#10;        &lt;/Text&gt;&#13;&#10;        &lt;Text style={{ fontSize: 14, color: 'rgba(15,23,42,0.60)', fontFamily: '微软雅黑' }}&gt;03 / 12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533400" y="495300"/>
            <a:ext cx="57150" cy="4191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742950" y="51435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/>
                <a:ea typeface="微软雅黑"/>
              </a:rPr>
              <a:t>一句话进来，可追溯的结果出去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33400" y="1104900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微软雅黑"/>
                <a:ea typeface="微软雅黑"/>
              </a:rPr>
              <a:t>四段闭环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533400" y="1514475"/>
            <a:ext cx="3143250" cy="657225"/>
          </a:xfrm>
          <a:prstGeom prst="roundRect">
            <a:avLst>
              <a:gd name="adj" fmla="val 11594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85800" y="1752600"/>
            <a:ext cx="171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</a:rPr>
              <a:t>0</a:t>
            </a:r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971550" y="1647825"/>
            <a:ext cx="1600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/>
                <a:ea typeface="微软雅黑"/>
              </a:rPr>
              <a:t>意图识别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971550" y="18764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微软雅黑"/>
                <a:ea typeface="微软雅黑"/>
              </a:rPr>
              <a:t>判断是取数、追问还是闲聊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762000" y="2171700"/>
            <a:ext cx="19050" cy="152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533400" y="2324100"/>
            <a:ext cx="3143250" cy="657225"/>
          </a:xfrm>
          <a:prstGeom prst="roundRect">
            <a:avLst>
              <a:gd name="adj" fmla="val 11594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85800" y="2562225"/>
            <a:ext cx="171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</a:rPr>
              <a:t>0</a:t>
            </a:r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971550" y="2457450"/>
            <a:ext cx="1733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/>
                <a:ea typeface="微软雅黑"/>
              </a:rPr>
              <a:t>口径召回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971550" y="2686050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微软雅黑"/>
                <a:ea typeface="微软雅黑"/>
              </a:rPr>
              <a:t>从语义层取回指标与维度定义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762000" y="2981325"/>
            <a:ext cx="19050" cy="152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533400" y="3133725"/>
            <a:ext cx="3143250" cy="657225"/>
          </a:xfrm>
          <a:prstGeom prst="roundRect">
            <a:avLst>
              <a:gd name="adj" fmla="val 11594"/>
            </a:avLst>
          </a:prstGeom>
          <a:solidFill>
            <a:srgbClr val="3B82F6">
              <a:alpha val="12000"/>
            </a:srgbClr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85800" y="3371850"/>
            <a:ext cx="171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B82F6"/>
                </a:solidFill>
                <a:latin typeface="Consolas"/>
                <a:ea typeface="Consolas"/>
              </a:rPr>
              <a:t>0</a:t>
            </a:r>
            <a:r>
              <a:rPr lang="en-US" sz="1200" b="1">
                <a:solidFill>
                  <a:srgbClr val="3B82F6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971550" y="3267075"/>
            <a:ext cx="1485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微软雅黑"/>
                <a:ea typeface="微软雅黑"/>
              </a:rPr>
              <a:t>生成与校验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971550" y="3495675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出</a:t>
            </a:r>
            <a:r>
              <a:rPr lang="en-US" sz="1050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 SQL</a:t>
            </a:r>
            <a:r>
              <a:rPr lang="zh-CN" sz="1050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，先过守卫再执行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762000" y="3790950"/>
            <a:ext cx="19050" cy="152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533400" y="3943350"/>
            <a:ext cx="3143250" cy="657225"/>
          </a:xfrm>
          <a:prstGeom prst="roundRect">
            <a:avLst>
              <a:gd name="adj" fmla="val 11594"/>
            </a:avLst>
          </a:prstGeom>
          <a:solidFill>
            <a:srgbClr val="3B82F6">
              <a:alpha val="12000"/>
            </a:srgbClr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85800" y="4181475"/>
            <a:ext cx="171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B82F6"/>
                </a:solidFill>
                <a:latin typeface="Consolas"/>
                <a:ea typeface="Consolas"/>
              </a:rPr>
              <a:t>0</a:t>
            </a:r>
            <a:r>
              <a:rPr lang="en-US" sz="1200" b="1">
                <a:solidFill>
                  <a:srgbClr val="3B82F6"/>
                </a:solidFill>
                <a:latin typeface="Consolas"/>
                <a:ea typeface="Consolas"/>
              </a:rPr>
              <a:t>4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971550" y="4076700"/>
            <a:ext cx="1600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微软雅黑"/>
                <a:ea typeface="微软雅黑"/>
              </a:rPr>
              <a:t>执行与呈现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971550" y="43053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结果配图表与结论一起返回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533400" y="4791075"/>
            <a:ext cx="3143250" cy="819150"/>
          </a:xfrm>
          <a:prstGeom prst="roundRect">
            <a:avLst>
              <a:gd name="adj" fmla="val 9302"/>
            </a:avLst>
          </a:prstGeom>
          <a:solidFill>
            <a:srgbClr val="06B6D4">
              <a:alpha val="10000"/>
            </a:srgbClr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04850" y="4943475"/>
            <a:ext cx="28003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0F172A"/>
                </a:solidFill>
                <a:latin typeface="微软雅黑"/>
                <a:ea typeface="微软雅黑"/>
              </a:rPr>
              <a:t>每一段的输入输出都有明确落点，任一段失败都能定位到具体环节。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3981450" y="1104900"/>
            <a:ext cx="7677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微软雅黑"/>
                <a:ea typeface="微软雅黑"/>
              </a:rPr>
              <a:t>“可信”指什么：三条判据，各落到一个机制</a:t>
            </a:r>
            <a:endParaRPr/>
          </a:p>
        </p:txBody>
      </p:sp>
      <p:graphicFrame>
        <p:nvGraphicFramePr>
          <p:cNvPr id="187" name=""/>
          <p:cNvGraphicFramePr/>
          <p:nvPr/>
        </p:nvGraphicFramePr>
        <p:xfrm rot="0" flipH="0" flipV="0">
          <a:off x="3981450" y="1514475"/>
          <a:ext cx="7677150" cy="3048000"/>
        </p:xfrm>
        <a:graphic>
          <a:graphicData uri="http://schemas.openxmlformats.org/drawingml/2006/table">
            <a:tbl>
              <a:tblGrid>
                <a:gridCol w="1084909">
                  <a:extLst>
                    <a:ext uri="{9D8B030D-6E8A-4147-A177-3AD203B41FA5}">
                      <a16:colId val="1"/>
                    </a:ext>
                  </a:extLst>
                </a:gridCol>
                <a:gridCol w="3764505">
                  <a:extLst>
                    <a:ext uri="{9D8B030D-6E8A-4147-A177-3AD203B41FA5}">
                      <a16:colId val="2"/>
                    </a:ext>
                  </a:extLst>
                </a:gridCol>
                <a:gridCol w="2827736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79760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判据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实现方式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落到哪里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75013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口径可追溯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命中的指标与维度随结果返回，边界说明原样透传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结果区展示本轮采用的指标与 caveats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75013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过程可核对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本轮 SQL 与结果集对使用者可见，不隐藏中间过程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SQL 面板与结果表同屏呈现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75013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越权不会发生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执行前在 AST 层校验，只放行单条查询类语句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守卫九条规则，逐条有对应用例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3981450" y="4733925"/>
            <a:ext cx="76771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0F172A">
                    <a:alpha val="72000"/>
                  </a:srgbClr>
                </a:solidFill>
                <a:latin typeface="微软雅黑"/>
                <a:ea typeface="微软雅黑"/>
              </a:rPr>
              <a:t>三条判据不是并列口号：前两条决定结果能不能被复核，第三条决定系统在被诱导时会不会越界。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334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1229975" y="64008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91" name="" descr="&lt;Slide style={{ background: '#FFFFFF', padding: '32px 56px 24px 56px' }}&gt;&#13;&#10;        &lt;Box style={{ height: 84, flexDirection: 'row', alignItems: 'center', gap: 16 }}&gt;&#13;&#10;        &lt;Box style={{ width: 6, height: 44, background: '#3B82F6' }} /&gt;&#13;&#10;        &lt;Text style={{ fontSize: 34, fontWeight: 'bold', color: '#0F172A', fontFamily: '微软雅黑' }}&gt;&#13;&#10;            六层职责，单进程部署&#13;&#10;        &lt;/Text&gt;&#13;&#10;    &lt;/Box&gt;&#13;&#10;&#13;&#10;        &lt;Box style={{ height: 548, flexDirection: 'column' }}&gt;&#13;&#10;                &lt;Box style={{ flexDirection: 'column' }}&gt;&#13;&#10;            &lt;Box style={{ flexDirection: 'row', height: 30, alignItems: 'center' }}&gt;&#13;&#10;                &lt;Text style={{ fontSize: 14, fontWeight: 'bold', color: 'rgba(15,23,42,0.55)', width: 250, fontFamily: '微软雅黑' }}&gt;&#13;&#10;                    分层硬约束&#13;&#10;                &lt;/Text&gt;&#13;&#10;                &lt;Text style={{ fontSize: 14, fontWeight: 'bold', color: 'rgba(15,23,42,0.55)', width: 150, fontFamily: '微软雅黑' }}&gt;&#13;&#10;                    层&#13;&#10;                &lt;/Text&gt;&#13;&#10;                &lt;Text style={{ fontSize: 14, fontWeight: 'bold', color: 'rgba(15,23,42,0.55)', fontFamily: '微软雅黑' }}&gt;&#13;&#10;                    职责&#13;&#10;                &lt;/Text&gt;&#13;&#10;            &lt;/Box&gt;&#13;&#10;            &lt;Box style={{ height: 8 }} /&gt;&#13;&#10;            {[&#13;&#10;                ['只做参数校验与序列化', 'api 接口层', '15 个 HTTP 接口，含 SSE 流式对话与语义层调试接口'],&#13;&#10;                ['不直接连数据库', 'agent 编排层', '8 个业务节点 + 3 个终态节点，重试回环与 Checkpointer'],&#13;&#10;                ['不调模型、不执行 SQL', 'semantic 语义层', '7 个指标、6 张业务表、9 个维度，另含取值同义与时间词映射'],&#13;&#10;                ['密钥只从 .env 读取', 'llm 模型层', '网关抽象与桩实现同接口，便于替换与离线测试'],&#13;&#10;                ['只暴露仓储层方法', 'db 数据层', '只读连接、守卫校验、行数上限与超时中断'],&#13;&#10;                ['前端只负责渲染', 'chart 图表层', '模型决策与规则兜底结合，输出 ECharts option'],&#13;&#10;            ].map((row, i) =&gt; (&#13;&#10;                &lt;Box key={i} style={{&#13;&#10;                    flexDirection: 'row', alignItems: 'center', height: 50,&#13;&#10;                    marginBottom: 6,&#13;&#10;                    background: i % 2 === 0 ? 'rgba(59,130,246,0.08)' : 'rgba(6,182,212,0.10)',&#13;&#10;                    borderRadius: 6,&#13;&#10;                    padding: '0 14px',&#13;&#10;                }}&gt;&#13;&#10;                    &lt;Text style={{ fontSize: 14, color: '#0F172A', width: 250, fontFamily: '微软雅黑' }}&gt;&#13;&#10;                        {row[0]}&#13;&#10;                    &lt;/Text&gt;&#13;&#10;                    &lt;Text style={{&#13;&#10;                        fontSize: 17, fontWeight: 'bold', width: 150,&#13;&#10;                        color: i % 2 === 0 ? '#3B82F6' : '#06B6D4', fontFamily: '微软雅黑',&#13;&#10;                    }}&gt;&#13;&#10;                        {row[1]}&#13;&#10;                    &lt;/Text&gt;&#13;&#10;                    &lt;Text style={{ fontSize: 15, color: 'rgba(15,23,42,0.80)', fontFamily: '微软雅黑' }}&gt;&#13;&#10;                        {row[2]}&#13;&#10;                    &lt;/Text&gt;&#13;&#10;                &lt;/Box&gt;&#13;&#10;            ))}&#13;&#10;        &lt;/Box&gt;&#13;&#10;&#13;&#10;        &lt;Box style={{ height: 14 }} /&gt;&#13;&#10;&#13;&#10;        &lt;Box style={{ flexDirection: 'row', gap: 20, height: 158 }}&gt;&#13;&#10;            {[&#13;&#10;                ['节点不连库', 'agent/nodes 下不出现数据库连接，只调用 db/repository 暴露的方法。'],&#13;&#10;                ['语义层不调模型', 'semantic 下保持纯函数，不出现大模型调用与 SQL 执行。'],&#13;&#10;                ['密钥只在 .env', '代码与配置文件中不出现任何密钥字面量。'],&#13;&#10;            ].map((row, i) =&gt; (&#13;&#10;                &lt;Box key={i} style={{&#13;&#10;                    flex: 1,&#13;&#10;                    background: '#FFFFFF',&#13;&#10;                    border: '1px solid rgba(15,23,42,0.12)',&#13;&#10;                    borderTop: '4px solid #3B82F6',&#13;&#10;                    borderRadius: 8,&#13;&#10;                    padding: '16px 18px',&#13;&#10;                    flexDirection: 'column',&#13;&#10;                    gap: 10,&#13;&#10;                }}&gt;&#13;&#10;                    &lt;Text style={{ fontSize: 19, fontWeight: 'bold', color: '#0F172A', fontFamily: '微软雅黑' }}&gt;&#13;&#10;                        {row[0]}&#13;&#10;                    &lt;/Text&gt;&#13;&#10;                    &lt;Text style={{ fontSize: 14, color: 'rgba(15,23,42,0.78)', lineHeight: 1.55, fontFamily: '微软雅黑' }}&gt;&#13;&#10;                        {row[1]}&#13;&#10;                    &lt;/Text&gt;&#13;&#10;                &lt;/Box&gt;&#13;&#10;            ))}&#13;&#10;        &lt;/Box&gt;&#13;&#10;    &lt;/Box&gt;&#13;&#10;&#13;&#10;        &lt;Box style={{ height: 32, flexDirection: 'row', alignItems: 'center', justifyContent: 'space-between' }}&gt;&#13;&#10;        &lt;Text style={{ fontSize: 14, color: 'rgba(15,23,42,0.60)', fontFamily: '微软雅黑' }}&gt;&#13;&#10;            Text2SQL 电商数据分析 Agent&#13;&#10;        &lt;/Text&gt;&#13;&#10;        &lt;Text style={{ fontSize: 14, color: 'rgba(15,23,42,0.60)', fontFamily: '微软雅黑' }}&gt;04 / 12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533400" y="495300"/>
            <a:ext cx="57150" cy="4191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742950" y="51435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/>
                <a:ea typeface="微软雅黑"/>
              </a:rPr>
              <a:t>六层职责，单进程部署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533400" y="1171575"/>
            <a:ext cx="238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>
                    <a:alpha val="55000"/>
                  </a:srgbClr>
                </a:solidFill>
                <a:latin typeface="微软雅黑"/>
                <a:ea typeface="微软雅黑"/>
              </a:rPr>
              <a:t>分层硬约束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2914650" y="1171575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>
                    <a:alpha val="55000"/>
                  </a:srgbClr>
                </a:solidFill>
                <a:latin typeface="微软雅黑"/>
                <a:ea typeface="微软雅黑"/>
              </a:rPr>
              <a:t>层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343400" y="11715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>
                    <a:alpha val="55000"/>
                  </a:srgbClr>
                </a:solidFill>
                <a:latin typeface="微软雅黑"/>
                <a:ea typeface="微软雅黑"/>
              </a:rPr>
              <a:t>职责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533400" y="1466850"/>
            <a:ext cx="11125200" cy="476250"/>
          </a:xfrm>
          <a:prstGeom prst="roundRect">
            <a:avLst>
              <a:gd name="adj" fmla="val 12000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66750" y="1628775"/>
            <a:ext cx="238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只做参数校验与序列化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3048000" y="16097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B82F6"/>
                </a:solidFill>
                <a:latin typeface="微软雅黑"/>
                <a:ea typeface="微软雅黑"/>
              </a:rPr>
              <a:t>api </a:t>
            </a:r>
            <a:r>
              <a:rPr lang="zh-CN" sz="1275" b="1">
                <a:solidFill>
                  <a:srgbClr val="3B82F6"/>
                </a:solidFill>
                <a:latin typeface="微软雅黑"/>
                <a:ea typeface="微软雅黑"/>
              </a:rPr>
              <a:t>接口层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476750" y="1619250"/>
            <a:ext cx="3381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0F172A">
                    <a:alpha val="80000"/>
                  </a:srgbClr>
                </a:solidFill>
                <a:latin typeface="微软雅黑"/>
                <a:ea typeface="微软雅黑"/>
              </a:rPr>
              <a:t>15 </a:t>
            </a:r>
            <a:r>
              <a:rPr lang="zh-CN" sz="1125">
                <a:solidFill>
                  <a:srgbClr val="0F172A">
                    <a:alpha val="80000"/>
                  </a:srgbClr>
                </a:solidFill>
                <a:latin typeface="微软雅黑"/>
                <a:ea typeface="微软雅黑"/>
              </a:rPr>
              <a:t>个</a:t>
            </a:r>
            <a:r>
              <a:rPr lang="en-US" sz="1125">
                <a:solidFill>
                  <a:srgbClr val="0F172A">
                    <a:alpha val="80000"/>
                  </a:srgbClr>
                </a:solidFill>
                <a:latin typeface="微软雅黑"/>
                <a:ea typeface="微软雅黑"/>
              </a:rPr>
              <a:t> HTTP </a:t>
            </a:r>
            <a:r>
              <a:rPr lang="zh-CN" sz="1125">
                <a:solidFill>
                  <a:srgbClr val="0F172A">
                    <a:alpha val="80000"/>
                  </a:srgbClr>
                </a:solidFill>
                <a:latin typeface="微软雅黑"/>
                <a:ea typeface="微软雅黑"/>
              </a:rPr>
              <a:t>接口，含</a:t>
            </a:r>
            <a:r>
              <a:rPr lang="en-US" sz="1125">
                <a:solidFill>
                  <a:srgbClr val="0F172A">
                    <a:alpha val="80000"/>
                  </a:srgbClr>
                </a:solidFill>
                <a:latin typeface="微软雅黑"/>
                <a:ea typeface="微软雅黑"/>
              </a:rPr>
              <a:t> SSE </a:t>
            </a:r>
            <a:r>
              <a:rPr lang="zh-CN" sz="1125">
                <a:solidFill>
                  <a:srgbClr val="0F172A">
                    <a:alpha val="80000"/>
                  </a:srgbClr>
                </a:solidFill>
                <a:latin typeface="微软雅黑"/>
                <a:ea typeface="微软雅黑"/>
              </a:rPr>
              <a:t>流式对话与语义层调试接口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533400" y="2000250"/>
            <a:ext cx="11125200" cy="476250"/>
          </a:xfrm>
          <a:prstGeom prst="roundRect">
            <a:avLst>
              <a:gd name="adj" fmla="val 12000"/>
            </a:avLst>
          </a:prstGeom>
          <a:solidFill>
            <a:srgbClr val="06B6D4">
              <a:alpha val="10000"/>
            </a:srgbClr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66750" y="2162175"/>
            <a:ext cx="238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不直接连数据库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3048000" y="21431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B6D4"/>
                </a:solidFill>
                <a:latin typeface="微软雅黑"/>
                <a:ea typeface="微软雅黑"/>
              </a:rPr>
              <a:t>agent </a:t>
            </a:r>
            <a:r>
              <a:rPr lang="zh-CN" sz="1275" b="1">
                <a:solidFill>
                  <a:srgbClr val="06B6D4"/>
                </a:solidFill>
                <a:latin typeface="微软雅黑"/>
                <a:ea typeface="微软雅黑"/>
              </a:rPr>
              <a:t>编排层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476750" y="2152650"/>
            <a:ext cx="3590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0F172A">
                    <a:alpha val="80000"/>
                  </a:srgbClr>
                </a:solidFill>
                <a:latin typeface="微软雅黑"/>
                <a:ea typeface="微软雅黑"/>
              </a:rPr>
              <a:t>8 </a:t>
            </a:r>
            <a:r>
              <a:rPr lang="zh-CN" sz="1125">
                <a:solidFill>
                  <a:srgbClr val="0F172A">
                    <a:alpha val="80000"/>
                  </a:srgbClr>
                </a:solidFill>
                <a:latin typeface="微软雅黑"/>
                <a:ea typeface="微软雅黑"/>
              </a:rPr>
              <a:t>个业务节点</a:t>
            </a:r>
            <a:r>
              <a:rPr lang="en-US" sz="1125">
                <a:solidFill>
                  <a:srgbClr val="0F172A">
                    <a:alpha val="80000"/>
                  </a:srgbClr>
                </a:solidFill>
                <a:latin typeface="微软雅黑"/>
                <a:ea typeface="微软雅黑"/>
              </a:rPr>
              <a:t> + 3 </a:t>
            </a:r>
            <a:r>
              <a:rPr lang="zh-CN" sz="1125">
                <a:solidFill>
                  <a:srgbClr val="0F172A">
                    <a:alpha val="80000"/>
                  </a:srgbClr>
                </a:solidFill>
                <a:latin typeface="微软雅黑"/>
                <a:ea typeface="微软雅黑"/>
              </a:rPr>
              <a:t>个终态节点，重试回环与</a:t>
            </a:r>
            <a:r>
              <a:rPr lang="en-US" sz="1125">
                <a:solidFill>
                  <a:srgbClr val="0F172A">
                    <a:alpha val="80000"/>
                  </a:srgbClr>
                </a:solidFill>
                <a:latin typeface="微软雅黑"/>
                <a:ea typeface="微软雅黑"/>
              </a:rPr>
              <a:t> Checkpointer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533400" y="2533650"/>
            <a:ext cx="11125200" cy="476250"/>
          </a:xfrm>
          <a:prstGeom prst="roundRect">
            <a:avLst>
              <a:gd name="adj" fmla="val 12000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66750" y="2695575"/>
            <a:ext cx="238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不调模型、不执行</a:t>
            </a:r>
            <a:r>
              <a:rPr lang="en-US" sz="1050">
                <a:solidFill>
                  <a:srgbClr val="0F172A"/>
                </a:solidFill>
                <a:latin typeface="微软雅黑"/>
                <a:ea typeface="微软雅黑"/>
              </a:rPr>
              <a:t> SQL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3048000" y="26765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B82F6"/>
                </a:solidFill>
                <a:latin typeface="微软雅黑"/>
                <a:ea typeface="微软雅黑"/>
              </a:rPr>
              <a:t>semantic </a:t>
            </a:r>
            <a:r>
              <a:rPr lang="zh-CN" sz="1275" b="1">
                <a:solidFill>
                  <a:srgbClr val="3B82F6"/>
                </a:solidFill>
                <a:latin typeface="微软雅黑"/>
                <a:ea typeface="微软雅黑"/>
              </a:rPr>
              <a:t>语义层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4476750" y="2686050"/>
            <a:ext cx="3943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0F172A">
                    <a:alpha val="80000"/>
                  </a:srgbClr>
                </a:solidFill>
                <a:latin typeface="微软雅黑"/>
                <a:ea typeface="微软雅黑"/>
              </a:rPr>
              <a:t>7 </a:t>
            </a:r>
            <a:r>
              <a:rPr lang="zh-CN" sz="1125">
                <a:solidFill>
                  <a:srgbClr val="0F172A">
                    <a:alpha val="80000"/>
                  </a:srgbClr>
                </a:solidFill>
                <a:latin typeface="微软雅黑"/>
                <a:ea typeface="微软雅黑"/>
              </a:rPr>
              <a:t>个指标、</a:t>
            </a:r>
            <a:r>
              <a:rPr lang="en-US" sz="1125">
                <a:solidFill>
                  <a:srgbClr val="0F172A">
                    <a:alpha val="80000"/>
                  </a:srgbClr>
                </a:solidFill>
                <a:latin typeface="微软雅黑"/>
                <a:ea typeface="微软雅黑"/>
              </a:rPr>
              <a:t>6 </a:t>
            </a:r>
            <a:r>
              <a:rPr lang="zh-CN" sz="1125">
                <a:solidFill>
                  <a:srgbClr val="0F172A">
                    <a:alpha val="80000"/>
                  </a:srgbClr>
                </a:solidFill>
                <a:latin typeface="微软雅黑"/>
                <a:ea typeface="微软雅黑"/>
              </a:rPr>
              <a:t>张业务表、</a:t>
            </a:r>
            <a:r>
              <a:rPr lang="en-US" sz="1125">
                <a:solidFill>
                  <a:srgbClr val="0F172A">
                    <a:alpha val="80000"/>
                  </a:srgbClr>
                </a:solidFill>
                <a:latin typeface="微软雅黑"/>
                <a:ea typeface="微软雅黑"/>
              </a:rPr>
              <a:t>9 </a:t>
            </a:r>
            <a:r>
              <a:rPr lang="zh-CN" sz="1125">
                <a:solidFill>
                  <a:srgbClr val="0F172A">
                    <a:alpha val="80000"/>
                  </a:srgbClr>
                </a:solidFill>
                <a:latin typeface="微软雅黑"/>
                <a:ea typeface="微软雅黑"/>
              </a:rPr>
              <a:t>个维度，另含取值同义与时间词映射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533400" y="3067050"/>
            <a:ext cx="11125200" cy="476250"/>
          </a:xfrm>
          <a:prstGeom prst="roundRect">
            <a:avLst>
              <a:gd name="adj" fmla="val 12000"/>
            </a:avLst>
          </a:prstGeom>
          <a:solidFill>
            <a:srgbClr val="06B6D4">
              <a:alpha val="10000"/>
            </a:srgbClr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66750" y="3228975"/>
            <a:ext cx="238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密钥只从</a:t>
            </a:r>
            <a:r>
              <a:rPr lang="en-US" sz="1050">
                <a:solidFill>
                  <a:srgbClr val="0F172A"/>
                </a:solidFill>
                <a:latin typeface="微软雅黑"/>
                <a:ea typeface="微软雅黑"/>
              </a:rPr>
              <a:t> .env </a:t>
            </a: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读取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3048000" y="32099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B6D4"/>
                </a:solidFill>
                <a:latin typeface="微软雅黑"/>
                <a:ea typeface="微软雅黑"/>
              </a:rPr>
              <a:t>llm </a:t>
            </a:r>
            <a:r>
              <a:rPr lang="zh-CN" sz="1275" b="1">
                <a:solidFill>
                  <a:srgbClr val="06B6D4"/>
                </a:solidFill>
                <a:latin typeface="微软雅黑"/>
                <a:ea typeface="微软雅黑"/>
              </a:rPr>
              <a:t>模型层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4476750" y="3219450"/>
            <a:ext cx="3000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>
                    <a:alpha val="80000"/>
                  </a:srgbClr>
                </a:solidFill>
                <a:latin typeface="微软雅黑"/>
                <a:ea typeface="微软雅黑"/>
              </a:rPr>
              <a:t>网关抽象与桩实现同接口，便于替换与离线测试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533400" y="3600450"/>
            <a:ext cx="11125200" cy="476250"/>
          </a:xfrm>
          <a:prstGeom prst="roundRect">
            <a:avLst>
              <a:gd name="adj" fmla="val 12000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66750" y="3762375"/>
            <a:ext cx="238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只暴露仓储层方法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3048000" y="37433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B82F6"/>
                </a:solidFill>
                <a:latin typeface="微软雅黑"/>
                <a:ea typeface="微软雅黑"/>
              </a:rPr>
              <a:t>db </a:t>
            </a:r>
            <a:r>
              <a:rPr lang="zh-CN" sz="1275" b="1">
                <a:solidFill>
                  <a:srgbClr val="3B82F6"/>
                </a:solidFill>
                <a:latin typeface="微软雅黑"/>
                <a:ea typeface="微软雅黑"/>
              </a:rPr>
              <a:t>数据层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476750" y="3752850"/>
            <a:ext cx="2714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>
                    <a:alpha val="80000"/>
                  </a:srgbClr>
                </a:solidFill>
                <a:latin typeface="微软雅黑"/>
                <a:ea typeface="微软雅黑"/>
              </a:rPr>
              <a:t>只读连接、守卫校验、行数上限与超时中断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533400" y="4133850"/>
            <a:ext cx="11125200" cy="476250"/>
          </a:xfrm>
          <a:prstGeom prst="roundRect">
            <a:avLst>
              <a:gd name="adj" fmla="val 12000"/>
            </a:avLst>
          </a:prstGeom>
          <a:solidFill>
            <a:srgbClr val="06B6D4">
              <a:alpha val="10000"/>
            </a:srgbClr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66750" y="4295775"/>
            <a:ext cx="238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前端只负责渲染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3048000" y="42767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B6D4"/>
                </a:solidFill>
                <a:latin typeface="微软雅黑"/>
                <a:ea typeface="微软雅黑"/>
              </a:rPr>
              <a:t>chart </a:t>
            </a:r>
            <a:r>
              <a:rPr lang="zh-CN" sz="1275" b="1">
                <a:solidFill>
                  <a:srgbClr val="06B6D4"/>
                </a:solidFill>
                <a:latin typeface="微软雅黑"/>
                <a:ea typeface="微软雅黑"/>
              </a:rPr>
              <a:t>图表层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4476750" y="4286250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>
                    <a:alpha val="80000"/>
                  </a:srgbClr>
                </a:solidFill>
                <a:latin typeface="微软雅黑"/>
                <a:ea typeface="微软雅黑"/>
              </a:rPr>
              <a:t>模型决策与规则兜底结合，输出</a:t>
            </a:r>
            <a:r>
              <a:rPr lang="en-US" sz="1125">
                <a:solidFill>
                  <a:srgbClr val="0F172A">
                    <a:alpha val="80000"/>
                  </a:srgbClr>
                </a:solidFill>
                <a:latin typeface="微软雅黑"/>
                <a:ea typeface="微软雅黑"/>
              </a:rPr>
              <a:t> ECharts option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533400" y="4838700"/>
            <a:ext cx="358140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533400" y="4838700"/>
            <a:ext cx="3581400" cy="1504950"/>
          </a:xfrm>
          <a:custGeom>
            <a:pathLst>
              <a:path w="376" h="158">
                <a:moveTo>
                  <a:pt x="368" y="0"/>
                </a:moveTo>
                <a:cubicBezTo>
                  <a:pt x="372" y="0"/>
                  <a:pt x="375" y="3"/>
                  <a:pt x="376" y="7"/>
                </a:cubicBezTo>
                <a:cubicBezTo>
                  <a:pt x="375" y="5"/>
                  <a:pt x="374" y="4"/>
                  <a:pt x="372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04850" y="4991100"/>
            <a:ext cx="3238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微软雅黑"/>
                <a:ea typeface="微软雅黑"/>
              </a:rPr>
              <a:t>节点不连库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704850" y="5305425"/>
            <a:ext cx="32385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0F172A">
                    <a:alpha val="78000"/>
                  </a:srgbClr>
                </a:solidFill>
                <a:latin typeface="微软雅黑"/>
                <a:ea typeface="微软雅黑"/>
              </a:rPr>
              <a:t>agent/nodes </a:t>
            </a:r>
            <a:r>
              <a:rPr lang="zh-CN" sz="1050">
                <a:solidFill>
                  <a:srgbClr val="0F172A">
                    <a:alpha val="78000"/>
                  </a:srgbClr>
                </a:solidFill>
                <a:latin typeface="微软雅黑"/>
                <a:ea typeface="微软雅黑"/>
              </a:rPr>
              <a:t>下不出现数据库连接，只调用</a:t>
            </a:r>
            <a:r>
              <a:rPr lang="en-US" sz="1050">
                <a:solidFill>
                  <a:srgbClr val="0F172A">
                    <a:alpha val="78000"/>
                  </a:srgbClr>
                </a:solidFill>
                <a:latin typeface="微软雅黑"/>
                <a:ea typeface="微软雅黑"/>
              </a:rPr>
              <a:t> db/repository </a:t>
            </a:r>
            <a:r>
              <a:rPr lang="zh-CN" sz="1050">
                <a:solidFill>
                  <a:srgbClr val="0F172A">
                    <a:alpha val="78000"/>
                  </a:srgbClr>
                </a:solidFill>
                <a:latin typeface="微软雅黑"/>
                <a:ea typeface="微软雅黑"/>
              </a:rPr>
              <a:t>暴露的方法。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4305300" y="4838700"/>
            <a:ext cx="358140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7" name=""/>
          <p:cNvSpPr/>
          <p:nvPr/>
        </p:nvSpPr>
        <p:spPr>
          <a:xfrm rot="0" flipH="0" flipV="0">
            <a:off x="4305300" y="4838700"/>
            <a:ext cx="3581400" cy="1504950"/>
          </a:xfrm>
          <a:custGeom>
            <a:pathLst>
              <a:path w="376" h="158">
                <a:moveTo>
                  <a:pt x="368" y="0"/>
                </a:moveTo>
                <a:cubicBezTo>
                  <a:pt x="372" y="0"/>
                  <a:pt x="375" y="3"/>
                  <a:pt x="376" y="7"/>
                </a:cubicBezTo>
                <a:cubicBezTo>
                  <a:pt x="375" y="5"/>
                  <a:pt x="374" y="4"/>
                  <a:pt x="372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476750" y="4991100"/>
            <a:ext cx="3238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微软雅黑"/>
                <a:ea typeface="微软雅黑"/>
              </a:rPr>
              <a:t>语义层不调模型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4476750" y="5305425"/>
            <a:ext cx="32385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0F172A">
                    <a:alpha val="78000"/>
                  </a:srgbClr>
                </a:solidFill>
                <a:latin typeface="微软雅黑"/>
                <a:ea typeface="微软雅黑"/>
              </a:rPr>
              <a:t>semantic </a:t>
            </a:r>
            <a:r>
              <a:rPr lang="zh-CN" sz="1050">
                <a:solidFill>
                  <a:srgbClr val="0F172A">
                    <a:alpha val="78000"/>
                  </a:srgbClr>
                </a:solidFill>
                <a:latin typeface="微软雅黑"/>
                <a:ea typeface="微软雅黑"/>
              </a:rPr>
              <a:t>下保持纯函数，不出现大模型调用与</a:t>
            </a:r>
            <a:r>
              <a:rPr lang="en-US" sz="1050">
                <a:solidFill>
                  <a:srgbClr val="0F172A">
                    <a:alpha val="78000"/>
                  </a:srgbClr>
                </a:solidFill>
                <a:latin typeface="微软雅黑"/>
                <a:ea typeface="微软雅黑"/>
              </a:rPr>
              <a:t> SQL </a:t>
            </a:r>
            <a:r>
              <a:rPr lang="zh-CN" sz="1050">
                <a:solidFill>
                  <a:srgbClr val="0F172A">
                    <a:alpha val="78000"/>
                  </a:srgbClr>
                </a:solidFill>
                <a:latin typeface="微软雅黑"/>
                <a:ea typeface="微软雅黑"/>
              </a:rPr>
              <a:t>执行。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8077200" y="4838700"/>
            <a:ext cx="358140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8077200" y="4838700"/>
            <a:ext cx="3581400" cy="1504950"/>
          </a:xfrm>
          <a:custGeom>
            <a:pathLst>
              <a:path w="376" h="158">
                <a:moveTo>
                  <a:pt x="368" y="0"/>
                </a:moveTo>
                <a:cubicBezTo>
                  <a:pt x="372" y="0"/>
                  <a:pt x="375" y="3"/>
                  <a:pt x="376" y="7"/>
                </a:cubicBezTo>
                <a:cubicBezTo>
                  <a:pt x="375" y="5"/>
                  <a:pt x="374" y="4"/>
                  <a:pt x="372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248650" y="4991100"/>
            <a:ext cx="3238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微软雅黑"/>
                <a:ea typeface="微软雅黑"/>
              </a:rPr>
              <a:t>密钥只在</a:t>
            </a:r>
            <a:r>
              <a:rPr lang="en-US" sz="1425" b="1">
                <a:solidFill>
                  <a:srgbClr val="0F172A"/>
                </a:solidFill>
                <a:latin typeface="微软雅黑"/>
                <a:ea typeface="微软雅黑"/>
              </a:rPr>
              <a:t> .env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248650" y="5305425"/>
            <a:ext cx="32385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0F172A">
                    <a:alpha val="78000"/>
                  </a:srgbClr>
                </a:solidFill>
                <a:latin typeface="微软雅黑"/>
                <a:ea typeface="微软雅黑"/>
              </a:rPr>
              <a:t>代码与配置文件中不出现任何密钥字面量。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5334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1229975" y="64008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36" name="" descr="&lt;Slide style={{ background: '#FFFFFF', padding: '32px 56px 24px 56px' }}&gt;&#13;&#10;        &lt;Box style={{ height: 84, flexDirection: 'row', alignItems: 'center', gap: 16 }}&gt;&#13;&#10;        &lt;Box style={{ width: 6, height: 44, background: '#3B82F6' }} /&gt;&#13;&#10;        &lt;Text style={{ fontSize: 34, fontWeight: 'bold', color: '#0F172A', fontFamily: '微软雅黑' }}&gt;&#13;&#10;            八个业务节点，三条出口&#13;&#10;        &lt;/Text&gt;&#13;&#10;    &lt;/Box&gt;&#13;&#10;&#13;&#10;        &lt;Box style={{ height: 548, flexDirection: 'row', gap: 32 }}&gt;&#13;&#10;                &lt;Box style={{ width: 745, position: 'relative' }}&gt;&#13;&#10;            &lt;Box style={{ width: 200, flexDirection: 'column' }}&gt;&#13;&#10;                {[&#13;&#10;                    ['route', '意图路由', false],&#13;&#10;                    ['retrieve', '口径召回', false],&#13;&#10;                    ['generate', '生成 SQL', false],&#13;&#10;                    ['validate', '守卫校验', true],&#13;&#10;                    ['execute', '执行取数', false],&#13;&#10;                    ['visualize', '图表决策', false],&#13;&#10;                    ['summarize', '生成结论', false],&#13;&#10;                ].map((row, i) =&gt; (&#13;&#10;                    &lt;Box key={i} style={{ flexDirection: 'column', alignItems: 'center' }}&gt;&#13;&#10;                        &lt;Box style={{&#13;&#10;                            width: 200, height: 46,&#13;&#10;                            background: row[2] ? '#3B82F6' : 'rgba(59,130,246,0.12)',&#13;&#10;                            borderLeft: row[2] ? '0px solid #3B82F6' : '4px solid #3B82F6',&#13;&#10;                            borderRadius: 6,&#13;&#10;                            flexDirection: 'row', alignItems: 'center', gap: 10,&#13;&#10;                            padding: '0 14px',&#13;&#10;                        }}&gt;&#13;&#10;                            &lt;Text style={{&#13;&#10;                                fontSize: 14, fontFamily: 'Consolas', fontWeight: 'bold',&#13;&#10;                                color: row[2] ? '#FFFFFF' : '#3B82F6',&#13;&#10;                            }}&gt;{row[0]}&lt;/Text&gt;&#13;&#10;                            &lt;Text style={{&#13;&#10;                                fontSize: 15, fontFamily: '微软雅黑',&#13;&#10;                                color: row[2] ? '#FFFFFF' : '#0F172A',&#13;&#10;                            }}&gt;{row[1]}&lt;/Text&gt;&#13;&#10;                        &lt;/Box&gt;&#13;&#10;                        {i &lt; 6 ? (&#13;&#10;                            &lt;Box style={{ flexDirection: 'column', alignItems: 'center', height: 16 }}&gt;&#13;&#10;                                &lt;Box style={{ width: 2, height: 8, background: '#3B82F6' }} /&gt;&#13;&#10;                                &lt;Box style={{&#13;&#10;                                    width: 0, height: 0,&#13;&#10;                                    borderLeft: '6px solid transparent',&#13;&#10;                                    borderRight: '6px solid transparent',&#13;&#10;                                    borderTop: '8px solid #3B82F6',&#13;&#10;                                }} /&gt;&#13;&#10;                            &lt;/Box&gt;&#13;&#10;                        ) : null}&#13;&#10;                    &lt;/Box&gt;&#13;&#10;                ))}&#13;&#10;            &lt;/Box&gt;&#13;&#10;&#13;&#10;                        &lt;Box style={{ position: 'absolute', left: 320, top: 250, width: 190, height: 46,&#13;&#10;                background: '#06B6D4', borderRadius: 6,&#13;&#10;                flexDirection: 'row', alignItems: 'center', gap: 10, padding: '0 14px' }}&gt;&#13;&#10;                &lt;Text style={{ fontSize: 14, fontFamily: 'Consolas', fontWeight: 'bold', color: '#FFFFFF' }}&gt;fix&lt;/Text&gt;&#13;&#10;                &lt;Text style={{ fontSize: 15, fontFamily: '微软雅黑', color: '#FFFFFF' }}&gt;按报错修正&lt;/Text&gt;&#13;&#10;            &lt;/Box&gt;&#13;&#10;            &lt;Box style={{ position: 'absolute', left: 200, top: 209, width: 215, height: 2, background: '#06B6D4' }} /&gt;&#13;&#10;            &lt;Box style={{ position: 'absolute', left: 415, top: 211, width: 2, height: 39, background: '#06B6D4' }} /&gt;&#13;&#10;            &lt;Box style={{ position: 'absolute', left: 409, top: 250, width: 0, height: 0,&#13;&#10;                borderLeft: '6px solid transparent', borderRight: '6px solid transparent',&#13;&#10;                borderTop: '8px solid #06B6D4' }} /&gt;&#13;&#10;            &lt;Box style={{ position: 'absolute', left: 240, top: 273, width: 80, height: 2, background: '#06B6D4' }} /&gt;&#13;&#10;            &lt;Box style={{ position: 'absolute', left: 240, top: 219, width: 2, height: 54, background: '#06B6D4' }} /&gt;&#13;&#10;            &lt;Box style={{ position: 'absolute', left: 200, top: 219, width: 40, height: 2, background: '#06B6D4' }} /&gt;&#13;&#10;            &lt;Box style={{ position: 'absolute', left: 192, top: 213, width: 0, height: 0,&#13;&#10;                borderTop: '6px solid transparent', borderBottom: '6px solid transparent',&#13;&#10;                borderRight: '8px solid #06B6D4' }} /&gt;&#13;&#10;            &lt;Text style={{ position: 'absolute', left: 432, top: 200, fontSize: 13,&#13;&#10;                color: '#06B6D4', fontFamily: '微软雅黑' }}&gt;校验未通过&lt;/Text&gt;&#13;&#10;            &lt;Text style={{ position: 'absolute', left: 60, top: 196, fontSize: 13,&#13;&#10;                color: '#06B6D4', fontFamily: '微软雅黑' }}&gt;修正后回 validate，最多三次&lt;/Text&gt;&#13;&#10;            &lt;Text style={{ position: 'absolute', left: 316, top: 304, width: 200, fontSize: 12,&#13;&#10;                color: 'rgba(15,23,42,0.60)', fontFamily: '微软雅黑' }}&gt;&#13;&#10;                校验失败与执行报错共用这一个修正节点&#13;&#10;            &lt;/Text&gt;&#13;&#10;        &lt;/Box&gt;&#13;&#10;&#13;&#10;                &lt;Box style={{ width: 391, flexDirection: 'column' }}&gt;&#13;&#10;            &lt;Text style={{ fontSize: 22, fontWeight: 'bold', color: '#0F172A', fontFamily: '微软雅黑' }}&gt;&#13;&#10;                三条终态&#13;&#10;            &lt;/Text&gt;&#13;&#10;            &lt;Box style={{ height: 10 }} /&gt;&#13;&#10;            {[&#13;&#10;                ['respond', '闲聊类直接应答，不进入取数链路'],&#13;&#10;                ['clarify', '信息不足先追问，不猜着出 SQL'],&#13;&#10;                ['give_up', '修正次数用尽，返回末次语句与报错'],&#13;&#10;            ].map((row, i) =&gt; (&#13;&#10;                &lt;Box key={i} style={{&#13;&#10;                    flexDirection: 'row', gap: 12, alignItems: 'flex-start',&#13;&#10;                    padding: '10px 0', borderBottom: '1px solid rgba(15,23,42,0.12)',&#13;&#10;                }}&gt;&#13;&#10;                    &lt;Text style={{ fontSize: 14, fontFamily: 'Consolas', fontWeight: 'bold', color: '#3B82F6', width: 76 }}&gt;&#13;&#10;                        {row[0]}&#13;&#10;                    &lt;/Text&gt;&#13;&#10;                    &lt;Text style={{ fontSize: 14, color: '#0F172A', lineHeight: 1.5, fontFamily: '微软雅黑' }}&gt;&#13;&#10;                        {row[1]}&#13;&#10;                    &lt;/Text&gt;&#13;&#10;                &lt;/Box&gt;&#13;&#10;            ))}&#13;&#10;&#13;&#10;            &lt;Box style={{ height: 22 }} /&gt;&#13;&#10;            &lt;Text style={{ fontSize: 22, fontWeight: 'bold', color: '#0F172A', fontFamily: '微软雅黑' }}&gt;&#13;&#10;                两个设计选择&#13;&#10;            &lt;/Text&gt;&#13;&#10;            &lt;Box style={{ height: 10 }} /&gt;&#13;&#10;            {[&#13;&#10;                ['修完回 validate，不回 execute', '重新走一遍完整校验，修正结果不能绕过守卫。'],&#13;&#10;                ['报错原样回传', '数据库的原始报错交给模型，比让它自查更有效。'],&#13;&#10;            ].map((row, i) =&gt; (&#13;&#10;                &lt;Box key={i} style={{&#13;&#10;                    background: 'rgba(6,182,212,0.10)', borderRadius: 8,&#13;&#10;                    padding: '14px 16px', marginBottom: 12, flexDirection: 'column', gap: 6,&#13;&#10;                }}&gt;&#13;&#10;                    &lt;Text style={{ fontSize: 16, fontWeight: 'bold', color: '#0F172A', fontFamily: '微软雅黑' }}&gt;&#13;&#10;                        {row[0]}&#13;&#10;                    &lt;/Text&gt;&#13;&#10;                    &lt;Text style={{ fontSize: 14, color: 'rgba(15,23,42,0.76)', lineHeight: 1.5, fontFamily: '微软雅黑' }}&gt;&#13;&#10;                        {row[1]}&#13;&#10;                    &lt;/Text&gt;&#13;&#10;                &lt;/Box&gt;&#13;&#10;            ))}&#13;&#10;        &lt;/Box&gt;&#13;&#10;    &lt;/Box&gt;&#13;&#10;&#13;&#10;        &lt;Box style={{ height: 32, flexDirection: 'row', alignItems: 'center', justifyContent: 'space-between' }}&gt;&#13;&#10;        &lt;Text style={{ fontSize: 14, color: 'rgba(15,23,42,0.60)', fontFamily: '微软雅黑' }}&gt;&#13;&#10;            Text2SQL 电商数据分析 Agent&#13;&#10;        &lt;/Text&gt;&#13;&#10;        &lt;Text style={{ fontSize: 14, color: 'rgba(15,23,42,0.60)', fontFamily: '微软雅黑' }}&gt;05 / 12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533400" y="495300"/>
            <a:ext cx="57150" cy="4191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742950" y="51435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/>
                <a:ea typeface="微软雅黑"/>
              </a:rPr>
              <a:t>八个业务节点，三条出口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934325" y="11049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微软雅黑"/>
                <a:ea typeface="微软雅黑"/>
              </a:rPr>
              <a:t>三条终态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7934325" y="1457325"/>
            <a:ext cx="3724275" cy="457200"/>
          </a:xfrm>
          <a:custGeom>
            <a:pathLst>
              <a:path w="391" h="48">
                <a:moveTo>
                  <a:pt x="0" y="47"/>
                </a:moveTo>
                <a:lnTo>
                  <a:pt x="391" y="47"/>
                </a:lnTo>
                <a:lnTo>
                  <a:pt x="391" y="48"/>
                </a:lnTo>
                <a:lnTo>
                  <a:pt x="0" y="48"/>
                </a:lnTo>
                <a:close/>
              </a:path>
            </a:pathLst>
          </a:custGeom>
          <a:solidFill>
            <a:srgbClr val="0F172A">
              <a:alpha val="12000"/>
            </a:srgbClr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934325" y="155257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Consolas"/>
                <a:ea typeface="Consolas"/>
              </a:rPr>
              <a:t>respond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772525" y="1552575"/>
            <a:ext cx="2000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闲聊类直接应答，不进入取数链路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7934325" y="1905000"/>
            <a:ext cx="3724275" cy="457200"/>
          </a:xfrm>
          <a:custGeom>
            <a:pathLst>
              <a:path w="391" h="48">
                <a:moveTo>
                  <a:pt x="0" y="47"/>
                </a:moveTo>
                <a:lnTo>
                  <a:pt x="391" y="47"/>
                </a:lnTo>
                <a:lnTo>
                  <a:pt x="391" y="48"/>
                </a:lnTo>
                <a:lnTo>
                  <a:pt x="0" y="48"/>
                </a:lnTo>
                <a:close/>
              </a:path>
            </a:pathLst>
          </a:custGeom>
          <a:solidFill>
            <a:srgbClr val="0F172A">
              <a:alpha val="12000"/>
            </a:srgbClr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7934325" y="2000250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Consolas"/>
                <a:ea typeface="Consolas"/>
              </a:rPr>
              <a:t>clarify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772525" y="2000250"/>
            <a:ext cx="1885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信息不足先追问，不猜着出</a:t>
            </a:r>
            <a:r>
              <a:rPr lang="en-US" sz="1050">
                <a:solidFill>
                  <a:srgbClr val="0F172A"/>
                </a:solidFill>
                <a:latin typeface="微软雅黑"/>
                <a:ea typeface="微软雅黑"/>
              </a:rPr>
              <a:t> SQL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7934325" y="2352675"/>
            <a:ext cx="3724275" cy="457200"/>
          </a:xfrm>
          <a:custGeom>
            <a:pathLst>
              <a:path w="391" h="48">
                <a:moveTo>
                  <a:pt x="0" y="47"/>
                </a:moveTo>
                <a:lnTo>
                  <a:pt x="391" y="47"/>
                </a:lnTo>
                <a:lnTo>
                  <a:pt x="391" y="48"/>
                </a:lnTo>
                <a:lnTo>
                  <a:pt x="0" y="48"/>
                </a:lnTo>
                <a:close/>
              </a:path>
            </a:pathLst>
          </a:custGeom>
          <a:solidFill>
            <a:srgbClr val="0F172A">
              <a:alpha val="12000"/>
            </a:srgbClr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934325" y="244792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Consolas"/>
                <a:ea typeface="Consolas"/>
              </a:rPr>
              <a:t>give_up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8772525" y="2447925"/>
            <a:ext cx="2133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修正次数用尽，返回末次语句与报错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934325" y="30099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微软雅黑"/>
                <a:ea typeface="微软雅黑"/>
              </a:rPr>
              <a:t>两个设计选择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7934325" y="3362325"/>
            <a:ext cx="3724275" cy="762000"/>
          </a:xfrm>
          <a:prstGeom prst="roundRect">
            <a:avLst>
              <a:gd name="adj" fmla="val 10000"/>
            </a:avLst>
          </a:prstGeom>
          <a:solidFill>
            <a:srgbClr val="06B6D4">
              <a:alpha val="10000"/>
            </a:srgbClr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086725" y="3495675"/>
            <a:ext cx="3419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微软雅黑"/>
                <a:ea typeface="微软雅黑"/>
              </a:rPr>
              <a:t>修完回</a:t>
            </a:r>
            <a:r>
              <a:rPr lang="en-US" sz="1200" b="1">
                <a:solidFill>
                  <a:srgbClr val="0F172A"/>
                </a:solidFill>
                <a:latin typeface="微软雅黑"/>
                <a:ea typeface="微软雅黑"/>
              </a:rPr>
              <a:t> validate</a:t>
            </a:r>
            <a:r>
              <a:rPr lang="zh-CN" sz="1200" b="1">
                <a:solidFill>
                  <a:srgbClr val="0F172A"/>
                </a:solidFill>
                <a:latin typeface="微软雅黑"/>
                <a:ea typeface="微软雅黑"/>
              </a:rPr>
              <a:t>，不回</a:t>
            </a:r>
            <a:r>
              <a:rPr lang="en-US" sz="1200" b="1">
                <a:solidFill>
                  <a:srgbClr val="0F172A"/>
                </a:solidFill>
                <a:latin typeface="微软雅黑"/>
                <a:ea typeface="微软雅黑"/>
              </a:rPr>
              <a:t> execute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086725" y="3743325"/>
            <a:ext cx="34194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0F172A">
                    <a:alpha val="76000"/>
                  </a:srgbClr>
                </a:solidFill>
                <a:latin typeface="微软雅黑"/>
                <a:ea typeface="微软雅黑"/>
              </a:rPr>
              <a:t>重新走一遍完整校验，修正结果不能绕过守卫。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7934325" y="4238625"/>
            <a:ext cx="3724275" cy="762000"/>
          </a:xfrm>
          <a:prstGeom prst="roundRect">
            <a:avLst>
              <a:gd name="adj" fmla="val 10000"/>
            </a:avLst>
          </a:prstGeom>
          <a:solidFill>
            <a:srgbClr val="06B6D4">
              <a:alpha val="10000"/>
            </a:srgbClr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086725" y="4371975"/>
            <a:ext cx="3419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微软雅黑"/>
                <a:ea typeface="微软雅黑"/>
              </a:rPr>
              <a:t>报错原样回传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086725" y="4619625"/>
            <a:ext cx="34194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0F172A">
                    <a:alpha val="76000"/>
                  </a:srgbClr>
                </a:solidFill>
                <a:latin typeface="微软雅黑"/>
                <a:ea typeface="微软雅黑"/>
              </a:rPr>
              <a:t>数据库的原始报错交给模型，比让它自查更有效。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5334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1229975" y="64008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05 / 12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571500" y="1104900"/>
            <a:ext cx="1866900" cy="438150"/>
          </a:xfrm>
          <a:prstGeom prst="roundRect">
            <a:avLst>
              <a:gd name="adj" fmla="val 13043"/>
            </a:avLst>
          </a:prstGeom>
          <a:solidFill>
            <a:srgbClr val="3B82F6">
              <a:alpha val="12000"/>
            </a:srgbClr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571500" y="1104900"/>
            <a:ext cx="1866900" cy="438150"/>
          </a:xfrm>
          <a:custGeom>
            <a:pathLst>
              <a:path w="196" h="46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44"/>
                </a:lnTo>
                <a:cubicBezTo>
                  <a:pt x="4" y="45"/>
                  <a:pt x="5" y="46"/>
                  <a:pt x="6" y="46"/>
                </a:cubicBezTo>
                <a:cubicBezTo>
                  <a:pt x="3" y="46"/>
                  <a:pt x="0" y="43"/>
                  <a:pt x="0" y="4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04850" y="1247775"/>
            <a:ext cx="37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Consolas"/>
                <a:ea typeface="Consolas"/>
              </a:rPr>
              <a:t>route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171575" y="12382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微软雅黑"/>
                <a:ea typeface="微软雅黑"/>
              </a:rPr>
              <a:t>意图路由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1476375" y="1543050"/>
            <a:ext cx="19050" cy="76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1485900" y="1619250"/>
            <a:ext cx="114300" cy="76200"/>
          </a:xfrm>
          <a:custGeom>
            <a:pathLst>
              <a:path w="12" h="8">
                <a:moveTo>
                  <a:pt x="0" y="0"/>
                </a:moveTo>
                <a:lnTo>
                  <a:pt x="6" y="8"/>
                </a:lnTo>
                <a:lnTo>
                  <a:pt x="6" y="8"/>
                </a:lnTo>
                <a:lnTo>
                  <a:pt x="0" y="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1485900" y="1619250"/>
            <a:ext cx="114300" cy="76200"/>
          </a:xfrm>
          <a:custGeom>
            <a:pathLst>
              <a:path w="12" h="8">
                <a:moveTo>
                  <a:pt x="6" y="8"/>
                </a:moveTo>
                <a:lnTo>
                  <a:pt x="12" y="0"/>
                </a:lnTo>
                <a:lnTo>
                  <a:pt x="12" y="8"/>
                </a:lnTo>
                <a:lnTo>
                  <a:pt x="6" y="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1485900" y="1619250"/>
            <a:ext cx="114300" cy="76200"/>
          </a:xfrm>
          <a:custGeom>
            <a:pathLst>
              <a:path w="12" h="8">
                <a:moveTo>
                  <a:pt x="0" y="0"/>
                </a:moveTo>
                <a:lnTo>
                  <a:pt x="12" y="0"/>
                </a:lnTo>
                <a:lnTo>
                  <a:pt x="6" y="8"/>
                </a:lnTo>
                <a:lnTo>
                  <a:pt x="6" y="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571500" y="1695450"/>
            <a:ext cx="1866900" cy="438150"/>
          </a:xfrm>
          <a:prstGeom prst="roundRect">
            <a:avLst>
              <a:gd name="adj" fmla="val 13043"/>
            </a:avLst>
          </a:prstGeom>
          <a:solidFill>
            <a:srgbClr val="3B82F6">
              <a:alpha val="12000"/>
            </a:srgbClr>
          </a:solidFill>
          <a:ln/>
        </p:spPr>
        <p:txBody>
          <a:bodyPr/>
          <a:p/>
        </p:txBody>
      </p:sp>
      <p:sp>
        <p:nvSpPr>
          <p:cNvPr id="268" name=""/>
          <p:cNvSpPr/>
          <p:nvPr/>
        </p:nvSpPr>
        <p:spPr>
          <a:xfrm rot="0" flipH="0" flipV="0">
            <a:off x="571500" y="1695450"/>
            <a:ext cx="1866900" cy="438150"/>
          </a:xfrm>
          <a:custGeom>
            <a:pathLst>
              <a:path w="196" h="46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44"/>
                </a:lnTo>
                <a:cubicBezTo>
                  <a:pt x="4" y="45"/>
                  <a:pt x="5" y="46"/>
                  <a:pt x="6" y="46"/>
                </a:cubicBezTo>
                <a:cubicBezTo>
                  <a:pt x="3" y="46"/>
                  <a:pt x="0" y="43"/>
                  <a:pt x="0" y="4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04850" y="1838325"/>
            <a:ext cx="590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Consolas"/>
                <a:ea typeface="Consolas"/>
              </a:rPr>
              <a:t>retrieve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390650" y="18288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微软雅黑"/>
                <a:ea typeface="微软雅黑"/>
              </a:rPr>
              <a:t>口径召回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1476375" y="2133600"/>
            <a:ext cx="19050" cy="76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72" name=""/>
          <p:cNvSpPr/>
          <p:nvPr/>
        </p:nvSpPr>
        <p:spPr>
          <a:xfrm rot="0" flipH="0" flipV="0">
            <a:off x="1485900" y="2209800"/>
            <a:ext cx="114300" cy="76200"/>
          </a:xfrm>
          <a:custGeom>
            <a:pathLst>
              <a:path w="12" h="8">
                <a:moveTo>
                  <a:pt x="0" y="0"/>
                </a:moveTo>
                <a:lnTo>
                  <a:pt x="6" y="8"/>
                </a:lnTo>
                <a:lnTo>
                  <a:pt x="6" y="8"/>
                </a:lnTo>
                <a:lnTo>
                  <a:pt x="0" y="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273" name=""/>
          <p:cNvSpPr/>
          <p:nvPr/>
        </p:nvSpPr>
        <p:spPr>
          <a:xfrm rot="0" flipH="0" flipV="0">
            <a:off x="1485900" y="2209800"/>
            <a:ext cx="114300" cy="76200"/>
          </a:xfrm>
          <a:custGeom>
            <a:pathLst>
              <a:path w="12" h="8">
                <a:moveTo>
                  <a:pt x="6" y="8"/>
                </a:moveTo>
                <a:lnTo>
                  <a:pt x="12" y="0"/>
                </a:lnTo>
                <a:lnTo>
                  <a:pt x="12" y="8"/>
                </a:lnTo>
                <a:lnTo>
                  <a:pt x="6" y="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1485900" y="2209800"/>
            <a:ext cx="114300" cy="76200"/>
          </a:xfrm>
          <a:custGeom>
            <a:pathLst>
              <a:path w="12" h="8">
                <a:moveTo>
                  <a:pt x="0" y="0"/>
                </a:moveTo>
                <a:lnTo>
                  <a:pt x="12" y="0"/>
                </a:lnTo>
                <a:lnTo>
                  <a:pt x="6" y="8"/>
                </a:lnTo>
                <a:lnTo>
                  <a:pt x="6" y="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275" name=""/>
          <p:cNvSpPr/>
          <p:nvPr/>
        </p:nvSpPr>
        <p:spPr>
          <a:xfrm rot="0" flipH="0" flipV="0">
            <a:off x="571500" y="2286000"/>
            <a:ext cx="1866900" cy="438150"/>
          </a:xfrm>
          <a:prstGeom prst="roundRect">
            <a:avLst>
              <a:gd name="adj" fmla="val 13043"/>
            </a:avLst>
          </a:prstGeom>
          <a:solidFill>
            <a:srgbClr val="3B82F6">
              <a:alpha val="12000"/>
            </a:srgbClr>
          </a:solidFill>
          <a:ln/>
        </p:spPr>
        <p:txBody>
          <a:bodyPr/>
          <a:p/>
        </p:txBody>
      </p:sp>
      <p:sp>
        <p:nvSpPr>
          <p:cNvPr id="276" name=""/>
          <p:cNvSpPr/>
          <p:nvPr/>
        </p:nvSpPr>
        <p:spPr>
          <a:xfrm rot="0" flipH="0" flipV="0">
            <a:off x="571500" y="2286000"/>
            <a:ext cx="1866900" cy="438150"/>
          </a:xfrm>
          <a:custGeom>
            <a:pathLst>
              <a:path w="196" h="46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44"/>
                </a:lnTo>
                <a:cubicBezTo>
                  <a:pt x="4" y="45"/>
                  <a:pt x="5" y="46"/>
                  <a:pt x="6" y="46"/>
                </a:cubicBezTo>
                <a:cubicBezTo>
                  <a:pt x="3" y="46"/>
                  <a:pt x="0" y="43"/>
                  <a:pt x="0" y="4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704850" y="2428875"/>
            <a:ext cx="590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Consolas"/>
                <a:ea typeface="Consolas"/>
              </a:rPr>
              <a:t>generate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1390650" y="2419350"/>
            <a:ext cx="59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微软雅黑"/>
                <a:ea typeface="微软雅黑"/>
              </a:rPr>
              <a:t>生成</a:t>
            </a:r>
            <a:r>
              <a:rPr lang="en-US" sz="1125">
                <a:solidFill>
                  <a:srgbClr val="0F172A"/>
                </a:solidFill>
                <a:latin typeface="微软雅黑"/>
                <a:ea typeface="微软雅黑"/>
              </a:rPr>
              <a:t> SQL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1476375" y="2724150"/>
            <a:ext cx="19050" cy="76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1485900" y="2800350"/>
            <a:ext cx="114300" cy="76200"/>
          </a:xfrm>
          <a:custGeom>
            <a:pathLst>
              <a:path w="12" h="8">
                <a:moveTo>
                  <a:pt x="0" y="0"/>
                </a:moveTo>
                <a:lnTo>
                  <a:pt x="6" y="8"/>
                </a:lnTo>
                <a:lnTo>
                  <a:pt x="6" y="8"/>
                </a:lnTo>
                <a:lnTo>
                  <a:pt x="0" y="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281" name=""/>
          <p:cNvSpPr/>
          <p:nvPr/>
        </p:nvSpPr>
        <p:spPr>
          <a:xfrm rot="0" flipH="0" flipV="0">
            <a:off x="1485900" y="2800350"/>
            <a:ext cx="114300" cy="76200"/>
          </a:xfrm>
          <a:custGeom>
            <a:pathLst>
              <a:path w="12" h="8">
                <a:moveTo>
                  <a:pt x="6" y="8"/>
                </a:moveTo>
                <a:lnTo>
                  <a:pt x="12" y="0"/>
                </a:lnTo>
                <a:lnTo>
                  <a:pt x="12" y="8"/>
                </a:lnTo>
                <a:lnTo>
                  <a:pt x="6" y="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1485900" y="2800350"/>
            <a:ext cx="114300" cy="76200"/>
          </a:xfrm>
          <a:custGeom>
            <a:pathLst>
              <a:path w="12" h="8">
                <a:moveTo>
                  <a:pt x="0" y="0"/>
                </a:moveTo>
                <a:lnTo>
                  <a:pt x="12" y="0"/>
                </a:lnTo>
                <a:lnTo>
                  <a:pt x="6" y="8"/>
                </a:lnTo>
                <a:lnTo>
                  <a:pt x="6" y="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283" name=""/>
          <p:cNvSpPr/>
          <p:nvPr/>
        </p:nvSpPr>
        <p:spPr>
          <a:xfrm rot="0" flipH="0" flipV="0">
            <a:off x="533400" y="2876550"/>
            <a:ext cx="1905000" cy="438150"/>
          </a:xfrm>
          <a:prstGeom prst="roundRect">
            <a:avLst>
              <a:gd name="adj" fmla="val 13043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66750" y="3019425"/>
            <a:ext cx="590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Consolas"/>
                <a:ea typeface="Consolas"/>
              </a:rPr>
              <a:t>validate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352550" y="3009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微软雅黑"/>
                <a:ea typeface="微软雅黑"/>
              </a:rPr>
              <a:t>守卫校验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1476375" y="3314700"/>
            <a:ext cx="19050" cy="76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1485900" y="3390900"/>
            <a:ext cx="114300" cy="76200"/>
          </a:xfrm>
          <a:custGeom>
            <a:pathLst>
              <a:path w="12" h="8">
                <a:moveTo>
                  <a:pt x="0" y="0"/>
                </a:moveTo>
                <a:lnTo>
                  <a:pt x="6" y="8"/>
                </a:lnTo>
                <a:lnTo>
                  <a:pt x="6" y="8"/>
                </a:lnTo>
                <a:lnTo>
                  <a:pt x="0" y="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288" name=""/>
          <p:cNvSpPr/>
          <p:nvPr/>
        </p:nvSpPr>
        <p:spPr>
          <a:xfrm rot="0" flipH="0" flipV="0">
            <a:off x="1485900" y="3390900"/>
            <a:ext cx="114300" cy="76200"/>
          </a:xfrm>
          <a:custGeom>
            <a:pathLst>
              <a:path w="12" h="8">
                <a:moveTo>
                  <a:pt x="6" y="8"/>
                </a:moveTo>
                <a:lnTo>
                  <a:pt x="12" y="0"/>
                </a:lnTo>
                <a:lnTo>
                  <a:pt x="12" y="8"/>
                </a:lnTo>
                <a:lnTo>
                  <a:pt x="6" y="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289" name=""/>
          <p:cNvSpPr/>
          <p:nvPr/>
        </p:nvSpPr>
        <p:spPr>
          <a:xfrm rot="0" flipH="0" flipV="0">
            <a:off x="1485900" y="3390900"/>
            <a:ext cx="114300" cy="76200"/>
          </a:xfrm>
          <a:custGeom>
            <a:pathLst>
              <a:path w="12" h="8">
                <a:moveTo>
                  <a:pt x="0" y="0"/>
                </a:moveTo>
                <a:lnTo>
                  <a:pt x="12" y="0"/>
                </a:lnTo>
                <a:lnTo>
                  <a:pt x="6" y="8"/>
                </a:lnTo>
                <a:lnTo>
                  <a:pt x="6" y="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290" name=""/>
          <p:cNvSpPr/>
          <p:nvPr/>
        </p:nvSpPr>
        <p:spPr>
          <a:xfrm rot="0" flipH="0" flipV="0">
            <a:off x="571500" y="3467100"/>
            <a:ext cx="1866900" cy="438150"/>
          </a:xfrm>
          <a:prstGeom prst="roundRect">
            <a:avLst>
              <a:gd name="adj" fmla="val 13043"/>
            </a:avLst>
          </a:prstGeom>
          <a:solidFill>
            <a:srgbClr val="3B82F6">
              <a:alpha val="12000"/>
            </a:srgbClr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571500" y="3467100"/>
            <a:ext cx="1866900" cy="438150"/>
          </a:xfrm>
          <a:custGeom>
            <a:pathLst>
              <a:path w="196" h="46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44"/>
                </a:lnTo>
                <a:cubicBezTo>
                  <a:pt x="4" y="45"/>
                  <a:pt x="5" y="46"/>
                  <a:pt x="6" y="46"/>
                </a:cubicBezTo>
                <a:cubicBezTo>
                  <a:pt x="3" y="46"/>
                  <a:pt x="0" y="43"/>
                  <a:pt x="0" y="4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704850" y="36099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Consolas"/>
                <a:ea typeface="Consolas"/>
              </a:rPr>
              <a:t>execute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314450" y="36004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微软雅黑"/>
                <a:ea typeface="微软雅黑"/>
              </a:rPr>
              <a:t>执行取数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1476375" y="3905250"/>
            <a:ext cx="19050" cy="76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95" name=""/>
          <p:cNvSpPr/>
          <p:nvPr/>
        </p:nvSpPr>
        <p:spPr>
          <a:xfrm rot="0" flipH="0" flipV="0">
            <a:off x="1485900" y="3981450"/>
            <a:ext cx="114300" cy="76200"/>
          </a:xfrm>
          <a:custGeom>
            <a:pathLst>
              <a:path w="12" h="8">
                <a:moveTo>
                  <a:pt x="0" y="0"/>
                </a:moveTo>
                <a:lnTo>
                  <a:pt x="6" y="8"/>
                </a:lnTo>
                <a:lnTo>
                  <a:pt x="6" y="8"/>
                </a:lnTo>
                <a:lnTo>
                  <a:pt x="0" y="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296" name=""/>
          <p:cNvSpPr/>
          <p:nvPr/>
        </p:nvSpPr>
        <p:spPr>
          <a:xfrm rot="0" flipH="0" flipV="0">
            <a:off x="1485900" y="3981450"/>
            <a:ext cx="114300" cy="76200"/>
          </a:xfrm>
          <a:custGeom>
            <a:pathLst>
              <a:path w="12" h="8">
                <a:moveTo>
                  <a:pt x="6" y="8"/>
                </a:moveTo>
                <a:lnTo>
                  <a:pt x="12" y="0"/>
                </a:lnTo>
                <a:lnTo>
                  <a:pt x="12" y="8"/>
                </a:lnTo>
                <a:lnTo>
                  <a:pt x="6" y="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1485900" y="3981450"/>
            <a:ext cx="114300" cy="76200"/>
          </a:xfrm>
          <a:custGeom>
            <a:pathLst>
              <a:path w="12" h="8">
                <a:moveTo>
                  <a:pt x="0" y="0"/>
                </a:moveTo>
                <a:lnTo>
                  <a:pt x="12" y="0"/>
                </a:lnTo>
                <a:lnTo>
                  <a:pt x="6" y="8"/>
                </a:lnTo>
                <a:lnTo>
                  <a:pt x="6" y="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298" name=""/>
          <p:cNvSpPr/>
          <p:nvPr/>
        </p:nvSpPr>
        <p:spPr>
          <a:xfrm rot="0" flipH="0" flipV="0">
            <a:off x="571500" y="4057650"/>
            <a:ext cx="1866900" cy="438150"/>
          </a:xfrm>
          <a:prstGeom prst="roundRect">
            <a:avLst>
              <a:gd name="adj" fmla="val 13043"/>
            </a:avLst>
          </a:prstGeom>
          <a:solidFill>
            <a:srgbClr val="3B82F6">
              <a:alpha val="12000"/>
            </a:srgbClr>
          </a:solidFill>
          <a:ln/>
        </p:spPr>
        <p:txBody>
          <a:bodyPr/>
          <a:p/>
        </p:txBody>
      </p:sp>
      <p:sp>
        <p:nvSpPr>
          <p:cNvPr id="299" name=""/>
          <p:cNvSpPr/>
          <p:nvPr/>
        </p:nvSpPr>
        <p:spPr>
          <a:xfrm rot="0" flipH="0" flipV="0">
            <a:off x="571500" y="4057650"/>
            <a:ext cx="1866900" cy="438150"/>
          </a:xfrm>
          <a:custGeom>
            <a:pathLst>
              <a:path w="196" h="46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44"/>
                </a:lnTo>
                <a:cubicBezTo>
                  <a:pt x="4" y="45"/>
                  <a:pt x="5" y="46"/>
                  <a:pt x="6" y="46"/>
                </a:cubicBezTo>
                <a:cubicBezTo>
                  <a:pt x="3" y="46"/>
                  <a:pt x="0" y="43"/>
                  <a:pt x="0" y="4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704850" y="42005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Consolas"/>
                <a:ea typeface="Consolas"/>
              </a:rPr>
              <a:t>visualize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466850" y="41910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微软雅黑"/>
                <a:ea typeface="微软雅黑"/>
              </a:rPr>
              <a:t>图表决策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1476375" y="4495800"/>
            <a:ext cx="19050" cy="76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1485900" y="4572000"/>
            <a:ext cx="114300" cy="76200"/>
          </a:xfrm>
          <a:custGeom>
            <a:pathLst>
              <a:path w="12" h="8">
                <a:moveTo>
                  <a:pt x="0" y="0"/>
                </a:moveTo>
                <a:lnTo>
                  <a:pt x="6" y="8"/>
                </a:lnTo>
                <a:lnTo>
                  <a:pt x="6" y="8"/>
                </a:lnTo>
                <a:lnTo>
                  <a:pt x="0" y="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1485900" y="4572000"/>
            <a:ext cx="114300" cy="76200"/>
          </a:xfrm>
          <a:custGeom>
            <a:pathLst>
              <a:path w="12" h="8">
                <a:moveTo>
                  <a:pt x="6" y="8"/>
                </a:moveTo>
                <a:lnTo>
                  <a:pt x="12" y="0"/>
                </a:lnTo>
                <a:lnTo>
                  <a:pt x="12" y="8"/>
                </a:lnTo>
                <a:lnTo>
                  <a:pt x="6" y="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305" name=""/>
          <p:cNvSpPr/>
          <p:nvPr/>
        </p:nvSpPr>
        <p:spPr>
          <a:xfrm rot="0" flipH="0" flipV="0">
            <a:off x="1485900" y="4572000"/>
            <a:ext cx="114300" cy="76200"/>
          </a:xfrm>
          <a:custGeom>
            <a:pathLst>
              <a:path w="12" h="8">
                <a:moveTo>
                  <a:pt x="0" y="0"/>
                </a:moveTo>
                <a:lnTo>
                  <a:pt x="12" y="0"/>
                </a:lnTo>
                <a:lnTo>
                  <a:pt x="6" y="8"/>
                </a:lnTo>
                <a:lnTo>
                  <a:pt x="6" y="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306" name=""/>
          <p:cNvSpPr/>
          <p:nvPr/>
        </p:nvSpPr>
        <p:spPr>
          <a:xfrm rot="0" flipH="0" flipV="0">
            <a:off x="571500" y="4648200"/>
            <a:ext cx="1866900" cy="438150"/>
          </a:xfrm>
          <a:prstGeom prst="roundRect">
            <a:avLst>
              <a:gd name="adj" fmla="val 13043"/>
            </a:avLst>
          </a:prstGeom>
          <a:solidFill>
            <a:srgbClr val="3B82F6">
              <a:alpha val="12000"/>
            </a:srgbClr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571500" y="4648200"/>
            <a:ext cx="1866900" cy="438150"/>
          </a:xfrm>
          <a:custGeom>
            <a:pathLst>
              <a:path w="196" h="46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44"/>
                </a:lnTo>
                <a:cubicBezTo>
                  <a:pt x="4" y="45"/>
                  <a:pt x="5" y="46"/>
                  <a:pt x="6" y="46"/>
                </a:cubicBezTo>
                <a:cubicBezTo>
                  <a:pt x="3" y="46"/>
                  <a:pt x="0" y="43"/>
                  <a:pt x="0" y="4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704850" y="47910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Consolas"/>
                <a:ea typeface="Consolas"/>
              </a:rPr>
              <a:t>summarize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466850" y="47815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微软雅黑"/>
                <a:ea typeface="微软雅黑"/>
              </a:rPr>
              <a:t>生成结论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3581400" y="3486150"/>
            <a:ext cx="1809750" cy="438150"/>
          </a:xfrm>
          <a:prstGeom prst="roundRect">
            <a:avLst>
              <a:gd name="adj" fmla="val 13043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3714750" y="3629025"/>
            <a:ext cx="228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Consolas"/>
                <a:ea typeface="Consolas"/>
              </a:rPr>
              <a:t>fix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4038600" y="36195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微软雅黑"/>
                <a:ea typeface="微软雅黑"/>
              </a:rPr>
              <a:t>按报错修正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2438400" y="3095625"/>
            <a:ext cx="2047875" cy="190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4486275" y="3114675"/>
            <a:ext cx="19050" cy="371475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15" name=""/>
          <p:cNvSpPr/>
          <p:nvPr/>
        </p:nvSpPr>
        <p:spPr>
          <a:xfrm rot="0" flipH="0" flipV="0">
            <a:off x="4429125" y="3486150"/>
            <a:ext cx="114300" cy="76200"/>
          </a:xfrm>
          <a:custGeom>
            <a:pathLst>
              <a:path w="12" h="8">
                <a:moveTo>
                  <a:pt x="0" y="0"/>
                </a:moveTo>
                <a:lnTo>
                  <a:pt x="6" y="8"/>
                </a:lnTo>
                <a:lnTo>
                  <a:pt x="6" y="8"/>
                </a:lnTo>
                <a:lnTo>
                  <a:pt x="0" y="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316" name=""/>
          <p:cNvSpPr/>
          <p:nvPr/>
        </p:nvSpPr>
        <p:spPr>
          <a:xfrm rot="0" flipH="0" flipV="0">
            <a:off x="4429125" y="3486150"/>
            <a:ext cx="114300" cy="76200"/>
          </a:xfrm>
          <a:custGeom>
            <a:pathLst>
              <a:path w="12" h="8">
                <a:moveTo>
                  <a:pt x="6" y="8"/>
                </a:moveTo>
                <a:lnTo>
                  <a:pt x="12" y="0"/>
                </a:lnTo>
                <a:lnTo>
                  <a:pt x="12" y="8"/>
                </a:lnTo>
                <a:lnTo>
                  <a:pt x="6" y="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317" name=""/>
          <p:cNvSpPr/>
          <p:nvPr/>
        </p:nvSpPr>
        <p:spPr>
          <a:xfrm rot="0" flipH="0" flipV="0">
            <a:off x="4429125" y="3486150"/>
            <a:ext cx="114300" cy="76200"/>
          </a:xfrm>
          <a:custGeom>
            <a:pathLst>
              <a:path w="12" h="8">
                <a:moveTo>
                  <a:pt x="0" y="0"/>
                </a:moveTo>
                <a:lnTo>
                  <a:pt x="12" y="0"/>
                </a:lnTo>
                <a:lnTo>
                  <a:pt x="6" y="8"/>
                </a:lnTo>
                <a:lnTo>
                  <a:pt x="6" y="8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318" name=""/>
          <p:cNvSpPr/>
          <p:nvPr/>
        </p:nvSpPr>
        <p:spPr>
          <a:xfrm rot="0" flipH="0" flipV="0">
            <a:off x="2819400" y="3705225"/>
            <a:ext cx="762000" cy="190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2819400" y="3190875"/>
            <a:ext cx="19050" cy="5143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2438400" y="3190875"/>
            <a:ext cx="381000" cy="190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2362200" y="3133725"/>
            <a:ext cx="76200" cy="114300"/>
          </a:xfrm>
          <a:custGeom>
            <a:pathLst>
              <a:path w="8" h="12">
                <a:moveTo>
                  <a:pt x="0" y="6"/>
                </a:moveTo>
                <a:lnTo>
                  <a:pt x="8" y="0"/>
                </a:lnTo>
                <a:lnTo>
                  <a:pt x="8" y="12"/>
                </a:lnTo>
                <a:lnTo>
                  <a:pt x="0" y="6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322" name=""/>
          <p:cNvSpPr/>
          <p:nvPr/>
        </p:nvSpPr>
        <p:spPr>
          <a:xfrm rot="0" flipH="0" flipV="0">
            <a:off x="2362200" y="3133725"/>
            <a:ext cx="76200" cy="114300"/>
          </a:xfrm>
          <a:custGeom>
            <a:pathLst>
              <a:path w="8" h="12">
                <a:moveTo>
                  <a:pt x="0" y="0"/>
                </a:moveTo>
                <a:lnTo>
                  <a:pt x="8" y="0"/>
                </a:lnTo>
                <a:lnTo>
                  <a:pt x="0" y="6"/>
                </a:lnTo>
                <a:lnTo>
                  <a:pt x="0" y="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2362200" y="3133725"/>
            <a:ext cx="76200" cy="114300"/>
          </a:xfrm>
          <a:custGeom>
            <a:pathLst>
              <a:path w="8" h="12">
                <a:moveTo>
                  <a:pt x="0" y="6"/>
                </a:moveTo>
                <a:lnTo>
                  <a:pt x="0" y="6"/>
                </a:lnTo>
                <a:lnTo>
                  <a:pt x="8" y="12"/>
                </a:lnTo>
                <a:lnTo>
                  <a:pt x="0" y="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648200" y="300990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6B6D4"/>
                </a:solidFill>
                <a:latin typeface="微软雅黑"/>
                <a:ea typeface="微软雅黑"/>
              </a:rPr>
              <a:t>校验未通过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1104900" y="2971800"/>
            <a:ext cx="1581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6B6D4"/>
                </a:solidFill>
                <a:latin typeface="微软雅黑"/>
                <a:ea typeface="微软雅黑"/>
              </a:rPr>
              <a:t>修正后回</a:t>
            </a:r>
            <a:r>
              <a:rPr lang="en-US" sz="975">
                <a:solidFill>
                  <a:srgbClr val="06B6D4"/>
                </a:solidFill>
                <a:latin typeface="微软雅黑"/>
                <a:ea typeface="微软雅黑"/>
              </a:rPr>
              <a:t> validate</a:t>
            </a:r>
            <a:r>
              <a:rPr lang="zh-CN" sz="975">
                <a:solidFill>
                  <a:srgbClr val="06B6D4"/>
                </a:solidFill>
                <a:latin typeface="微软雅黑"/>
                <a:ea typeface="微软雅黑"/>
              </a:rPr>
              <a:t>，最多三次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3543300" y="4000500"/>
            <a:ext cx="190500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校验失败与执行报错共用这一个修正节点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327" name="" descr="&lt;Slide style={{ background: '#FFFFFF', padding: '32px 56px 24px 56px' }}&gt;&#13;&#10;        &lt;Box style={{ height: 84, flexDirection: 'row', alignItems: 'center', gap: 16 }}&gt;&#13;&#10;        &lt;Box style={{ width: 6, height: 44, background: '#3B82F6' }} /&gt;&#13;&#10;        &lt;Text style={{ fontSize: 34, fontWeight: 'bold', color: '#0F172A', fontFamily: '微软雅黑' }}&gt;&#13;&#10;            口径写在配置里，不在模型的猜测里&#13;&#10;        &lt;/Text&gt;&#13;&#10;    &lt;/Box&gt;&#13;&#10;&#13;&#10;        &lt;Box style={{ height: 548, flexDirection: 'row', gap: 32 }}&gt;&#13;&#10;                &lt;Box style={{ width: 330, flexDirection: 'column' }}&gt;&#13;&#10;            &lt;Text style={{ fontSize: 22, fontWeight: 'bold', color: '#0F172A', fontFamily: '微软雅黑' }}&gt;&#13;&#10;                三份配置，一份语义层&#13;&#10;            &lt;/Text&gt;&#13;&#10;            &lt;Box style={{ height: 14 }} /&gt;&#13;&#10;            {[&#13;&#10;                ['metrics.yaml', '7 个指标', '聚合表达式、必带过滤条件、适用维度、边界说明与示例 SQL'],&#13;&#10;                ['tables.yaml', '6 张业务表', '字段级元数据、枚举取值、维度同义词与时间词映射'],&#13;&#10;                ['synonyms.yaml', '27 条 + 22 个', '取值同义与相对时间词，负责把口语拉回维度'],&#13;&#10;            ].map((row, i) =&gt; (&#13;&#10;                &lt;Box key={i} style={{&#13;&#10;                    background: 'rgba(59,130,246,0.08)',&#13;&#10;                    borderLeft: '4px solid #3B82F6',&#13;&#10;                    borderRadius: 6,&#13;&#10;                    padding: '16px 16px',&#13;&#10;                    marginBottom: 12,&#13;&#10;                    flexDirection: 'column', gap: 6,&#13;&#10;                }}&gt;&#13;&#10;                    &lt;Box style={{ flexDirection: 'row', alignItems: 'baseline', gap: 10 }}&gt;&#13;&#10;                        &lt;Text style={{ fontSize: 17, fontWeight: 'bold', color: '#3B82F6', fontFamily: 'Consolas' }}&gt;&#13;&#10;                            {row[0]}&#13;&#10;                        &lt;/Text&gt;&#13;&#10;                        &lt;Text style={{ fontSize: 14, color: 'rgba(15,23,42,0.66)', fontFamily: '微软雅黑' }}&gt;&#13;&#10;                            {row[1]}&#13;&#10;                        &lt;/Text&gt;&#13;&#10;                    &lt;/Box&gt;&#13;&#10;                    &lt;Text style={{ fontSize: 14, color: '#0F172A', lineHeight: 1.5, fontFamily: '微软雅黑' }}&gt;&#13;&#10;                        {row[2]}&#13;&#10;                    &lt;/Text&gt;&#13;&#10;                &lt;/Box&gt;&#13;&#10;            ))}&#13;&#10;            &lt;Box style={{ height: 12 }} /&gt;&#13;&#10;            &lt;Box style={{ background: 'rgba(6,182,212,0.10)', borderRadius: 8, padding: '16px 18px' }}&gt;&#13;&#10;                &lt;Text style={{ fontSize: 14, color: '#0F172A', lineHeight: 1.55, fontFamily: '微软雅黑' }}&gt;&#13;&#10;                    进程启动时校验配置与库内实际表的一致性，不一致直接拒绝启动，不等到提问时才暴露。&#13;&#10;                &lt;/Text&gt;&#13;&#10;            &lt;/Box&gt;&#13;&#10;        &lt;/Box&gt;&#13;&#10;&#13;&#10;                &lt;Box style={{ width: 806, flexDirection: 'column' }}&gt;&#13;&#10;            &lt;Text style={{ fontSize: 22, fontWeight: 'bold', color: '#0F172A', fontFamily: '微软雅黑' }}&gt;&#13;&#10;                一条口径配置里写了什么：以成交总额为例&#13;&#10;            &lt;/Text&gt;&#13;&#10;            &lt;Box style={{ height: 14 }} /&gt;&#13;&#10;            &lt;Table&#13;&#10;                style={{ width: '100%', height: 400 }}&#13;&#10;                defaultTextStyle={{ fontSize: 15, textAlign: 'left', fontFamily: '微软雅黑', color: '#0F172A' }}&#13;&#10;                defaultCellStyle={{&#13;&#10;                    padding: 12,&#13;&#10;                    border: {&#13;&#10;                        left: { width: 1, color: 'rgba(15,23,42,0.12)' },&#13;&#10;                        right: { width: 1, color: 'rgba(15,23,42,0.12)' },&#13;&#10;                        top: { width: 1, color: 'rgba(15,23,42,0.12)' },&#13;&#10;                        bottom: { width: 1, color: 'rgba(15,23,42,0.12)' },&#13;&#10;                    },&#13;&#10;                }}&#13;&#10;                cells={[&#13;&#10;                    [&#13;&#10;                        { text: '配置项', textStyle: { bold: true, color: '#FFFFFF', fontSize: 16 }, cellStyle: { background: { color: '#06B6D4' } } },&#13;&#10;                        { text: '内容', textStyle: { bold: true, color: '#FFFFFF', fontSize: 16 }, cellStyle: { background: { color: '#06B6D4' } } },&#13;&#10;                    ],&#13;&#10;                    [&#13;&#10;                        { text: '聚合表达式', textStyle: { bold: true } },&#13;&#10;                        { text: 'SUM(oi.quantity * oi.unit_price)', textStyle: { fontFamily: 'Consolas' } },&#13;&#10;                    ],&#13;&#10;                    [&#13;&#10;                        { text: '必带过滤', textStyle: { bold: true }, cellStyle: { background: { color: 'rgba(15,23,42,0.04)' } } },&#13;&#10;                        { text: &quot;orders.status NOT IN ('cancelled', 'pending')&quot;, textStyle: { fontFamily: 'Consolas' }, cellStyle: { background: { color: 'rgba(15,23,42,0.04)' } } },&#13;&#10;                    ],&#13;&#10;                    [&#13;&#10;                        { text: '排除范围', textStyle: { bold: true } },&#13;&#10;                        '不含已取消与未支付订单；不扣退款，退款影响另看退款率',&#13;&#10;                    ],&#13;&#10;                    [&#13;&#10;                        { text: '关联关系', textStyle: { bold: true }, cellStyle: { background: { color: 'rgba(15,23,42,0.04)' } } },&#13;&#10;                        { text: 'order_items.order_id = orders.id', textStyle: { fontFamily: 'Consolas' }, cellStyle: { background: { color: 'rgba(15,23,42,0.04)' } } },&#13;&#10;                    ],&#13;&#10;                    [&#13;&#10;                        { text: '适用维度', textStyle: { bold: true } },&#13;&#10;                        '日期 / 月份 / 季度 / 区域 / 渠道 / 品类 / 品牌 / 会员等级',&#13;&#10;                    ],&#13;&#10;                    [&#13;&#10;                        { text: '消费方', textStyle: { bold: true }, cellStyle: { background: { color: 'rgba(15,23,42,0.04)' } } },&#13;&#10;                        { text: '提示词构造、守卫字段白名单、前端口径标注', cellStyle: { background: { color: 'rgba(15,23,42,0.04)' } } },&#13;&#10;                    ],&#13;&#10;                ]}&#13;&#10;            /&gt;&#13;&#10;            &lt;Box style={{ height: 16 }} /&gt;&#13;&#10;            &lt;Text style={{ fontSize: 16, color: 'rgba(15,23,42,0.72)', lineHeight: 1.55, fontFamily: '微软雅黑' }}&gt;&#13;&#10;                同一份元数据三处复用：改口径只改 YAML，提示词、守卫与前端标注同步生效。&#13;&#10;            &lt;/Text&gt;&#13;&#10;        &lt;/Box&gt;&#13;&#10;    &lt;/Box&gt;&#13;&#10;&#13;&#10;        &lt;Box style={{ height: 32, flexDirection: 'row', alignItems: 'center', justifyContent: 'space-between' }}&gt;&#13;&#10;        &lt;Text style={{ fontSize: 14, color: 'rgba(15,23,42,0.60)', fontFamily: '微软雅黑' }}&gt;&#13;&#10;            Text2SQL 电商数据分析 Agent&#13;&#10;        &lt;/Text&gt;&#13;&#10;        &lt;Text style={{ fontSize: 14, color: 'rgba(15,23,42,0.60)', fontFamily: '微软雅黑' }}&gt;06 / 12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533400" y="495300"/>
            <a:ext cx="57150" cy="4191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742950" y="514350"/>
            <a:ext cx="5181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/>
                <a:ea typeface="微软雅黑"/>
              </a:rPr>
              <a:t>口径写在配置里，不在模型的猜测里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533400" y="1104900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微软雅黑"/>
                <a:ea typeface="微软雅黑"/>
              </a:rPr>
              <a:t>三份配置，一份语义层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571500" y="1495425"/>
            <a:ext cx="3143250" cy="1047750"/>
          </a:xfrm>
          <a:prstGeom prst="roundRect">
            <a:avLst>
              <a:gd name="adj" fmla="val 5455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571500" y="1495425"/>
            <a:ext cx="3143250" cy="1047750"/>
          </a:xfrm>
          <a:custGeom>
            <a:pathLst>
              <a:path w="330" h="110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08"/>
                </a:lnTo>
                <a:cubicBezTo>
                  <a:pt x="4" y="109"/>
                  <a:pt x="5" y="110"/>
                  <a:pt x="6" y="110"/>
                </a:cubicBezTo>
                <a:cubicBezTo>
                  <a:pt x="3" y="110"/>
                  <a:pt x="0" y="107"/>
                  <a:pt x="0" y="10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723900" y="1647825"/>
            <a:ext cx="1076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B82F6"/>
                </a:solidFill>
                <a:latin typeface="Consolas"/>
                <a:ea typeface="Consolas"/>
              </a:rPr>
              <a:t>metrics.yaml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1895475" y="1647825"/>
            <a:ext cx="523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7 </a:t>
            </a:r>
            <a:r>
              <a:rPr lang="zh-CN" sz="1050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个指标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723900" y="1905000"/>
            <a:ext cx="28003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聚合表达式、必带过滤条件、适用维度、边界说明与示例</a:t>
            </a:r>
            <a:r>
              <a:rPr lang="en-US" sz="1050">
                <a:solidFill>
                  <a:srgbClr val="0F172A"/>
                </a:solidFill>
                <a:latin typeface="微软雅黑"/>
                <a:ea typeface="微软雅黑"/>
              </a:rPr>
              <a:t> SQL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571500" y="2657475"/>
            <a:ext cx="3143250" cy="1047750"/>
          </a:xfrm>
          <a:prstGeom prst="roundRect">
            <a:avLst>
              <a:gd name="adj" fmla="val 5455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338" name=""/>
          <p:cNvSpPr/>
          <p:nvPr/>
        </p:nvSpPr>
        <p:spPr>
          <a:xfrm rot="0" flipH="0" flipV="0">
            <a:off x="571500" y="2657475"/>
            <a:ext cx="3143250" cy="1047750"/>
          </a:xfrm>
          <a:custGeom>
            <a:pathLst>
              <a:path w="330" h="110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08"/>
                </a:lnTo>
                <a:cubicBezTo>
                  <a:pt x="4" y="109"/>
                  <a:pt x="5" y="110"/>
                  <a:pt x="6" y="110"/>
                </a:cubicBezTo>
                <a:cubicBezTo>
                  <a:pt x="3" y="110"/>
                  <a:pt x="0" y="107"/>
                  <a:pt x="0" y="10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723900" y="2809875"/>
            <a:ext cx="981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B82F6"/>
                </a:solidFill>
                <a:latin typeface="Consolas"/>
                <a:ea typeface="Consolas"/>
              </a:rPr>
              <a:t>tables.yaml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1800225" y="2809875"/>
            <a:ext cx="657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6 </a:t>
            </a:r>
            <a:r>
              <a:rPr lang="zh-CN" sz="1050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张业务表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723900" y="3067050"/>
            <a:ext cx="28003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字段级元数据、枚举取值、维度同义词与时间词映射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571500" y="3819525"/>
            <a:ext cx="3143250" cy="809625"/>
          </a:xfrm>
          <a:prstGeom prst="roundRect">
            <a:avLst>
              <a:gd name="adj" fmla="val 7059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343" name=""/>
          <p:cNvSpPr/>
          <p:nvPr/>
        </p:nvSpPr>
        <p:spPr>
          <a:xfrm rot="0" flipH="0" flipV="0">
            <a:off x="571500" y="3819525"/>
            <a:ext cx="3143250" cy="809625"/>
          </a:xfrm>
          <a:custGeom>
            <a:pathLst>
              <a:path w="330" h="85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83"/>
                </a:lnTo>
                <a:cubicBezTo>
                  <a:pt x="4" y="84"/>
                  <a:pt x="5" y="85"/>
                  <a:pt x="6" y="85"/>
                </a:cubicBezTo>
                <a:cubicBezTo>
                  <a:pt x="3" y="85"/>
                  <a:pt x="0" y="82"/>
                  <a:pt x="0" y="79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723900" y="3971925"/>
            <a:ext cx="1162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B82F6"/>
                </a:solidFill>
                <a:latin typeface="Consolas"/>
                <a:ea typeface="Consolas"/>
              </a:rPr>
              <a:t>synonyms.yaml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1981200" y="3971925"/>
            <a:ext cx="828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27 </a:t>
            </a:r>
            <a:r>
              <a:rPr lang="zh-CN" sz="1050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条</a:t>
            </a:r>
            <a:r>
              <a:rPr lang="en-US" sz="1050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 + 22 </a:t>
            </a:r>
            <a:r>
              <a:rPr lang="zh-CN" sz="1050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个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723900" y="4229100"/>
            <a:ext cx="2800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取值同义与相对时间词，负责把口语拉回维度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533400" y="4857750"/>
            <a:ext cx="3143250" cy="809625"/>
          </a:xfrm>
          <a:prstGeom prst="roundRect">
            <a:avLst>
              <a:gd name="adj" fmla="val 9412"/>
            </a:avLst>
          </a:prstGeom>
          <a:solidFill>
            <a:srgbClr val="06B6D4">
              <a:alpha val="10000"/>
            </a:srgbClr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704850" y="5010150"/>
            <a:ext cx="28003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进程启动时校验配置与库内实际表的一致性，不一致直接拒绝启动，不等到提问时才暴露。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3981450" y="1104900"/>
            <a:ext cx="7677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微软雅黑"/>
                <a:ea typeface="微软雅黑"/>
              </a:rPr>
              <a:t>一条口径配置里写了什么：以成交总额为例</a:t>
            </a:r>
            <a:endParaRPr/>
          </a:p>
        </p:txBody>
      </p:sp>
      <p:graphicFrame>
        <p:nvGraphicFramePr>
          <p:cNvPr id="350" name=""/>
          <p:cNvGraphicFramePr/>
          <p:nvPr/>
        </p:nvGraphicFramePr>
        <p:xfrm rot="0" flipH="0" flipV="0">
          <a:off x="3981450" y="1495425"/>
          <a:ext cx="7677150" cy="3810000"/>
        </p:xfrm>
        <a:graphic>
          <a:graphicData uri="http://schemas.openxmlformats.org/drawingml/2006/table">
            <a:tbl>
              <a:tblGrid>
                <a:gridCol w="1341361">
                  <a:extLst>
                    <a:ext uri="{9D8B030D-6E8A-4147-A177-3AD203B41FA5}">
                      <a16:colId val="1"/>
                    </a:ext>
                  </a:extLst>
                </a:gridCol>
                <a:gridCol w="6335789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57354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配置项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394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聚合表达式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72A"/>
                          </a:solidFill>
                          <a:latin typeface="Consolas"/>
                          <a:ea typeface="Consolas"/>
                        </a:rPr>
                        <a:t>SUM(oi.quantity * oi.unit_price)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394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必带过滤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72A"/>
                          </a:solidFill>
                          <a:latin typeface="Consolas"/>
                          <a:ea typeface="Consolas"/>
                        </a:rPr>
                        <a:t>orders.status NOT IN ('cancelled', 'pending')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394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排除范围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不含已取消与未支付订单；不扣退款，退款影响另看退款率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394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关联关系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72A"/>
                          </a:solidFill>
                          <a:latin typeface="Consolas"/>
                          <a:ea typeface="Consolas"/>
                        </a:rPr>
                        <a:t>order_items.order_id = orders.id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394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适用维度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日期 / 月份 / 季度 / 区域 / 渠道 / 品类 / 品牌 / 会员等级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5394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消费方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提示词构造、守卫字段白名单、前端口径标注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3981450" y="5457825"/>
            <a:ext cx="76771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0F172A">
                    <a:alpha val="72000"/>
                  </a:srgbClr>
                </a:solidFill>
                <a:latin typeface="微软雅黑"/>
                <a:ea typeface="微软雅黑"/>
              </a:rPr>
              <a:t>同一份元数据三处复用：改口径只改</a:t>
            </a:r>
            <a:r>
              <a:rPr lang="en-US" sz="1200">
                <a:solidFill>
                  <a:srgbClr val="0F172A">
                    <a:alpha val="72000"/>
                  </a:srgbClr>
                </a:solidFill>
                <a:latin typeface="微软雅黑"/>
                <a:ea typeface="微软雅黑"/>
              </a:rPr>
              <a:t> YAML</a:t>
            </a:r>
            <a:r>
              <a:rPr lang="zh-CN" sz="1200">
                <a:solidFill>
                  <a:srgbClr val="0F172A">
                    <a:alpha val="72000"/>
                  </a:srgbClr>
                </a:solidFill>
                <a:latin typeface="微软雅黑"/>
                <a:ea typeface="微软雅黑"/>
              </a:rPr>
              <a:t>，提示词、守卫与前端标注同步生效。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5334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11229975" y="64008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06 / 12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354" name="" descr="&lt;Slide style={{ background: '#FFFFFF', padding: '32px 56px 24px 56px' }}&gt;&#13;&#10;        &lt;Box style={{ height: 84, flexDirection: 'row', alignItems: 'center', gap: 16 }}&gt;&#13;&#10;        &lt;Box style={{ width: 6, height: 44, background: '#3B82F6' }} /&gt;&#13;&#10;        &lt;Text style={{ fontSize: 34, fontWeight: 'bold', color: '#0F172A', fontFamily: '微软雅黑' }}&gt;&#13;&#10;            执行前的最后一道闸&#13;&#10;        &lt;/Text&gt;&#13;&#10;    &lt;/Box&gt;&#13;&#10;&#13;&#10;        &lt;Box style={{ height: 548, flexDirection: 'row', gap: 32 }}&gt;&#13;&#10;                &lt;Box style={{ width: 380, flexDirection: 'column' }}&gt;&#13;&#10;            &lt;Box style={{ height: 150, flexDirection: 'row', alignItems: 'flex-end', gap: 14 }}&gt;&#13;&#10;                &lt;Text style={{ fontSize: 96, fontWeight: 'bold', color: '#3B82F6', fontFamily: 'Consolas', lineHeight: 1.0 }}&gt;&#13;&#10;                    9&#13;&#10;                &lt;/Text&gt;&#13;&#10;                &lt;Box style={{ flexDirection: 'column', paddingBottom: 12 }}&gt;&#13;&#10;                    &lt;Text style={{ fontSize: 22, fontWeight: 'bold', color: '#0F172A', fontFamily: '微软雅黑' }}&gt;&#13;&#10;                        条守卫规则&#13;&#10;                    &lt;/Text&gt;&#13;&#10;                    &lt;Text style={{ fontSize: 14, color: 'rgba(15,23,42,0.62)', fontFamily: '微软雅黑' }}&gt;&#13;&#10;                        按固定顺序依次执行&#13;&#10;                    &lt;/Text&gt;&#13;&#10;                &lt;/Box&gt;&#13;&#10;            &lt;/Box&gt;&#13;&#10;&#13;&#10;            &lt;Box style={{ height: 20 }} /&gt;&#13;&#10;            &lt;Box style={{ width: '100%', height: 1, background: 'rgba(15,23,42,0.12)' }} /&gt;&#13;&#10;            &lt;Box style={{ height: 16 }} /&gt;&#13;&#10;&#13;&#10;            &lt;Text style={{ fontSize: 18, fontWeight: 'bold', color: '#0F172A', fontFamily: '微软雅黑' }}&gt;&#13;&#10;                另有三层纵深&#13;&#10;            &lt;/Text&gt;&#13;&#10;            &lt;Box style={{ height: 12 }} /&gt;&#13;&#10;            {[&#13;&#10;                ['语法树层', '在解析后的语法树上判定，不做字符串匹配'],&#13;&#10;                ['连接层', '只读连接；会话与评测数据写入独立库文件'],&#13;&#10;                ['资源层', '行数上限 1000，执行超时 10 秒中断'],&#13;&#10;            ].map((row, i) =&gt; (&#13;&#10;                &lt;Box key={i} style={{ flexDirection: 'column', marginBottom: 12 }}&gt;&#13;&#10;                    &lt;Text style={{ fontSize: 16, fontWeight: 'bold', color: '#06B6D4', fontFamily: '微软雅黑' }}&gt;&#13;&#10;                        {row[0]}&#13;&#10;                    &lt;/Text&gt;&#13;&#10;                    &lt;Text style={{ fontSize: 14, color: 'rgba(15,23,42,0.76)', lineHeight: 1.5, fontFamily: '微软雅黑' }}&gt;&#13;&#10;                        {row[1]}&#13;&#10;                    &lt;/Text&gt;&#13;&#10;                &lt;/Box&gt;&#13;&#10;            ))}&#13;&#10;        &lt;/Box&gt;&#13;&#10;&#13;&#10;                &lt;Box style={{ width: 756, flexDirection: 'column' }}&gt;&#13;&#10;            &lt;Table&#13;&#10;                style={{ width: '100%', height: 548 }}&#13;&#10;                defaultTextStyle={{ fontSize: 14, textAlign: 'left', fontFamily: '微软雅黑', color: '#0F172A' }}&#13;&#10;                defaultCellStyle={{&#13;&#10;                    padding: 8,&#13;&#10;                    border: {&#13;&#10;                        left: { width: 1, color: 'rgba(15,23,42,0.12)' },&#13;&#10;                        right: { width: 1, color: 'rgba(15,23,42,0.12)' },&#13;&#10;                        top: { width: 1, color: 'rgba(15,23,42,0.12)' },&#13;&#10;                        bottom: { width: 1, color: 'rgba(15,23,42,0.12)' },&#13;&#10;                    },&#13;&#10;                }}&#13;&#10;                cells={[&#13;&#10;                    [&#13;&#10;                        { text: '规则', textStyle: { bold: true, color: '#FFFFFF', fontSize: 15 }, cellStyle: { background: { color: '#3B82F6' } } },&#13;&#10;                        { text: '内容', textStyle: { bold: true, color: '#FFFFFF', fontSize: 15 }, cellStyle: { background: { color: '#3B82F6' } } },&#13;&#10;                        { text: '处理', textStyle: { bold: true, color: '#FFFFFF', fontSize: 15 }, cellStyle: { background: { color: '#3B82F6' } } },&#13;&#10;                    ],&#13;&#10;                    [&#13;&#10;                        { text: 'R1', textStyle: { bold: true, fontFamily: 'Consolas' } },&#13;&#10;                        '只允许单条语句',&#13;&#10;                        '拦截',&#13;&#10;                    ],&#13;&#10;                    [&#13;&#10;                        { text: 'R2', textStyle: { bold: true, fontFamily: 'Consolas' }, cellStyle: { background: { color: 'rgba(15,23,42,0.04)' } } },&#13;&#10;                        { text: '只允许查询类语句（SELECT / UNION / EXCEPT / INTERSECT）', cellStyle: { background: { color: 'rgba(15,23,42,0.04)' } } },&#13;&#10;                        { text: '拦截', cellStyle: { background: { color: 'rgba(15,23,42,0.04)' } } },&#13;&#10;                    ],&#13;&#10;                    [&#13;&#10;                        { text: 'R3', textStyle: { bold: true, fontFamily: 'Consolas' } },&#13;&#10;                        '不得出现建表、改数、删库等关键字',&#13;&#10;                        '拦截',&#13;&#10;                    ],&#13;&#10;                    [&#13;&#10;                        { text: 'R4', textStyle: { bold: true, fontFamily: 'Consolas' }, cellStyle: { background: { color: 'rgba(15,23,42,0.04)' } } },&#13;&#10;                        { text: '表必须在语义层登记', cellStyle: { background: { color: 'rgba(15,23,42,0.04)' } } },&#13;&#10;                        { text: '拦截并提示疑似编造', cellStyle: { background: { color: 'rgba(15,23,42,0.04)' } } },&#13;&#10;                    ],&#13;&#10;                    [&#13;&#10;                        { text: 'R5', textStyle: { bold: true, fontFamily: 'Consolas' } },&#13;&#10;                        '字段必须存在于所属表的元数据中',&#13;&#10;                        '拦截并给出建议',&#13;&#10;                    ],&#13;&#10;                    [&#13;&#10;                        { text: 'R6', textStyle: { bold: true, fontFamily: 'Consolas', color: '#06B6D4' }, cellStyle: { background: { color: 'rgba(6,182,212,0.14)' } } },&#13;&#10;                        { text: '缺少 LIMIT 或超过上限时自动包裹', textStyle: { bold: true }, cellStyle: { background: { color: 'rgba(6,182,212,0.14)' } } },&#13;&#10;                        { text: '自动改写（唯一）', textStyle: { bold: true }, cellStyle: { background: { color: 'rgba(6,182,212,0.14)' } } },&#13;&#10;                    ],&#13;&#10;                    [&#13;&#10;                        { text: 'R7', textStyle: { bold: true, fontFamily: 'Consolas' } },&#13;&#10;                        '多表查询必须带连接条件',&#13;&#10;                        '拦截',&#13;&#10;                    ],&#13;&#10;                    [&#13;&#10;                        { text: 'R8', textStyle: { bold: true, fontFamily: 'Consolas' }, cellStyle: { background: { color: 'rgba(15,23,42,0.04)' } } },&#13;&#10;                        { text: '执行超时中断', cellStyle: { background: { color: 'rgba(15,23,42,0.04)' } } },&#13;&#10;                        { text: '仓储层 progress handler', cellStyle: { background: { color: 'rgba(15,23,42,0.04)' } } },&#13;&#10;                    ],&#13;&#10;                    [&#13;&#10;                        { text: 'R9', textStyle: { bold: true, fontFamily: 'Consolas' } },&#13;&#10;                        '只允许白名单内的函数',&#13;&#10;                        '拦截',&#13;&#10;                    ],&#13;&#10;                ]}&#13;&#10;            /&gt;&#13;&#10;        &lt;/Box&gt;&#13;&#10;    &lt;/Box&gt;&#13;&#10;&#13;&#10;        &lt;Box style={{ height: 32, flexDirection: 'row', alignItems: 'center', justifyContent: 'space-between' }}&gt;&#13;&#10;        &lt;Text style={{ fontSize: 14, color: 'rgba(15,23,42,0.60)', fontFamily: '微软雅黑' }}&gt;&#13;&#10;            Text2SQL 电商数据分析 Agent&#13;&#10;        &lt;/Text&gt;&#13;&#10;        &lt;Text style={{ fontSize: 14, color: 'rgba(15,23,42,0.60)', fontFamily: '微软雅黑' }}&gt;07 / 12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6" name=""/>
          <p:cNvSpPr/>
          <p:nvPr/>
        </p:nvSpPr>
        <p:spPr>
          <a:xfrm rot="0" flipH="0" flipV="0">
            <a:off x="533400" y="495300"/>
            <a:ext cx="57150" cy="4191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742950" y="51435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/>
                <a:ea typeface="微软雅黑"/>
              </a:rPr>
              <a:t>执行前的最后一道闸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533400" y="1428750"/>
            <a:ext cx="50482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3B82F6"/>
                </a:solidFill>
                <a:latin typeface="Consolas"/>
                <a:ea typeface="Consolas"/>
              </a:rPr>
              <a:t>9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1171575" y="2000250"/>
            <a:ext cx="1200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微软雅黑"/>
                <a:ea typeface="微软雅黑"/>
              </a:rPr>
              <a:t>条守卫规则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1171575" y="2257425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72A">
                    <a:alpha val="62000"/>
                  </a:srgbClr>
                </a:solidFill>
                <a:latin typeface="微软雅黑"/>
                <a:ea typeface="微软雅黑"/>
              </a:rPr>
              <a:t>按固定顺序依次执行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533400" y="2724150"/>
            <a:ext cx="3619500" cy="9525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533400" y="2886075"/>
            <a:ext cx="3619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微软雅黑"/>
                <a:ea typeface="微软雅黑"/>
              </a:rPr>
              <a:t>另有三层纵深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533400" y="3209925"/>
            <a:ext cx="3619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6B6D4"/>
                </a:solidFill>
                <a:latin typeface="微软雅黑"/>
                <a:ea typeface="微软雅黑"/>
              </a:rPr>
              <a:t>语法树层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533400" y="3400425"/>
            <a:ext cx="3619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0F172A">
                    <a:alpha val="76000"/>
                  </a:srgbClr>
                </a:solidFill>
                <a:latin typeface="微软雅黑"/>
                <a:ea typeface="微软雅黑"/>
              </a:rPr>
              <a:t>在解析后的语法树上判定，不做字符串匹配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533400" y="3762375"/>
            <a:ext cx="3619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6B6D4"/>
                </a:solidFill>
                <a:latin typeface="微软雅黑"/>
                <a:ea typeface="微软雅黑"/>
              </a:rPr>
              <a:t>连接层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533400" y="3952875"/>
            <a:ext cx="3619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0F172A">
                    <a:alpha val="76000"/>
                  </a:srgbClr>
                </a:solidFill>
                <a:latin typeface="微软雅黑"/>
                <a:ea typeface="微软雅黑"/>
              </a:rPr>
              <a:t>只读连接；会话与评测数据写入独立库文件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533400" y="4314825"/>
            <a:ext cx="3619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6B6D4"/>
                </a:solidFill>
                <a:latin typeface="微软雅黑"/>
                <a:ea typeface="微软雅黑"/>
              </a:rPr>
              <a:t>资源层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533400" y="4505325"/>
            <a:ext cx="3619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0F172A">
                    <a:alpha val="76000"/>
                  </a:srgbClr>
                </a:solidFill>
                <a:latin typeface="微软雅黑"/>
                <a:ea typeface="微软雅黑"/>
              </a:rPr>
              <a:t>行数上限</a:t>
            </a:r>
            <a:r>
              <a:rPr lang="en-US" sz="1050">
                <a:solidFill>
                  <a:srgbClr val="0F172A">
                    <a:alpha val="76000"/>
                  </a:srgbClr>
                </a:solidFill>
                <a:latin typeface="微软雅黑"/>
                <a:ea typeface="微软雅黑"/>
              </a:rPr>
              <a:t> 1000</a:t>
            </a:r>
            <a:r>
              <a:rPr lang="zh-CN" sz="1050">
                <a:solidFill>
                  <a:srgbClr val="0F172A">
                    <a:alpha val="76000"/>
                  </a:srgbClr>
                </a:solidFill>
                <a:latin typeface="微软雅黑"/>
                <a:ea typeface="微软雅黑"/>
              </a:rPr>
              <a:t>，执行超时</a:t>
            </a:r>
            <a:r>
              <a:rPr lang="en-US" sz="1050">
                <a:solidFill>
                  <a:srgbClr val="0F172A">
                    <a:alpha val="76000"/>
                  </a:srgbClr>
                </a:solidFill>
                <a:latin typeface="微软雅黑"/>
                <a:ea typeface="微软雅黑"/>
              </a:rPr>
              <a:t> 10 </a:t>
            </a:r>
            <a:r>
              <a:rPr lang="zh-CN" sz="1050">
                <a:solidFill>
                  <a:srgbClr val="0F172A">
                    <a:alpha val="76000"/>
                  </a:srgbClr>
                </a:solidFill>
                <a:latin typeface="微软雅黑"/>
                <a:ea typeface="微软雅黑"/>
              </a:rPr>
              <a:t>秒中断</a:t>
            </a:r>
            <a:endParaRPr/>
          </a:p>
        </p:txBody>
      </p:sp>
      <p:graphicFrame>
        <p:nvGraphicFramePr>
          <p:cNvPr id="369" name=""/>
          <p:cNvGraphicFramePr/>
          <p:nvPr/>
        </p:nvGraphicFramePr>
        <p:xfrm rot="0" flipH="0" flipV="0">
          <a:off x="4457700" y="1104900"/>
          <a:ext cx="7200900" cy="5219700"/>
        </p:xfrm>
        <a:graphic>
          <a:graphicData uri="http://schemas.openxmlformats.org/drawingml/2006/table">
            <a:tbl>
              <a:tblGrid>
                <a:gridCol w="474627">
                  <a:extLst>
                    <a:ext uri="{9D8B030D-6E8A-4147-A177-3AD203B41FA5}">
                      <a16:colId val="1"/>
                    </a:ext>
                  </a:extLst>
                </a:gridCol>
                <a:gridCol w="4813385">
                  <a:extLst>
                    <a:ext uri="{9D8B030D-6E8A-4147-A177-3AD203B41FA5}">
                      <a16:colId val="2"/>
                    </a:ext>
                  </a:extLst>
                </a:gridCol>
                <a:gridCol w="1912889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3727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规则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处理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2027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Consolas"/>
                          <a:ea typeface="Consolas"/>
                        </a:rPr>
                        <a:t>R1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只允许单条语句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拦截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2027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Consolas"/>
                          <a:ea typeface="Consolas"/>
                        </a:rPr>
                        <a:t>R2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只允许查询类语句（SELECT / UNION / EXCEPT / INTERSECT）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拦截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2027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Consolas"/>
                          <a:ea typeface="Consolas"/>
                        </a:rPr>
                        <a:t>R3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不得出现建表、改数、删库等关键字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拦截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2027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Consolas"/>
                          <a:ea typeface="Consolas"/>
                        </a:rPr>
                        <a:t>R4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表必须在语义层登记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拦截并提示疑似编造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2027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Consolas"/>
                          <a:ea typeface="Consolas"/>
                        </a:rPr>
                        <a:t>R5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字段必须存在于所属表的元数据中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拦截并给出建议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52027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6B6D4"/>
                          </a:solidFill>
                          <a:latin typeface="Consolas"/>
                          <a:ea typeface="Consolas"/>
                        </a:rPr>
                        <a:t>R6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>
                        <a:alpha val="14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缺少 LIMIT 或超过上限时自动包裹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>
                        <a:alpha val="14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自动改写（唯一）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>
                        <a:alpha val="14000"/>
                      </a:srgbClr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52027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Consolas"/>
                          <a:ea typeface="Consolas"/>
                        </a:rPr>
                        <a:t>R7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多表查询必须带连接条件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拦截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52027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Consolas"/>
                          <a:ea typeface="Consolas"/>
                        </a:rPr>
                        <a:t>R8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执行超时中断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仓储层 progress handler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52027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Consolas"/>
                          <a:ea typeface="Consolas"/>
                        </a:rPr>
                        <a:t>R9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只允许白名单内的函数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拦截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</a:tbl>
          </a:graphicData>
        </a:graphic>
      </p:graphicFrame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5334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11229975" y="64008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372" name="" descr="&lt;Slide style={{ background: '#FFFFFF', padding: '32px 56px 24px 56px' }}&gt;&#13;&#10;        &lt;Box style={{ height: 84, flexDirection: 'row', alignItems: 'center', gap: 16 }}&gt;&#13;&#10;        &lt;Box style={{ width: 6, height: 44, background: '#3B82F6' }} /&gt;&#13;&#10;        &lt;Text style={{ fontSize: 34, fontWeight: 'bold', color: '#0F172A', fontFamily: '微软雅黑' }}&gt;&#13;&#10;            每个选择都有对应的约束&#13;&#10;        &lt;/Text&gt;&#13;&#10;    &lt;/Box&gt;&#13;&#10;&#13;&#10;        &lt;Box style={{ height: 548, flexDirection: 'row', gap: 32 }}&gt;&#13;&#10;                &lt;Box style={{ width: 330, flexDirection: 'column' }}&gt;&#13;&#10;            &lt;Text style={{ fontSize: 22, fontWeight: 'bold', color: '#0F172A', fontFamily: '微软雅黑' }}&gt;&#13;&#10;                选型不是偏好，是约束的结果&#13;&#10;            &lt;/Text&gt;&#13;&#10;            &lt;Box style={{ height: 14 }} /&gt;&#13;&#10;            &lt;Text style={{ fontSize: 15, color: 'rgba(15,23,42,0.76)', lineHeight: 1.6, fontFamily: '微软雅黑' }}&gt;&#13;&#10;                右侧七项逐条给出约束来源。判断标准只有三个：当前规模是否需要、出问题能否定位、将来能否替换。&#13;&#10;            &lt;/Text&gt;&#13;&#10;            &lt;Box style={{ height: 18 }} /&gt;&#13;&#10;            {[&#13;&#10;                ['规模匹配', '不为演示数据量级引入分布式组件'],&#13;&#10;                ['可维护性', '分层硬约束能靠目录结构直接检查'],&#13;&#10;                ['可替换性', '网关与仓储都是接口，实现可换'],&#13;&#10;            ].map((row, i) =&gt; (&#13;&#10;                &lt;Box key={i} style={{&#13;&#10;                    background: 'rgba(59,130,246,0.08)', borderRadius: 6,&#13;&#10;                    padding: '14px 16px', marginBottom: 12, flexDirection: 'column', gap: 5,&#13;&#10;                }}&gt;&#13;&#10;                    &lt;Text style={{ fontSize: 16, fontWeight: 'bold', color: '#3B82F6', fontFamily: '微软雅黑' }}&gt;&#13;&#10;                        {row[0]}&#13;&#10;                    &lt;/Text&gt;&#13;&#10;                    &lt;Text style={{ fontSize: 14, color: '#0F172A', lineHeight: 1.5, fontFamily: '微软雅黑' }}&gt;&#13;&#10;                        {row[1]}&#13;&#10;                    &lt;/Text&gt;&#13;&#10;                &lt;/Box&gt;&#13;&#10;            ))}&#13;&#10;        &lt;/Box&gt;&#13;&#10;&#13;&#10;                &lt;Box style={{ width: 806, flexDirection: 'column' }}&gt;&#13;&#10;            &lt;Table&#13;&#10;                style={{ width: '100%', height: 430 }}&#13;&#10;                defaultTextStyle={{ fontSize: 14, textAlign: 'left', fontFamily: '微软雅黑', color: '#0F172A' }}&#13;&#10;                defaultCellStyle={{&#13;&#10;                    padding: 10,&#13;&#10;                    border: {&#13;&#10;                        left: { width: 1, color: 'rgba(15,23,42,0.12)' },&#13;&#10;                        right: { width: 1, color: 'rgba(15,23,42,0.12)' },&#13;&#10;                        top: { width: 1, color: 'rgba(15,23,42,0.12)' },&#13;&#10;                        bottom: { width: 1, color: 'rgba(15,23,42,0.12)' },&#13;&#10;                    },&#13;&#10;                }}&#13;&#10;                cells={[&#13;&#10;                    [&#13;&#10;                        { text: '环节', textStyle: { bold: true, color: '#FFFFFF', fontSize: 15 }, cellStyle: { background: { color: '#06B6D4' } } },&#13;&#10;                        { text: '选择', textStyle: { bold: true, color: '#FFFFFF', fontSize: 15 }, cellStyle: { background: { color: '#06B6D4' } } },&#13;&#10;                        { text: '约束来源', textStyle: { bold: true, color: '#FFFFFF', fontSize: 15 }, cellStyle: { background: { color: '#06B6D4' } } },&#13;&#10;                    ],&#13;&#10;                    [&#13;&#10;                        { text: '运行时', textStyle: { bold: true } },&#13;&#10;                        'Python 3.13 / FastAPI',&#13;&#10;                        '单进程即可跑通，接口与编排图同进程，不上容器',&#13;&#10;                    ],&#13;&#10;                    [&#13;&#10;                        { text: '编排', textStyle: { bold: true }, cellStyle: { background: { color: 'rgba(15,23,42,0.04)' } } },&#13;&#10;                        { text: 'LangGraph', textStyle: { fontFamily: 'Consolas' }, cellStyle: { background: { color: 'rgba(15,23,42,0.04)' } } },&#13;&#10;                        { text: '需要显式的重试回环与可中断状态', cellStyle: { background: { color: 'rgba(15,23,42,0.04)' } } },&#13;&#10;                    ],&#13;&#10;                    [&#13;&#10;                        { text: '存储', textStyle: { bold: true } },&#13;&#10;                        'sqlite3 + SQLAlchemy',&#13;&#10;                        '演示数据量级小；仓储层抽象留出换库余地',&#13;&#10;                    ],&#13;&#10;                    [&#13;&#10;                        { text: 'SQL 解析', textStyle: { bold: true }, cellStyle: { background: { color: 'rgba(15,23,42,0.04)' } } },&#13;&#10;                        { text: 'sqlglot', textStyle: { fontFamily: 'Consolas' }, cellStyle: { background: { color: 'rgba(15,23,42,0.04)' } } },&#13;&#10;                        { text: '守卫要在语法树层判定，正则分不出字面量与关键字', cellStyle: { background: { color: 'rgba(15,23,42,0.04)' } } },&#13;&#10;                    ],&#13;&#10;                    [&#13;&#10;                        { text: '图表', textStyle: { bold: true } },&#13;&#10;                        'ECharts',&#13;&#10;                        '图表配置在后端构造并校验，前端只做渲染',&#13;&#10;                    ],&#13;&#10;                    [&#13;&#10;                        { text: '配置', textStyle: { bold: true }, cellStyle: { background: { color: 'rgba(15,23,42,0.04)' } } },&#13;&#10;                        { text: 'Pydantic Settings', textStyle: { fontFamily: 'Consolas' }, cellStyle: { background: { color: 'rgba(15,23,42,0.04)' } } },&#13;&#10;                        { text: '配置集中声明并做类型校验，缺项在启动时暴露', cellStyle: { background: { color: 'rgba(15,23,42,0.04)' } } },&#13;&#10;                    ],&#13;&#10;                    [&#13;&#10;                        { text: '模型接入', textStyle: { bold: true } },&#13;&#10;                        'OpenAI 兼容网关',&#13;&#10;                        '网关层抽象，桩实现与真实实现同签名',&#13;&#10;                    ],&#13;&#10;                ]}&#13;&#10;            /&gt;&#13;&#10;            &lt;Box style={{ height: 16 }} /&gt;&#13;&#10;            &lt;Box style={{&#13;&#10;                background: 'rgba(15,23,42,0.04)', borderRadius: 6,&#13;&#10;                border: '1px solid rgba(15,23,42,0.12)',&#13;&#10;                padding: '14px 16px', flexDirection: 'column', gap: 6,&#13;&#10;            }}&gt;&#13;&#10;                &lt;Text style={{ fontSize: 13, color: 'rgba(15,23,42,0.62)', fontFamily: '微软雅黑' }}&gt;&#13;&#10;                    实测版本号（取自本机 backend/.venv）&#13;&#10;                &lt;/Text&gt;&#13;&#10;                &lt;Text style={{ fontSize: 14, color: '#0F172A', fontFamily: 'Consolas' }}&gt;&#13;&#10;                    fastapi 0.141.1 · uvicorn 0.52.4 · langgraph 1.2.11 · langchain-core 1.6.3&#13;&#10;                &lt;/Text&gt;&#13;&#10;                &lt;Text style={{ fontSize: 14, color: '#0F172A', fontFamily: 'Consolas' }}&gt;&#13;&#10;                    sqlalchemy 2.0.52 · sqlglot 30.18.0 · pydantic 2.13.5 · pydantic-settings 2.15.0 · openai 3.13.0&#13;&#10;                &lt;/Text&gt;&#13;&#10;            &lt;/Box&gt;&#13;&#10;        &lt;/Box&gt;&#13;&#10;    &lt;/Box&gt;&#13;&#10;&#13;&#10;        &lt;Box style={{ height: 32, flexDirection: 'row', alignItems: 'center', justifyContent: 'space-between' }}&gt;&#13;&#10;        &lt;Text style={{ fontSize: 14, color: 'rgba(15,23,42,0.60)', fontFamily: '微软雅黑' }}&gt;&#13;&#10;            Text2SQL 电商数据分析 Agent&#13;&#10;        &lt;/Text&gt;&#13;&#10;        &lt;Text style={{ fontSize: 14, color: 'rgba(15,23,42,0.60)', fontFamily: '微软雅黑' }}&gt;08 / 12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4" name=""/>
          <p:cNvSpPr/>
          <p:nvPr/>
        </p:nvSpPr>
        <p:spPr>
          <a:xfrm rot="0" flipH="0" flipV="0">
            <a:off x="533400" y="495300"/>
            <a:ext cx="57150" cy="4191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742950" y="51435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/>
                <a:ea typeface="微软雅黑"/>
              </a:rPr>
              <a:t>每个选择都有对应的约束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533400" y="1104900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微软雅黑"/>
                <a:ea typeface="微软雅黑"/>
              </a:rPr>
              <a:t>选型不是偏好，是约束的结果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533400" y="1495425"/>
            <a:ext cx="31432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0F172A">
                    <a:alpha val="76000"/>
                  </a:srgbClr>
                </a:solidFill>
                <a:latin typeface="微软雅黑"/>
                <a:ea typeface="微软雅黑"/>
              </a:rPr>
              <a:t>右侧七项逐条给出约束来源。判断标准只有三个：当前规模是否需要、出问题能否定位、将来能否替换。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533400" y="2495550"/>
            <a:ext cx="3143250" cy="752475"/>
          </a:xfrm>
          <a:prstGeom prst="roundRect">
            <a:avLst>
              <a:gd name="adj" fmla="val 7595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685800" y="2628900"/>
            <a:ext cx="2838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B82F6"/>
                </a:solidFill>
                <a:latin typeface="微软雅黑"/>
                <a:ea typeface="微软雅黑"/>
              </a:rPr>
              <a:t>规模匹配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685800" y="2867025"/>
            <a:ext cx="28384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不为演示数据量级引入分布式组件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533400" y="3362325"/>
            <a:ext cx="3143250" cy="752475"/>
          </a:xfrm>
          <a:prstGeom prst="roundRect">
            <a:avLst>
              <a:gd name="adj" fmla="val 7595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85800" y="3495675"/>
            <a:ext cx="2838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B82F6"/>
                </a:solidFill>
                <a:latin typeface="微软雅黑"/>
                <a:ea typeface="微软雅黑"/>
              </a:rPr>
              <a:t>可维护性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685800" y="3733800"/>
            <a:ext cx="28384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分层硬约束能靠目录结构直接检查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533400" y="4229100"/>
            <a:ext cx="3143250" cy="752475"/>
          </a:xfrm>
          <a:prstGeom prst="roundRect">
            <a:avLst>
              <a:gd name="adj" fmla="val 7595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685800" y="4362450"/>
            <a:ext cx="2838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B82F6"/>
                </a:solidFill>
                <a:latin typeface="微软雅黑"/>
                <a:ea typeface="微软雅黑"/>
              </a:rPr>
              <a:t>可替换性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685800" y="4600575"/>
            <a:ext cx="28384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网关与仓储都是接口，实现可换</a:t>
            </a:r>
            <a:endParaRPr/>
          </a:p>
        </p:txBody>
      </p:sp>
      <p:graphicFrame>
        <p:nvGraphicFramePr>
          <p:cNvPr id="387" name=""/>
          <p:cNvGraphicFramePr/>
          <p:nvPr/>
        </p:nvGraphicFramePr>
        <p:xfrm rot="0" flipH="0" flipV="0">
          <a:off x="3981450" y="1104900"/>
          <a:ext cx="7677150" cy="4095750"/>
        </p:xfrm>
        <a:graphic>
          <a:graphicData uri="http://schemas.openxmlformats.org/drawingml/2006/table">
            <a:tbl>
              <a:tblGrid>
                <a:gridCol w="977194">
                  <a:extLst>
                    <a:ext uri="{9D8B030D-6E8A-4147-A177-3AD203B41FA5}">
                      <a16:colId val="1"/>
                    </a:ext>
                  </a:extLst>
                </a:gridCol>
                <a:gridCol w="2044245">
                  <a:extLst>
                    <a:ext uri="{9D8B030D-6E8A-4147-A177-3AD203B41FA5}">
                      <a16:colId val="2"/>
                    </a:ext>
                  </a:extLst>
                </a:gridCol>
                <a:gridCol w="4655711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2654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环节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选择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约束来源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098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运行时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Python 3.13 / FastAPI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单进程即可跑通，接口与编排图同进程，不上容器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098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编排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Consolas"/>
                          <a:ea typeface="Consolas"/>
                        </a:rPr>
                        <a:t>LangGraph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需要显式的重试回环与可中断状态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098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存储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sqlite3 + SQLAlchemy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演示数据量级小；仓储层抽象留出换库余地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098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SQL 解析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Consolas"/>
                          <a:ea typeface="Consolas"/>
                        </a:rPr>
                        <a:t>sqlglot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守卫要在语法树层判定，正则分不出字面量与关键字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098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图表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ECharts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图表配置在后端构造并校验，前端只做渲染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5098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配置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Consolas"/>
                          <a:ea typeface="Consolas"/>
                        </a:rPr>
                        <a:t>Pydantic Settings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配置集中声明并做类型校验，缺项在启动时暴露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5098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模型接入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OpenAI 兼容网关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网关层抽象，桩实现与真实实现同签名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</a:tbl>
          </a:graphicData>
        </a:graphic>
      </p:graphicFrame>
      <p:sp>
        <p:nvSpPr>
          <p:cNvPr id="388" name=""/>
          <p:cNvSpPr/>
          <p:nvPr/>
        </p:nvSpPr>
        <p:spPr>
          <a:xfrm rot="0" flipH="0" flipV="0">
            <a:off x="3981450" y="5353050"/>
            <a:ext cx="7677150" cy="857250"/>
          </a:xfrm>
          <a:prstGeom prst="roundRect">
            <a:avLst>
              <a:gd name="adj" fmla="val 6667"/>
            </a:avLst>
          </a:prstGeom>
          <a:solidFill>
            <a:srgbClr val="0F172A">
              <a:alpha val="4000"/>
            </a:srgbClr>
          </a:solidFill>
          <a:ln w="12700">
            <a:solidFill>
              <a:srgbClr val="0F172A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4133850" y="5486400"/>
            <a:ext cx="7372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72A">
                    <a:alpha val="62000"/>
                  </a:srgbClr>
                </a:solidFill>
                <a:latin typeface="微软雅黑"/>
                <a:ea typeface="微软雅黑"/>
              </a:rPr>
              <a:t>实测版本号（取自本机</a:t>
            </a:r>
            <a:r>
              <a:rPr lang="en-US" sz="975">
                <a:solidFill>
                  <a:srgbClr val="0F172A">
                    <a:alpha val="62000"/>
                  </a:srgbClr>
                </a:solidFill>
                <a:latin typeface="微软雅黑"/>
                <a:ea typeface="微软雅黑"/>
              </a:rPr>
              <a:t> backend/.venv</a:t>
            </a:r>
            <a:r>
              <a:rPr lang="zh-CN" sz="975">
                <a:solidFill>
                  <a:srgbClr val="0F172A">
                    <a:alpha val="62000"/>
                  </a:srgbClr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4133850" y="5695950"/>
            <a:ext cx="737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/>
                </a:solidFill>
                <a:latin typeface="Consolas"/>
                <a:ea typeface="Consolas"/>
              </a:rPr>
              <a:t>fastapi 0.141.1 · uvicorn 0.52.4 · langgraph 1.2.11 · langchain-core 1.6.3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4133850" y="5915025"/>
            <a:ext cx="737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/>
                </a:solidFill>
                <a:latin typeface="Consolas"/>
                <a:ea typeface="Consolas"/>
              </a:rPr>
              <a:t>sqlalchemy 2.0.52 · sqlglot 30.18.0 · pydantic 2.13.5 · pydantic-settings 2.15.0 · openai 3.13.0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5334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11229975" y="64008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08 / 12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94" name="" descr="&lt;Slide style={{ background: '#FFFFFF', padding: '32px 56px 24px 56px' }}&gt;&#13;&#10;        &lt;Box style={{ height: 84, flexDirection: 'row', alignItems: 'center', gap: 16 }}&gt;&#13;&#10;        &lt;Box style={{ width: 6, height: 44, background: '#3B82F6' }} /&gt;&#13;&#10;        &lt;Text style={{ fontSize: 34, fontWeight: 'bold', color: '#0F172A', fontFamily: '微软雅黑' }}&gt;&#13;&#10;            真实运行截图&#13;&#10;        &lt;/Text&gt;&#13;&#10;    &lt;/Box&gt;&#13;&#10;&#13;&#10;        &lt;Box style={{ height: 548, flexDirection: 'column' }}&gt;&#13;&#10;        &lt;Box style={{&#13;&#10;            background: 'rgba(59,130,246,0.08)', borderRadius: 6,&#13;&#10;            padding: '12px 18px', flexDirection: 'row', alignItems: 'center', gap: 14,&#13;&#10;        }}&gt;&#13;&#10;            &lt;Box style={{ width: 4, height: 34, background: '#3B82F6' }} /&gt;&#13;&#10;            &lt;Text style={{ fontSize: 15, color: '#0F172A', lineHeight: 1.5, fontFamily: '微软雅黑' }}&gt;&#13;&#10;                六个场景覆盖基础链路、趋势、多轮追问、口径澄清、危险拦截与 SQL 面板。截图取自非桩模式的真实运行，本版为占位框，取得素材后逐格替换。&#13;&#10;            &lt;/Text&gt;&#13;&#10;        &lt;/Box&gt;&#13;&#10;&#13;&#10;        &lt;Box style={{ height: 20 }} /&gt;&#13;&#10;&#13;&#10;        &lt;Box style={{ flexDirection: 'column', gap: 20, flex: 1 }}&gt;&#13;&#10;            {[0, 1].map((r) =&gt; (&#13;&#10;                &lt;Box key={r} style={{ flexDirection: 'row', gap: 24, flex: 1 }}&gt;&#13;&#10;                    {[&#13;&#10;                        ['基础链路', '一句话出数，结果配图表与结论'],&#13;&#10;                        ['趋势查询', '按月展开，图表类型由模型决策'],&#13;&#10;                        ['多轮追问', '上下文承接，省略的主语不丢'],&#13;&#10;                        ['口径澄清', '信息不足先追问，不猜着出 SQL'],&#13;&#10;                        ['危险拦截', '越权语句在校验环节被挡下'],&#13;&#10;                        ['SQL 面板', '本轮语句与结果集对使用者可见'],&#13;&#10;                    ].slice(r * 3, r * 3 + 3).map((row, i) =&gt; (&#13;&#10;                        &lt;Box key={i} style={{&#13;&#10;                            flex: 1,&#13;&#10;                            background: 'rgba(15,23,42,0.04)',&#13;&#10;                            border: '1px dashed rgba(15,23,42,0.30)',&#13;&#10;                            borderRadius: 8,&#13;&#10;                            alignItems: 'center', justifyContent: 'center',&#13;&#10;                            flexDirection: 'column', gap: 10,&#13;&#10;                        }}&gt;&#13;&#10;                            &lt;Text style={{ fontSize: 19, fontWeight: 'bold', color: '#3B82F6', fontFamily: '微软雅黑' }}&gt;&#13;&#10;                                {row[0]}&#13;&#10;                            &lt;/Text&gt;&#13;&#10;                            &lt;Text style={{&#13;&#10;                                fontSize: 14, color: 'rgba(15,23,42,0.66)',&#13;&#10;                                textAlign: 'center', fontFamily: '微软雅黑',&#13;&#10;                            }}&gt;&#13;&#10;                                {row[1]}&#13;&#10;                            &lt;/Text&gt;&#13;&#10;                            &lt;Box style={{&#13;&#10;                                background: 'rgba(255,255,255,0.90)',&#13;&#10;                                border: '1px dashed rgba(15,23,42,0.30)',&#13;&#10;                                borderRadius: 4, padding: '6px 14px',&#13;&#10;                            }}&gt;&#13;&#10;                                &lt;Text style={{ fontSize: 13, color: 'rgba(15,23,42,0.55)', fontFamily: '微软雅黑' }}&gt;&#13;&#10;                                    待回填：真实运行截图&#13;&#10;                                &lt;/Text&gt;&#13;&#10;                            &lt;/Box&gt;&#13;&#10;                        &lt;/Box&gt;&#13;&#10;                    ))}&#13;&#10;                &lt;/Box&gt;&#13;&#10;            ))}&#13;&#10;        &lt;/Box&gt;&#13;&#10;    &lt;/Box&gt;&#13;&#10;&#13;&#10;        &lt;Box style={{ height: 32, flexDirection: 'row', alignItems: 'center', justifyContent: 'space-between' }}&gt;&#13;&#10;        &lt;Text style={{ fontSize: 14, color: 'rgba(15,23,42,0.60)', fontFamily: '微软雅黑' }}&gt;&#13;&#10;            Text2SQL 电商数据分析 Agent&#13;&#10;        &lt;/Text&gt;&#13;&#10;        &lt;Text style={{ fontSize: 14, color: 'rgba(15,23,42,0.60)', fontFamily: '微软雅黑' }}&gt;09 / 12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6" name=""/>
          <p:cNvSpPr/>
          <p:nvPr/>
        </p:nvSpPr>
        <p:spPr>
          <a:xfrm rot="0" flipH="0" flipV="0">
            <a:off x="533400" y="495300"/>
            <a:ext cx="57150" cy="4191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742950" y="51435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/>
                <a:ea typeface="微软雅黑"/>
              </a:rPr>
              <a:t>真实运行截图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533400" y="1104900"/>
            <a:ext cx="11125200" cy="552450"/>
          </a:xfrm>
          <a:prstGeom prst="roundRect">
            <a:avLst>
              <a:gd name="adj" fmla="val 10345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399" name=""/>
          <p:cNvSpPr/>
          <p:nvPr/>
        </p:nvSpPr>
        <p:spPr>
          <a:xfrm rot="0" flipH="0" flipV="0">
            <a:off x="704850" y="1219200"/>
            <a:ext cx="38100" cy="3238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876300" y="1257300"/>
            <a:ext cx="93440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0F172A"/>
                </a:solidFill>
                <a:latin typeface="微软雅黑"/>
                <a:ea typeface="微软雅黑"/>
              </a:rPr>
              <a:t>六个场景覆盖基础链路、趋势、多轮追问、口径澄清、危险拦截与</a:t>
            </a:r>
            <a:r>
              <a:rPr lang="en-US" sz="1125">
                <a:solidFill>
                  <a:srgbClr val="0F172A"/>
                </a:solidFill>
                <a:latin typeface="微软雅黑"/>
                <a:ea typeface="微软雅黑"/>
              </a:rPr>
              <a:t> SQL </a:t>
            </a:r>
            <a:r>
              <a:rPr lang="zh-CN" sz="1125">
                <a:solidFill>
                  <a:srgbClr val="0F172A"/>
                </a:solidFill>
                <a:latin typeface="微软雅黑"/>
                <a:ea typeface="微软雅黑"/>
              </a:rPr>
              <a:t>面板。截图取自非桩模式的真实运行，本版为占位框，取得素材后逐格替换。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533400" y="1847850"/>
            <a:ext cx="3552825" cy="2143125"/>
          </a:xfrm>
          <a:prstGeom prst="roundRect">
            <a:avLst>
              <a:gd name="adj" fmla="val 3556"/>
            </a:avLst>
          </a:prstGeom>
          <a:solidFill>
            <a:srgbClr val="0F172A">
              <a:alpha val="4000"/>
            </a:srgbClr>
          </a:solidFill>
          <a:ln w="12700">
            <a:solidFill>
              <a:srgbClr val="0F172A">
                <a:alpha val="3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952625" y="250507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B82F6"/>
                </a:solidFill>
                <a:latin typeface="微软雅黑"/>
                <a:ea typeface="微软雅黑"/>
              </a:rPr>
              <a:t>基础链路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1381125" y="2819400"/>
            <a:ext cx="18669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一句话出数，结果配图表与结论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1562100" y="3076575"/>
            <a:ext cx="1504950" cy="266700"/>
          </a:xfrm>
          <a:prstGeom prst="roundRect">
            <a:avLst>
              <a:gd name="adj" fmla="val 14286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0F172A">
                <a:alpha val="3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1695450" y="3133725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72A">
                    <a:alpha val="55000"/>
                  </a:srgbClr>
                </a:solidFill>
                <a:latin typeface="微软雅黑"/>
                <a:ea typeface="微软雅黑"/>
              </a:rPr>
              <a:t>待回填：真实运行截图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4314825" y="1847850"/>
            <a:ext cx="3562350" cy="2143125"/>
          </a:xfrm>
          <a:prstGeom prst="roundRect">
            <a:avLst>
              <a:gd name="adj" fmla="val 3556"/>
            </a:avLst>
          </a:prstGeom>
          <a:solidFill>
            <a:srgbClr val="0F172A">
              <a:alpha val="4000"/>
            </a:srgbClr>
          </a:solidFill>
          <a:ln w="12700">
            <a:solidFill>
              <a:srgbClr val="0F172A">
                <a:alpha val="3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5734050" y="250507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B82F6"/>
                </a:solidFill>
                <a:latin typeface="微软雅黑"/>
                <a:ea typeface="微软雅黑"/>
              </a:rPr>
              <a:t>趋势查询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5162550" y="2819400"/>
            <a:ext cx="18669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按月展开，图表类型由模型决策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5343525" y="3076575"/>
            <a:ext cx="1504950" cy="266700"/>
          </a:xfrm>
          <a:prstGeom prst="roundRect">
            <a:avLst>
              <a:gd name="adj" fmla="val 14286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0F172A">
                <a:alpha val="3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5476875" y="3133725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72A">
                    <a:alpha val="55000"/>
                  </a:srgbClr>
                </a:solidFill>
                <a:latin typeface="微软雅黑"/>
                <a:ea typeface="微软雅黑"/>
              </a:rPr>
              <a:t>待回填：真实运行截图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8105775" y="1847850"/>
            <a:ext cx="3552825" cy="2143125"/>
          </a:xfrm>
          <a:prstGeom prst="roundRect">
            <a:avLst>
              <a:gd name="adj" fmla="val 3556"/>
            </a:avLst>
          </a:prstGeom>
          <a:solidFill>
            <a:srgbClr val="0F172A">
              <a:alpha val="4000"/>
            </a:srgbClr>
          </a:solidFill>
          <a:ln w="12700">
            <a:solidFill>
              <a:srgbClr val="0F172A">
                <a:alpha val="3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9525000" y="250507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B82F6"/>
                </a:solidFill>
                <a:latin typeface="微软雅黑"/>
                <a:ea typeface="微软雅黑"/>
              </a:rPr>
              <a:t>多轮追问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9020175" y="2819400"/>
            <a:ext cx="1733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上下文承接，省略的主语不丢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9134475" y="3076575"/>
            <a:ext cx="1504950" cy="266700"/>
          </a:xfrm>
          <a:prstGeom prst="roundRect">
            <a:avLst>
              <a:gd name="adj" fmla="val 14286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0F172A">
                <a:alpha val="3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9267825" y="3133725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72A">
                    <a:alpha val="55000"/>
                  </a:srgbClr>
                </a:solidFill>
                <a:latin typeface="微软雅黑"/>
                <a:ea typeface="微软雅黑"/>
              </a:rPr>
              <a:t>待回填：真实运行截图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533400" y="4181475"/>
            <a:ext cx="3552825" cy="2143125"/>
          </a:xfrm>
          <a:prstGeom prst="roundRect">
            <a:avLst>
              <a:gd name="adj" fmla="val 3556"/>
            </a:avLst>
          </a:prstGeom>
          <a:solidFill>
            <a:srgbClr val="0F172A">
              <a:alpha val="4000"/>
            </a:srgbClr>
          </a:solidFill>
          <a:ln w="12700">
            <a:solidFill>
              <a:srgbClr val="0F172A">
                <a:alpha val="3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1952625" y="48387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B82F6"/>
                </a:solidFill>
                <a:latin typeface="微软雅黑"/>
                <a:ea typeface="微软雅黑"/>
              </a:rPr>
              <a:t>口径澄清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371600" y="5153025"/>
            <a:ext cx="18859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信息不足先追问，不猜着出</a:t>
            </a:r>
            <a:r>
              <a:rPr lang="en-US" sz="1050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 SQL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1562100" y="5410200"/>
            <a:ext cx="1504950" cy="266700"/>
          </a:xfrm>
          <a:prstGeom prst="roundRect">
            <a:avLst>
              <a:gd name="adj" fmla="val 14286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0F172A">
                <a:alpha val="3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1695450" y="546735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72A">
                    <a:alpha val="55000"/>
                  </a:srgbClr>
                </a:solidFill>
                <a:latin typeface="微软雅黑"/>
                <a:ea typeface="微软雅黑"/>
              </a:rPr>
              <a:t>待回填：真实运行截图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4314825" y="4181475"/>
            <a:ext cx="3562350" cy="2143125"/>
          </a:xfrm>
          <a:prstGeom prst="roundRect">
            <a:avLst>
              <a:gd name="adj" fmla="val 3556"/>
            </a:avLst>
          </a:prstGeom>
          <a:solidFill>
            <a:srgbClr val="0F172A">
              <a:alpha val="4000"/>
            </a:srgbClr>
          </a:solidFill>
          <a:ln w="12700">
            <a:solidFill>
              <a:srgbClr val="0F172A">
                <a:alpha val="3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5734050" y="48387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B82F6"/>
                </a:solidFill>
                <a:latin typeface="微软雅黑"/>
                <a:ea typeface="微软雅黑"/>
              </a:rPr>
              <a:t>危险拦截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5295900" y="5153025"/>
            <a:ext cx="16002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越权语句在校验环节被挡下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5343525" y="5410200"/>
            <a:ext cx="1504950" cy="266700"/>
          </a:xfrm>
          <a:prstGeom prst="roundRect">
            <a:avLst>
              <a:gd name="adj" fmla="val 14286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0F172A">
                <a:alpha val="3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5476875" y="546735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72A">
                    <a:alpha val="55000"/>
                  </a:srgbClr>
                </a:solidFill>
                <a:latin typeface="微软雅黑"/>
                <a:ea typeface="微软雅黑"/>
              </a:rPr>
              <a:t>待回填：真实运行截图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8105775" y="4181475"/>
            <a:ext cx="3552825" cy="2143125"/>
          </a:xfrm>
          <a:prstGeom prst="roundRect">
            <a:avLst>
              <a:gd name="adj" fmla="val 3556"/>
            </a:avLst>
          </a:prstGeom>
          <a:solidFill>
            <a:srgbClr val="0F172A">
              <a:alpha val="4000"/>
            </a:srgbClr>
          </a:solidFill>
          <a:ln w="12700">
            <a:solidFill>
              <a:srgbClr val="0F172A">
                <a:alpha val="3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9496425" y="4838700"/>
            <a:ext cx="781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3B82F6"/>
                </a:solidFill>
                <a:latin typeface="微软雅黑"/>
                <a:ea typeface="微软雅黑"/>
              </a:rPr>
              <a:t>SQL </a:t>
            </a:r>
            <a:r>
              <a:rPr lang="zh-CN" sz="1425" b="1">
                <a:solidFill>
                  <a:srgbClr val="3B82F6"/>
                </a:solidFill>
                <a:latin typeface="微软雅黑"/>
                <a:ea typeface="微软雅黑"/>
              </a:rPr>
              <a:t>面板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8953500" y="5153025"/>
            <a:ext cx="18669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本轮语句与结果集对使用者可见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9134475" y="5410200"/>
            <a:ext cx="1504950" cy="266700"/>
          </a:xfrm>
          <a:prstGeom prst="roundRect">
            <a:avLst>
              <a:gd name="adj" fmla="val 14286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0F172A">
                <a:alpha val="3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9267825" y="546735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72A">
                    <a:alpha val="55000"/>
                  </a:srgbClr>
                </a:solidFill>
                <a:latin typeface="微软雅黑"/>
                <a:ea typeface="微软雅黑"/>
              </a:rPr>
              <a:t>待回填：真实运行截图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5334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11229975" y="64008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0" name="" descr="&lt;Slide style={{ background: '#FFFFFF', padding: '32px 56px 24px 56px' }}&gt;&#13;&#10;        &lt;Box style={{ height: 84, flexDirection: 'row', alignItems: 'center', gap: 16 }}&gt;&#13;&#10;        &lt;Box style={{ width: 6, height: 44, background: '#3B82F6' }} /&gt;&#13;&#10;        &lt;Text style={{ fontSize: 34, fontWeight: 'bold', color: '#0F172A', fontFamily: '微软雅黑' }}&gt;&#13;&#10;            准确率怎么测，测出来是多少&#13;&#10;        &lt;/Text&gt;&#13;&#10;    &lt;/Box&gt;&#13;&#10;&#13;&#10;        &lt;Box style={{ height: 548, flexDirection: 'row', gap: 32 }}&gt;&#13;&#10;                &lt;Box style={{ width: 625, flexDirection: 'column' }}&gt;&#13;&#10;            &lt;Text style={{ fontSize: 22, fontWeight: 'bold', color: '#0F172A', fontFamily: '微软雅黑' }}&gt;&#13;&#10;                三组判据，互不替代&#13;&#10;            &lt;/Text&gt;&#13;&#10;            &lt;Box style={{ height: 12 }} /&gt;&#13;&#10;            &lt;Text style={{ fontSize: 15, color: 'rgba(15,23,42,0.74)', lineHeight: 1.6, fontFamily: '微软雅黑' }}&gt;&#13;&#10;                口径对了不代表链路能跑通，链路通了不代表危险语句拦得住。三组分开计分，任一组失守都不算可用。&#13;&#10;            &lt;/Text&gt;&#13;&#10;            &lt;Box style={{ height: 18 }} /&gt;&#13;&#10;            {[&#13;&#10;                ['口径召回', '32 道问法', '逐条比对期望命中的指标、维度、时间区间与空召回避，四项全中才算通过。'],&#13;&#10;                ['端到端可执行', '10 道问法', '走完整条链路，判定是否产出可执行语句与结果集，不看措辞好不好。'],&#13;&#10;                ['守卫拦截', '8 条诱导语句', '把危险语句注入生成节点，模拟模型被诱导的情形，判定是否被校验环节拦下。'],&#13;&#10;            ].map((row, i) =&gt; (&#13;&#10;                &lt;Box key={i} style={{&#13;&#10;                    flexDirection: 'row', gap: 14, marginBottom: 14,&#13;&#10;                    background: i % 2 === 0 ? 'rgba(59,130,246,0.08)' : 'rgba(6,182,212,0.10)',&#13;&#10;                    borderRadius: 6, padding: '14px 16px', alignItems: 'flex-start',&#13;&#10;                }}&gt;&#13;&#10;                    &lt;Box style={{ width: 118, flexDirection: 'column', gap: 3 }}&gt;&#13;&#10;                        &lt;Text style={{ fontSize: 16, fontWeight: 'bold', color: '#0F172A', fontFamily: '微软雅黑' }}&gt;&#13;&#10;                            {row[0]}&#13;&#10;                        &lt;/Text&gt;&#13;&#10;                        &lt;Text style={{ fontSize: 13, color: 'rgba(15,23,42,0.60)', fontFamily: '微软雅黑' }}&gt;&#13;&#10;                            {row[1]}&#13;&#10;                        &lt;/Text&gt;&#13;&#10;                    &lt;/Box&gt;&#13;&#10;                    &lt;Text style={{ fontSize: 14, color: '#0F172A', lineHeight: 1.55, flex: 1, fontFamily: '微软雅黑' }}&gt;&#13;&#10;                        {row[2]}&#13;&#10;                    &lt;/Text&gt;&#13;&#10;                &lt;/Box&gt;&#13;&#10;            ))}&#13;&#10;            &lt;Box style={{ height: 10 }} /&gt;&#13;&#10;            &lt;Box style={{&#13;&#10;                background: 'rgba(15,23,42,0.04)', borderLeft: '4px solid #06B6D4',&#13;&#10;                borderRadius: 6, padding: '14px 16px',&#13;&#10;            }}&gt;&#13;&#10;                &lt;Text style={{ fontSize: 14, color: '#0F172A', lineHeight: 1.55, fontFamily: '微软雅黑' }}&gt;&#13;&#10;                    时间锚点固定为 2026-09-15。相对时间词若随运行日期漂移，同一道题目的期望结果每天都会变，评测就失去意义。&#13;&#10;                &lt;/Text&gt;&#13;&#10;            &lt;/Box&gt;&#13;&#10;        &lt;/Box&gt;&#13;&#10;&#13;&#10;                &lt;Box style={{ width: 511, flexDirection: 'column' }}&gt;&#13;&#10;            {[&#13;&#10;                ['32 / 32', '口径召回', '指标 30 · 维度 29 · 时间 24 · 空召 2，四项全中'],&#13;&#10;                ['9 / 9', '端到端可执行', '另有 1 条走不到取数链路，未计入分母'],&#13;&#10;                ['8 / 8', '守卫拦截', '诱导语句全部在校验环节被挡下'],&#13;&#10;            ].map((row, i) =&gt; (&#13;&#10;                &lt;Box key={i} style={{&#13;&#10;                    flexDirection: 'row', alignItems: 'center', gap: 16,&#13;&#10;                    height: 88, marginBottom: 12,&#13;&#10;                    background: '#FFFFFF', border: '1px solid rgba(15,23,42,0.12)',&#13;&#10;                    borderLeft: '4px solid #3B82F6', borderRadius: 8, padding: '0 18px',&#13;&#10;                }}&gt;&#13;&#10;                    &lt;Text style={{ fontSize: 30, fontWeight: 'bold', color: '#3B82F6', fontFamily: 'Consolas', width: 108 }}&gt;&#13;&#10;                        {row[0]}&#13;&#10;                    &lt;/Text&gt;&#13;&#10;                    &lt;Box style={{ flexDirection: 'column', gap: 4, flex: 1 }}&gt;&#13;&#10;                        &lt;Text style={{ fontSize: 17, fontWeight: 'bold', color: '#0F172A', fontFamily: '微软雅黑' }}&gt;&#13;&#10;                            {row[1]}&#13;&#10;                        &lt;/Text&gt;&#13;&#10;                        &lt;Text style={{ fontSize: 13, color: 'rgba(15,23,42,0.66)', lineHeight: 1.45, fontFamily: '微软雅黑' }}&gt;&#13;&#10;                            {row[2]}&#13;&#10;                        &lt;/Text&gt;&#13;&#10;                    &lt;/Box&gt;&#13;&#10;                &lt;/Box&gt;&#13;&#10;            ))}&#13;&#10;&#13;&#10;            &lt;Box style={{&#13;&#10;                background: 'rgba(15,23,42,0.04)',&#13;&#10;                border: '1px dashed rgba(15,23,42,0.30)',&#13;&#10;                borderRadius: 8, padding: '14px 18px', height: 86,&#13;&#10;                flexDirection: 'column', justifyContent: 'center', gap: 6,&#13;&#10;            }}&gt;&#13;&#10;                &lt;Text style={{ fontSize: 15, fontWeight: 'bold', color: '#0F172A', fontFamily: '微软雅黑' }}&gt;&#13;&#10;                    真实模型下的端到端准确率&#13;&#10;                &lt;/Text&gt;&#13;&#10;                &lt;Text style={{ fontSize: 13, color: 'rgba(15,23,42,0.60)', fontFamily: '微软雅黑' }}&gt;&#13;&#10;                    待回填：需接入真实密钥后重跑 pipeline 组&#13;&#10;                &lt;/Text&gt;&#13;&#10;            &lt;/Box&gt;&#13;&#10;&#13;&#10;            &lt;Box style={{ height: 14 }} /&gt;&#13;&#10;            &lt;Text style={{ fontSize: 12, color: 'rgba(15,23,42,0.55)', lineHeight: 1.5, fontFamily: '微软雅黑' }}&gt;&#13;&#10;                上述三组数值取自 eval/report.json，生成时间 2026-09-15。端到端组当前在桩实现下运行，语句来自预置模板，因此该组只反映链路可用性，不代表模型生成质量。&#13;&#10;            &lt;/Text&gt;&#13;&#10;        &lt;/Box&gt;&#13;&#10;    &lt;/Box&gt;&#13;&#10;&#13;&#10;        &lt;Box style={{ height: 32, flexDirection: 'row', alignItems: 'center', justifyContent: 'space-between' }}&gt;&#13;&#10;        &lt;Text style={{ fontSize: 14, color: 'rgba(15,23,42,0.60)', fontFamily: '微软雅黑' }}&gt;&#13;&#10;            Text2SQL 电商数据分析 Agent&#13;&#10;        &lt;/Text&gt;&#13;&#10;        &lt;Text style={{ fontSize: 14, color: 'rgba(15,23,42,0.60)', fontFamily: '微软雅黑' }}&gt;10 / 12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" name=""/>
          <p:cNvSpPr/>
          <p:nvPr/>
        </p:nvSpPr>
        <p:spPr>
          <a:xfrm rot="0" flipH="0" flipV="0">
            <a:off x="533400" y="495300"/>
            <a:ext cx="57150" cy="4191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42950" y="51435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/>
                <a:ea typeface="微软雅黑"/>
              </a:rPr>
              <a:t>准确率怎么测，测出来是多少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33400" y="1104900"/>
            <a:ext cx="5953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微软雅黑"/>
                <a:ea typeface="微软雅黑"/>
              </a:rPr>
              <a:t>三组判据，互不替代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33400" y="1476375"/>
            <a:ext cx="59531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0F172A">
                    <a:alpha val="74000"/>
                  </a:srgbClr>
                </a:solidFill>
                <a:latin typeface="微软雅黑"/>
                <a:ea typeface="微软雅黑"/>
              </a:rPr>
              <a:t>口径对了不代表链路能跑通，链路通了不代表危险语句拦得住。三组分开计分，任一组失守都不算可用。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33400" y="2200275"/>
            <a:ext cx="5953125" cy="771525"/>
          </a:xfrm>
          <a:prstGeom prst="roundRect">
            <a:avLst>
              <a:gd name="adj" fmla="val 7407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85800" y="2333625"/>
            <a:ext cx="1123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微软雅黑"/>
                <a:ea typeface="微软雅黑"/>
              </a:rPr>
              <a:t>口径召回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85800" y="2552700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32 </a:t>
            </a:r>
            <a:r>
              <a:rPr lang="zh-CN" sz="975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道问法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943100" y="2333625"/>
            <a:ext cx="43910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逐条比对期望命中的指标、维度、时间区间与空召回避，四项全中才算通过。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533400" y="3105150"/>
            <a:ext cx="5953125" cy="638175"/>
          </a:xfrm>
          <a:prstGeom prst="roundRect">
            <a:avLst>
              <a:gd name="adj" fmla="val 8955"/>
            </a:avLst>
          </a:prstGeom>
          <a:solidFill>
            <a:srgbClr val="06B6D4">
              <a:alpha val="10000"/>
            </a:srgbClr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85800" y="3238500"/>
            <a:ext cx="1123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微软雅黑"/>
                <a:ea typeface="微软雅黑"/>
              </a:rPr>
              <a:t>端到端可执行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85800" y="345757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10 </a:t>
            </a:r>
            <a:r>
              <a:rPr lang="zh-CN" sz="975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道问法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943100" y="3238500"/>
            <a:ext cx="439102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走完整条链路，判定是否产出可执行语句与结果集，不看措辞好不好。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533400" y="3876675"/>
            <a:ext cx="5953125" cy="771525"/>
          </a:xfrm>
          <a:prstGeom prst="roundRect">
            <a:avLst>
              <a:gd name="adj" fmla="val 7407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85800" y="4010025"/>
            <a:ext cx="1123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微软雅黑"/>
                <a:ea typeface="微软雅黑"/>
              </a:rPr>
              <a:t>守卫拦截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85800" y="4229100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8 </a:t>
            </a:r>
            <a:r>
              <a:rPr lang="zh-CN" sz="975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条诱导语句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943100" y="4010025"/>
            <a:ext cx="43910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把危险语句注入生成节点，模拟模型被诱导的情形，判定是否被校验环节拦下。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571500" y="4876800"/>
            <a:ext cx="5953125" cy="771525"/>
          </a:xfrm>
          <a:prstGeom prst="roundRect">
            <a:avLst>
              <a:gd name="adj" fmla="val 7407"/>
            </a:avLst>
          </a:prstGeom>
          <a:solidFill>
            <a:srgbClr val="0F172A">
              <a:alpha val="4000"/>
            </a:srgbClr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571500" y="4876800"/>
            <a:ext cx="5953125" cy="771525"/>
          </a:xfrm>
          <a:custGeom>
            <a:pathLst>
              <a:path w="625" h="81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79"/>
                </a:lnTo>
                <a:cubicBezTo>
                  <a:pt x="4" y="80"/>
                  <a:pt x="5" y="81"/>
                  <a:pt x="6" y="81"/>
                </a:cubicBezTo>
                <a:cubicBezTo>
                  <a:pt x="3" y="81"/>
                  <a:pt x="0" y="78"/>
                  <a:pt x="0" y="75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23900" y="5010150"/>
            <a:ext cx="56102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时间锚点固定为</a:t>
            </a:r>
            <a:r>
              <a:rPr lang="en-US" sz="1050">
                <a:solidFill>
                  <a:srgbClr val="0F172A"/>
                </a:solidFill>
                <a:latin typeface="微软雅黑"/>
                <a:ea typeface="微软雅黑"/>
              </a:rPr>
              <a:t> 2026-09-15</a:t>
            </a: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。相对时间词若随运行日期漂移，同一道题目的期望结果每天都会变，评测就失去意义。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829425" y="1104900"/>
            <a:ext cx="4867275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6829425" y="1104900"/>
            <a:ext cx="4867275" cy="838200"/>
          </a:xfrm>
          <a:custGeom>
            <a:pathLst>
              <a:path w="511" h="8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4"/>
                </a:lnTo>
                <a:cubicBezTo>
                  <a:pt x="4" y="86"/>
                  <a:pt x="5" y="88"/>
                  <a:pt x="7" y="88"/>
                </a:cubicBezTo>
                <a:cubicBezTo>
                  <a:pt x="3" y="88"/>
                  <a:pt x="0" y="84"/>
                  <a:pt x="0" y="8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000875" y="1181100"/>
            <a:ext cx="10287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3B82F6"/>
                </a:solidFill>
                <a:latin typeface="Consolas"/>
                <a:ea typeface="Consolas"/>
              </a:rPr>
              <a:t>32 / 32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181975" y="1295400"/>
            <a:ext cx="3305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微软雅黑"/>
                <a:ea typeface="微软雅黑"/>
              </a:rPr>
              <a:t>口径召回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181975" y="1533525"/>
            <a:ext cx="33051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指标</a:t>
            </a:r>
            <a:r>
              <a:rPr lang="en-US" sz="975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 30 · </a:t>
            </a:r>
            <a:r>
              <a:rPr lang="zh-CN" sz="975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维度</a:t>
            </a:r>
            <a:r>
              <a:rPr lang="en-US" sz="975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 29 · </a:t>
            </a:r>
            <a:r>
              <a:rPr lang="zh-CN" sz="975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时间</a:t>
            </a:r>
            <a:r>
              <a:rPr lang="en-US" sz="975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 24 · </a:t>
            </a:r>
            <a:r>
              <a:rPr lang="zh-CN" sz="975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空召</a:t>
            </a:r>
            <a:r>
              <a:rPr lang="en-US" sz="975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 2</a:t>
            </a:r>
            <a:r>
              <a:rPr lang="zh-CN" sz="975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，四项全中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6829425" y="2057400"/>
            <a:ext cx="4867275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6829425" y="2057400"/>
            <a:ext cx="4867275" cy="838200"/>
          </a:xfrm>
          <a:custGeom>
            <a:pathLst>
              <a:path w="511" h="8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4"/>
                </a:lnTo>
                <a:cubicBezTo>
                  <a:pt x="4" y="86"/>
                  <a:pt x="5" y="88"/>
                  <a:pt x="7" y="88"/>
                </a:cubicBezTo>
                <a:cubicBezTo>
                  <a:pt x="3" y="88"/>
                  <a:pt x="0" y="84"/>
                  <a:pt x="0" y="8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000875" y="2305050"/>
            <a:ext cx="10287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3B82F6"/>
                </a:solidFill>
                <a:latin typeface="Consolas"/>
                <a:ea typeface="Consolas"/>
              </a:rPr>
              <a:t>9 / 9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181975" y="2247900"/>
            <a:ext cx="3305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微软雅黑"/>
                <a:ea typeface="微软雅黑"/>
              </a:rPr>
              <a:t>端到端可执行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181975" y="2486025"/>
            <a:ext cx="33051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另有</a:t>
            </a:r>
            <a:r>
              <a:rPr lang="en-US" sz="975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 1 </a:t>
            </a:r>
            <a:r>
              <a:rPr lang="zh-CN" sz="975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条走不到取数链路，未计入分母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6829425" y="3009900"/>
            <a:ext cx="4867275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6829425" y="3009900"/>
            <a:ext cx="4867275" cy="838200"/>
          </a:xfrm>
          <a:custGeom>
            <a:pathLst>
              <a:path w="511" h="8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4"/>
                </a:lnTo>
                <a:cubicBezTo>
                  <a:pt x="4" y="86"/>
                  <a:pt x="5" y="88"/>
                  <a:pt x="7" y="88"/>
                </a:cubicBezTo>
                <a:cubicBezTo>
                  <a:pt x="3" y="88"/>
                  <a:pt x="0" y="84"/>
                  <a:pt x="0" y="8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000875" y="3257550"/>
            <a:ext cx="10287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3B82F6"/>
                </a:solidFill>
                <a:latin typeface="Consolas"/>
                <a:ea typeface="Consolas"/>
              </a:rPr>
              <a:t>8 / 8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181975" y="3200400"/>
            <a:ext cx="3305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微软雅黑"/>
                <a:ea typeface="微软雅黑"/>
              </a:rPr>
              <a:t>守卫拦截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181975" y="3438525"/>
            <a:ext cx="33051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诱导语句全部在校验环节被挡下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791325" y="3962400"/>
            <a:ext cx="4867275" cy="819150"/>
          </a:xfrm>
          <a:prstGeom prst="roundRect">
            <a:avLst>
              <a:gd name="adj" fmla="val 9302"/>
            </a:avLst>
          </a:prstGeom>
          <a:solidFill>
            <a:srgbClr val="0F172A">
              <a:alpha val="4000"/>
            </a:srgbClr>
          </a:solidFill>
          <a:ln w="12700">
            <a:solidFill>
              <a:srgbClr val="0F172A">
                <a:alpha val="3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962775" y="4181475"/>
            <a:ext cx="452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微软雅黑"/>
                <a:ea typeface="微软雅黑"/>
              </a:rPr>
              <a:t>真实模型下的端到端准确率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962775" y="4410075"/>
            <a:ext cx="452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待回填：需接入真实密钥后重跑</a:t>
            </a:r>
            <a:r>
              <a:rPr lang="en-US" sz="975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 pipeline </a:t>
            </a:r>
            <a:r>
              <a:rPr lang="zh-CN" sz="975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组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791325" y="4914900"/>
            <a:ext cx="48672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0F172A">
                    <a:alpha val="55000"/>
                  </a:srgbClr>
                </a:solidFill>
                <a:latin typeface="微软雅黑"/>
                <a:ea typeface="微软雅黑"/>
              </a:rPr>
              <a:t>上述三组数值取自</a:t>
            </a:r>
            <a:r>
              <a:rPr lang="en-US" sz="900">
                <a:solidFill>
                  <a:srgbClr val="0F172A">
                    <a:alpha val="55000"/>
                  </a:srgbClr>
                </a:solidFill>
                <a:latin typeface="微软雅黑"/>
                <a:ea typeface="微软雅黑"/>
              </a:rPr>
              <a:t> eval/report.json</a:t>
            </a:r>
            <a:r>
              <a:rPr lang="zh-CN" sz="900">
                <a:solidFill>
                  <a:srgbClr val="0F172A">
                    <a:alpha val="55000"/>
                  </a:srgbClr>
                </a:solidFill>
                <a:latin typeface="微软雅黑"/>
                <a:ea typeface="微软雅黑"/>
              </a:rPr>
              <a:t>，生成时间</a:t>
            </a:r>
            <a:r>
              <a:rPr lang="en-US" sz="900">
                <a:solidFill>
                  <a:srgbClr val="0F172A">
                    <a:alpha val="55000"/>
                  </a:srgbClr>
                </a:solidFill>
                <a:latin typeface="微软雅黑"/>
                <a:ea typeface="微软雅黑"/>
              </a:rPr>
              <a:t> 2026-09-15</a:t>
            </a:r>
            <a:r>
              <a:rPr lang="zh-CN" sz="900">
                <a:solidFill>
                  <a:srgbClr val="0F172A">
                    <a:alpha val="55000"/>
                  </a:srgbClr>
                </a:solidFill>
                <a:latin typeface="微软雅黑"/>
                <a:ea typeface="微软雅黑"/>
              </a:rPr>
              <a:t>。端到端组当前在桩实现下运行，语句来自预置模板，因此该组只反映链路可用性，不代表模型生成质量。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5334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1229975" y="64008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52" name="" descr="&lt;Slide style={{ background: '#FFFFFF', padding: '32px 56px 24px 56px' }}&gt;&#13;&#10;        &lt;Box style={{ height: 84, flexDirection: 'row', alignItems: 'center', gap: 16 }}&gt;&#13;&#10;        &lt;Box style={{ width: 6, height: 44, background: '#3B82F6' }} /&gt;&#13;&#10;        &lt;Text style={{ fontSize: 34, fontWeight: 'bold', color: '#0F172A', fontFamily: '微软雅黑' }}&gt;&#13;&#10;            人和 AI 各自负责什么&#13;&#10;        &lt;/Text&gt;&#13;&#10;    &lt;/Box&gt;&#13;&#10;&#13;&#10;        &lt;Box style={{ height: 548, flexDirection: 'row', gap: 32 }}&gt;&#13;&#10;                &lt;Box style={{ width: 330, flexDirection: 'column' }}&gt;&#13;&#10;            &lt;Text style={{ fontSize: 22, fontWeight: 'bold', color: '#0F172A', fontFamily: '微软雅黑' }}&gt;&#13;&#10;                分工的前提&#13;&#10;            &lt;/Text&gt;&#13;&#10;            &lt;Box style={{ height: 14 }} /&gt;&#13;&#10;            &lt;Text style={{ fontSize: 15, color: 'rgba(15,23,42,0.76)', lineHeight: 1.6, fontFamily: '微软雅黑' }}&gt;&#13;&#10;                AI 生成速度快，但不掌握业务口径，也不对结果负责。分工按两件事划分：谁掌握信息，谁承担后果。&#13;&#10;            &lt;/Text&gt;&#13;&#10;            &lt;Box style={{ height: 16 }} /&gt;&#13;&#10;            &lt;Box style={{&#13;&#10;                background: 'rgba(59,130,246,0.08)', borderLeft: '4px solid #3B82F6',&#13;&#10;                borderRadius: 6, padding: '16px 18px', flexDirection: 'column', gap: 8,&#13;&#10;            }}&gt;&#13;&#10;                &lt;Text style={{ fontSize: 16, fontWeight: 'bold', color: '#3B82F6', fontFamily: '微软雅黑' }}&gt;&#13;&#10;                    口径由人拍板&#13;&#10;                &lt;/Text&gt;&#13;&#10;                &lt;Text style={{ fontSize: 14, color: '#0F172A', lineHeight: 1.55, fontFamily: '微软雅黑' }}&gt;&#13;&#10;                    指标定义、排除范围、拦截策略这类决定写进配置，AI 负责按配置生成与校验，不自行补充。&#13;&#10;                &lt;/Text&gt;&#13;&#10;            &lt;/Box&gt;&#13;&#10;            &lt;Box style={{ height: 14 }} /&gt;&#13;&#10;            &lt;Text style={{ fontSize: 14, color: 'rgba(15,23,42,0.66)', lineHeight: 1.6, fontFamily: '微软雅黑' }}&gt;&#13;&#10;                交付物中的数值均来自可复现的脚本输出，不采用估算与印象值。&#13;&#10;            &lt;/Text&gt;&#13;&#10;        &lt;/Box&gt;&#13;&#10;&#13;&#10;                &lt;Box style={{ width: 806, flexDirection: 'column' }}&gt;&#13;&#10;            &lt;Table&#13;&#10;                style={{ width: '100%', height: 330 }}&#13;&#10;                defaultTextStyle={{ fontSize: 13, textAlign: 'left', fontFamily: '微软雅黑', color: '#0F172A' }}&#13;&#10;                defaultCellStyle={{&#13;&#10;                    padding: 9,&#13;&#10;                    border: {&#13;&#10;                        left: { width: 1, color: 'rgba(15,23,42,0.12)' },&#13;&#10;                        right: { width: 1, color: 'rgba(15,23,42,0.12)' },&#13;&#10;                        top: { width: 1, color: 'rgba(15,23,42,0.12)' },&#13;&#10;                        bottom: { width: 1, color: 'rgba(15,23,42,0.12)' },&#13;&#10;                    },&#13;&#10;                }}&#13;&#10;                cells={[&#13;&#10;                    [&#13;&#10;                        { text: '阶段', textStyle: { bold: true, color: '#FFFFFF', fontSize: 14 }, cellStyle: { background: { color: '#06B6D4' } } },&#13;&#10;                        { text: '人负责', textStyle: { bold: true, color: '#FFFFFF', fontSize: 14 }, cellStyle: { background: { color: '#06B6D4' } } },&#13;&#10;                        { text: 'AI 负责', textStyle: { bold: true, color: '#FFFFFF', fontSize: 14 }, cellStyle: { background: { color: '#06B6D4' } } },&#13;&#10;                    ],&#13;&#10;                    [&#13;&#10;                        { text: '需求界定', textStyle: { bold: true } },&#13;&#10;                        '定范围、定验收标准',&#13;&#10;                        '提供候选方案与遗漏项提示',&#13;&#10;                    ],&#13;&#10;                    [&#13;&#10;                        { text: '架构与约束', textStyle: { bold: true }, cellStyle: { background: { color: 'rgba(15,23,42,0.04)' } } },&#13;&#10;                        { text: '拍板分层硬约束与技术取舍', cellStyle: { background: { color: 'rgba(15,23,42,0.04)' } } },&#13;&#10;                        { text: '给出候选结构与代价分析', cellStyle: { background: { color: 'rgba(15,23,42,0.04)' } } },&#13;&#10;                    ],&#13;&#10;                    [&#13;&#10;                        { text: '语义层与守卫', textStyle: { bold: true } },&#13;&#10;                        '确认口径、排除范围与拦截策略',&#13;&#10;                        '生成配置初稿与逐条对应用例',&#13;&#10;                    ],&#13;&#10;                    [&#13;&#10;                        { text: '用例与评测', textStyle: { bold: true }, cellStyle: { background: { color: 'rgba(15,23,42,0.04)' } } },&#13;&#10;                        { text: '定义判据与每道题的期望值', cellStyle: { background: { color: 'rgba(15,23,42,0.04)' } } },&#13;&#10;                        { text: '批量产出题目并跑回归', cellStyle: { background: { color: 'rgba(15,23,42,0.04)' } } },&#13;&#10;                    ],&#13;&#10;                    [&#13;&#10;                        { text: '文档与交付', textStyle: { bold: true } },&#13;&#10;                        '定结构与措辞口径',&#13;&#10;                        '起草初稿与跨文档一致性检查',&#13;&#10;                    ],&#13;&#10;                ]}&#13;&#10;            /&gt;&#13;&#10;&#13;&#10;            &lt;Box style={{ height: 18 }} /&gt;&#13;&#10;            &lt;Text style={{ fontSize: 18, fontWeight: 'bold', color: '#0F172A', fontFamily: '微软雅黑' }}&gt;&#13;&#10;                三条经验，各有出处&#13;&#10;            &lt;/Text&gt;&#13;&#10;            &lt;Box style={{ height: 12 }} /&gt;&#13;&#10;            &lt;Box style={{ flexDirection: 'row', gap: 16 }}&gt;&#13;&#10;                {[&#13;&#10;                    ['先定约束再写代码', '三条分层硬约束动手前写死，返工集中在配置而非代码结构。'],&#13;&#10;                    ['中间数值逐条核对', '评测报告按题列出命中项，四类召回缺陷由此定位。'],&#13;&#10;                    ['报错原样回传', '数据库原始报错交给模型修正，效果优于让它自查。'],&#13;&#10;                ].map((row, i) =&gt; (&#13;&#10;                    &lt;Box key={i} style={{&#13;&#10;                        flex: 1, background: 'rgba(59,130,246,0.08)', borderRadius: 8,&#13;&#10;                        padding: '14px 16px', flexDirection: 'column', gap: 7,&#13;&#10;                        borderTop: '3px solid #3B82F6',&#13;&#10;                    }}&gt;&#13;&#10;                        &lt;Text style={{ fontSize: 15, fontWeight: 'bold', color: '#0F172A', fontFamily: '微软雅黑' }}&gt;&#13;&#10;                            {row[0]}&#13;&#10;                        &lt;/Text&gt;&#13;&#10;                        &lt;Text style={{ fontSize: 13, color: 'rgba(15,23,42,0.74)', lineHeight: 1.5, fontFamily: '微软雅黑' }}&gt;&#13;&#10;                            {row[1]}&#13;&#10;                        &lt;/Text&gt;&#13;&#10;                    &lt;/Box&gt;&#13;&#10;                ))}&#13;&#10;            &lt;/Box&gt;&#13;&#10;        &lt;/Box&gt;&#13;&#10;    &lt;/Box&gt;&#13;&#10;&#13;&#10;        &lt;Box style={{ height: 32, flexDirection: 'row', alignItems: 'center', justifyContent: 'space-between' }}&gt;&#13;&#10;        &lt;Text style={{ fontSize: 14, color: 'rgba(15,23,42,0.60)', fontFamily: '微软雅黑' }}&gt;&#13;&#10;            Text2SQL 电商数据分析 Agent&#13;&#10;        &lt;/Text&gt;&#13;&#10;        &lt;Text style={{ fontSize: 14, color: 'rgba(15,23,42,0.60)', fontFamily: '微软雅黑' }}&gt;11 / 12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533400" y="495300"/>
            <a:ext cx="57150" cy="4191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42950" y="514350"/>
            <a:ext cx="3162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/>
                <a:ea typeface="微软雅黑"/>
              </a:rPr>
              <a:t>人和</a:t>
            </a:r>
            <a:r>
              <a:rPr lang="en-US" sz="2550" b="1">
                <a:solidFill>
                  <a:srgbClr val="0F172A"/>
                </a:solidFill>
                <a:latin typeface="微软雅黑"/>
                <a:ea typeface="微软雅黑"/>
              </a:rPr>
              <a:t> AI </a:t>
            </a:r>
            <a:r>
              <a:rPr lang="zh-CN" sz="2550" b="1">
                <a:solidFill>
                  <a:srgbClr val="0F172A"/>
                </a:solidFill>
                <a:latin typeface="微软雅黑"/>
                <a:ea typeface="微软雅黑"/>
              </a:rPr>
              <a:t>各自负责什么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533400" y="1104900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微软雅黑"/>
                <a:ea typeface="微软雅黑"/>
              </a:rPr>
              <a:t>分工的前提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33400" y="1495425"/>
            <a:ext cx="31432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0F172A">
                    <a:alpha val="76000"/>
                  </a:srgbClr>
                </a:solidFill>
                <a:latin typeface="微软雅黑"/>
                <a:ea typeface="微软雅黑"/>
              </a:rPr>
              <a:t>AI </a:t>
            </a:r>
            <a:r>
              <a:rPr lang="zh-CN" sz="1125">
                <a:solidFill>
                  <a:srgbClr val="0F172A">
                    <a:alpha val="76000"/>
                  </a:srgbClr>
                </a:solidFill>
                <a:latin typeface="微软雅黑"/>
                <a:ea typeface="微软雅黑"/>
              </a:rPr>
              <a:t>生成速度快，但不掌握业务口径，也不对结果负责。分工按两件事划分：谁掌握信息，谁承担后果。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571500" y="2476500"/>
            <a:ext cx="3143250" cy="1323975"/>
          </a:xfrm>
          <a:prstGeom prst="roundRect">
            <a:avLst>
              <a:gd name="adj" fmla="val 4317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571500" y="2476500"/>
            <a:ext cx="3143250" cy="1323975"/>
          </a:xfrm>
          <a:custGeom>
            <a:pathLst>
              <a:path w="330" h="139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37"/>
                </a:lnTo>
                <a:cubicBezTo>
                  <a:pt x="4" y="138"/>
                  <a:pt x="5" y="139"/>
                  <a:pt x="6" y="139"/>
                </a:cubicBezTo>
                <a:cubicBezTo>
                  <a:pt x="3" y="139"/>
                  <a:pt x="0" y="136"/>
                  <a:pt x="0" y="133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742950" y="2628900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B82F6"/>
                </a:solidFill>
                <a:latin typeface="微软雅黑"/>
                <a:ea typeface="微软雅黑"/>
              </a:rPr>
              <a:t>口径由人拍板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742950" y="2895600"/>
            <a:ext cx="276225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指标定义、排除范围、拦截策略这类决定写进配置，</a:t>
            </a:r>
            <a:r>
              <a:rPr lang="en-US" sz="1050">
                <a:solidFill>
                  <a:srgbClr val="0F172A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0F172A"/>
                </a:solidFill>
                <a:latin typeface="微软雅黑"/>
                <a:ea typeface="微软雅黑"/>
              </a:rPr>
              <a:t>负责按配置生成与校验，不自行补充。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533400" y="3933825"/>
            <a:ext cx="31432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0F172A">
                    <a:alpha val="66000"/>
                  </a:srgbClr>
                </a:solidFill>
                <a:latin typeface="微软雅黑"/>
                <a:ea typeface="微软雅黑"/>
              </a:rPr>
              <a:t>交付物中的数值均来自可复现的脚本输出，不采用估算与印象值。</a:t>
            </a:r>
            <a:endParaRPr/>
          </a:p>
        </p:txBody>
      </p:sp>
      <p:graphicFrame>
        <p:nvGraphicFramePr>
          <p:cNvPr id="63" name=""/>
          <p:cNvGraphicFramePr/>
          <p:nvPr/>
        </p:nvGraphicFramePr>
        <p:xfrm rot="0" flipH="0" flipV="0">
          <a:off x="3981450" y="1104900"/>
          <a:ext cx="7677150" cy="3143250"/>
        </p:xfrm>
        <a:graphic>
          <a:graphicData uri="http://schemas.openxmlformats.org/drawingml/2006/table">
            <a:tbl>
              <a:tblGrid>
                <a:gridCol w="1469022">
                  <a:extLst>
                    <a:ext uri="{9D8B030D-6E8A-4147-A177-3AD203B41FA5}">
                      <a16:colId val="1"/>
                    </a:ext>
                  </a:extLst>
                </a:gridCol>
                <a:gridCol w="3213067">
                  <a:extLst>
                    <a:ext uri="{9D8B030D-6E8A-4147-A177-3AD203B41FA5}">
                      <a16:colId val="2"/>
                    </a:ext>
                  </a:extLst>
                </a:gridCol>
                <a:gridCol w="2995061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5405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人负责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AI 负责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178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需求界定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定范围、定验收标准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提供候选方案与遗漏项提示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178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架构与约束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拍板分层硬约束与技术取舍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给出候选结构与代价分析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178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语义层与守卫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确认口径、排除范围与拦截策略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生成配置初稿与逐条对应用例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178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用例与评测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定义判据与每道题的期望值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批量产出题目并跑回归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178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文档与交付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定结构与措辞口径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</a:rPr>
                        <a:t>起草初稿与跨文档一致性检查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3981450" y="4419600"/>
            <a:ext cx="7677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微软雅黑"/>
                <a:ea typeface="微软雅黑"/>
              </a:rPr>
              <a:t>三条经验，各有出处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3981450" y="4772025"/>
            <a:ext cx="2457450" cy="981075"/>
          </a:xfrm>
          <a:prstGeom prst="roundRect">
            <a:avLst>
              <a:gd name="adj" fmla="val 7767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3981450" y="4772025"/>
            <a:ext cx="2457450" cy="981075"/>
          </a:xfrm>
          <a:custGeom>
            <a:pathLst>
              <a:path w="258" h="103">
                <a:moveTo>
                  <a:pt x="250" y="0"/>
                </a:moveTo>
                <a:cubicBezTo>
                  <a:pt x="254" y="0"/>
                  <a:pt x="257" y="3"/>
                  <a:pt x="258" y="7"/>
                </a:cubicBezTo>
                <a:cubicBezTo>
                  <a:pt x="257" y="4"/>
                  <a:pt x="255" y="3"/>
                  <a:pt x="253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50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4133850" y="4905375"/>
            <a:ext cx="2152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微软雅黑"/>
                <a:ea typeface="微软雅黑"/>
              </a:rPr>
              <a:t>先定约束再写代码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133850" y="5143500"/>
            <a:ext cx="21526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0F172A">
                    <a:alpha val="74000"/>
                  </a:srgbClr>
                </a:solidFill>
                <a:latin typeface="微软雅黑"/>
                <a:ea typeface="微软雅黑"/>
              </a:rPr>
              <a:t>三条分层硬约束动手前写死，返工集中在配置而非代码结构。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591300" y="4772025"/>
            <a:ext cx="2457450" cy="981075"/>
          </a:xfrm>
          <a:prstGeom prst="roundRect">
            <a:avLst>
              <a:gd name="adj" fmla="val 7767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591300" y="4772025"/>
            <a:ext cx="2457450" cy="981075"/>
          </a:xfrm>
          <a:custGeom>
            <a:pathLst>
              <a:path w="258" h="103">
                <a:moveTo>
                  <a:pt x="250" y="0"/>
                </a:moveTo>
                <a:cubicBezTo>
                  <a:pt x="254" y="0"/>
                  <a:pt x="257" y="3"/>
                  <a:pt x="258" y="7"/>
                </a:cubicBezTo>
                <a:cubicBezTo>
                  <a:pt x="257" y="4"/>
                  <a:pt x="255" y="3"/>
                  <a:pt x="253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50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743700" y="4905375"/>
            <a:ext cx="2152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微软雅黑"/>
                <a:ea typeface="微软雅黑"/>
              </a:rPr>
              <a:t>中间数值逐条核对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743700" y="5143500"/>
            <a:ext cx="21526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0F172A">
                    <a:alpha val="74000"/>
                  </a:srgbClr>
                </a:solidFill>
                <a:latin typeface="微软雅黑"/>
                <a:ea typeface="微软雅黑"/>
              </a:rPr>
              <a:t>评测报告按题列出命中项，四类召回缺陷由此定位。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9201150" y="4772025"/>
            <a:ext cx="2457450" cy="981075"/>
          </a:xfrm>
          <a:prstGeom prst="roundRect">
            <a:avLst>
              <a:gd name="adj" fmla="val 7767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9201150" y="4772025"/>
            <a:ext cx="2457450" cy="981075"/>
          </a:xfrm>
          <a:custGeom>
            <a:pathLst>
              <a:path w="258" h="103">
                <a:moveTo>
                  <a:pt x="250" y="0"/>
                </a:moveTo>
                <a:cubicBezTo>
                  <a:pt x="254" y="0"/>
                  <a:pt x="257" y="3"/>
                  <a:pt x="258" y="7"/>
                </a:cubicBezTo>
                <a:cubicBezTo>
                  <a:pt x="257" y="4"/>
                  <a:pt x="255" y="3"/>
                  <a:pt x="253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50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9353550" y="4905375"/>
            <a:ext cx="2152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微软雅黑"/>
                <a:ea typeface="微软雅黑"/>
              </a:rPr>
              <a:t>报错原样回传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9353550" y="5143500"/>
            <a:ext cx="21526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0F172A">
                    <a:alpha val="74000"/>
                  </a:srgbClr>
                </a:solidFill>
                <a:latin typeface="微软雅黑"/>
                <a:ea typeface="微软雅黑"/>
              </a:rPr>
              <a:t>数据库原始报错交给模型修正，效果优于让它自查。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334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1229975" y="64008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60000"/>
                  </a:srgbClr>
                </a:solidFill>
                <a:latin typeface="微软雅黑"/>
                <a:ea typeface="微软雅黑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9" name="" descr="&lt;Slide style={{&#13;&#10;    background: 'linear-gradient(135deg, #0F172A 0%, #1E3A8A 100%)',&#13;&#10;    padding: '56px 56px 40px 56px',&#13;&#10;}}&gt;&#13;&#10;    &lt;Box style={{ height: '100%', flexDirection: 'column' }}&gt;&#13;&#10;                &lt;Box style={{ height: 100, flexDirection: 'column', gap: 10 }}&gt;&#13;&#10;            &lt;Text style={{ fontSize: 40, fontWeight: 'bold', color: '#FFFFFF', fontFamily: '微软雅黑' }}&gt;&#13;&#10;                做了什么，下一步做什么&#13;&#10;            &lt;/Text&gt;&#13;&#10;            &lt;Text style={{ fontSize: 16, color: 'rgba(255,255,255,0.70)', fontFamily: '微软雅黑' }}&gt;&#13;&#10;                边界写清楚，比成果列得更长更有说服力&#13;&#10;            &lt;/Text&gt;&#13;&#10;        &lt;/Box&gt;&#13;&#10;&#13;&#10;        &lt;Box style={{ height: 28 }} /&gt;&#13;&#10;&#13;&#10;                &lt;Box style={{ flexDirection: 'row', gap: 24, flex: 1 }}&gt;&#13;&#10;            {[&#13;&#10;                [&#13;&#10;                    '已实现',&#13;&#10;                    '#3B82F6',&#13;&#10;                    [&#13;&#10;                        '六层模块化单体，单进程部署，不引入容器与消息队列',&#13;&#10;                        '八个业务节点链路，含修正回环与三条终态',&#13;&#10;                        '语义层：7 个指标、6 张业务表、9 个维度',&#13;&#10;                        '守卫九条规则，逐条有对应的测试覆盖',&#13;&#10;                        '15 个 HTTP 接口，含流式对话与语义层调试接口',&#13;&#10;                        '评测三组判据，一条命令重跑并输出报告',&#13;&#10;                    ],&#13;&#10;                ],&#13;&#10;                [&#13;&#10;                    '明确不做',&#13;&#10;                    '#06B6D4',&#13;&#10;                    [&#13;&#10;                        '向量检索：登记表数量少，规则匹配已经够用',&#13;&#10;                        '用户体系与鉴权：单机演示场景，无多角色需求',&#13;&#10;                        '容器化部署：本地按说明即可启动',&#13;&#10;                        '多租户与读写分离：没有对应的业务前提',&#13;&#10;                    ],&#13;&#10;                ],&#13;&#10;                [&#13;&#10;                    '后续演进',&#13;&#10;                    '#06B6D4',&#13;&#10;                    [&#13;&#10;                        '换 PostgreSQL：单表超过 500 万行，或出现并发写入需求时',&#13;&#10;                        '语义层改嵌入召回：登记表超过 30 张，规则匹配维护成本上升时',&#13;&#10;                        '跨会话长期记忆：需要跨重启保留上下文时，检查点改 SQLite 实现',&#13;&#10;                    ],&#13;&#10;                ],&#13;&#10;            ].map((col, ci) =&gt; (&#13;&#10;                &lt;Box key={ci} style={{&#13;&#10;                    flex: 1,&#13;&#10;                    background: 'rgba(255,255,255,0.07)',&#13;&#10;                    border: '1px solid rgba(255,255,255,0.16)',&#13;&#10;                    borderRadius: 10,&#13;&#10;                    padding: '20px 20px',&#13;&#10;                    flexDirection: 'column',&#13;&#10;                }}&gt;&#13;&#10;                    &lt;Box style={{ flexDirection: 'row', alignItems: 'center', gap: 10 }}&gt;&#13;&#10;                        &lt;Box style={{ width: 5, height: 22, background: col[1] }} /&gt;&#13;&#10;                        &lt;Text style={{ fontSize: 22, fontWeight: 'bold', color: '#FFFFFF', fontFamily: '微软雅黑' }}&gt;&#13;&#10;                            {col[0]}&#13;&#10;                        &lt;/Text&gt;&#13;&#10;                    &lt;/Box&gt;&#13;&#10;                    &lt;Box style={{ height: 16 }} /&gt;&#13;&#10;                    {col[2].map((item, i) =&gt; (&#13;&#10;                        &lt;Box key={i} style={{ flexDirection: 'row', gap: 10, marginBottom: 12 }}&gt;&#13;&#10;                            &lt;Box style={{&#13;&#10;                                width: 6, height: 6, borderRadius: 3,&#13;&#10;                                background: col[1], marginTop: 6,&#13;&#10;                            }} /&gt;&#13;&#10;                            &lt;Text style={{&#13;&#10;                                fontSize: 13.5, color: 'rgba(255,255,255,0.86)',&#13;&#10;                                lineHeight: 1.5, flex: 1, fontFamily: '微软雅黑',&#13;&#10;                            }}&gt;&#13;&#10;                                {item}&#13;&#10;                            &lt;/Text&gt;&#13;&#10;                        &lt;/Box&gt;&#13;&#10;                    ))}&#13;&#10;                &lt;/Box&gt;&#13;&#10;            ))}&#13;&#10;        &lt;/Box&gt;&#13;&#10;&#13;&#10;        &lt;Box style={{ height: 20 }} /&gt;&#13;&#10;        &lt;Box style={{ flexDirection: 'row', alignItems: 'center', justifyContent: 'space-between' }}&gt;&#13;&#10;            &lt;Text style={{ fontSize: 14, color: 'rgba(255,255,255,0.60)', fontFamily: '微软雅黑' }}&gt;&#13;&#10;                Text2SQL 电商数据分析 Agent&#13;&#10;            &lt;/Text&gt;&#13;&#10;            &lt;Text style={{ fontSize: 14, color: 'rgba(255,255,255,0.60)', fontFamily: '微软雅黑' }}&gt;12 / 12&lt;/Text&gt;&#13;&#10;        &lt;/Box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3A8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33400" y="533400"/>
            <a:ext cx="111252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FFFFF"/>
                </a:solidFill>
                <a:latin typeface="微软雅黑"/>
                <a:ea typeface="微软雅黑"/>
              </a:rPr>
              <a:t>做了什么，下一步做什么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33400" y="1085850"/>
            <a:ext cx="1112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边界写清楚，比成果列得更长更有说服力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533400" y="1752600"/>
            <a:ext cx="3552825" cy="4371975"/>
          </a:xfrm>
          <a:prstGeom prst="roundRect">
            <a:avLst>
              <a:gd name="adj" fmla="val 268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4" name=""/>
          <p:cNvSpPr/>
          <p:nvPr/>
        </p:nvSpPr>
        <p:spPr>
          <a:xfrm rot="0" flipH="0" flipV="0">
            <a:off x="723900" y="1971675"/>
            <a:ext cx="47625" cy="2095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66775" y="1943100"/>
            <a:ext cx="628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微软雅黑"/>
                <a:ea typeface="微软雅黑"/>
              </a:rPr>
              <a:t>已实现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723900" y="24098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76300" y="2352675"/>
            <a:ext cx="301942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六层模块化单体，单进程部署，不引入容器与消息队列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723900" y="29908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76300" y="2933700"/>
            <a:ext cx="30194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八个业务节点链路，含修正回环与三条终态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723900" y="33432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76300" y="3286125"/>
            <a:ext cx="30194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语义层：</a:t>
            </a:r>
            <a:r>
              <a:rPr lang="en-US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7 </a:t>
            </a:r>
            <a:r>
              <a:rPr lang="zh-CN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个指标、</a:t>
            </a:r>
            <a:r>
              <a:rPr lang="en-US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6 </a:t>
            </a:r>
            <a:r>
              <a:rPr lang="zh-CN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张业务表、</a:t>
            </a:r>
            <a:r>
              <a:rPr lang="en-US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9 </a:t>
            </a:r>
            <a:r>
              <a:rPr lang="zh-CN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个维度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723900" y="36957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76300" y="3638550"/>
            <a:ext cx="30194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守卫九条规则，逐条有对应的测试覆盖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723900" y="40481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76300" y="3990975"/>
            <a:ext cx="30194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15 </a:t>
            </a:r>
            <a:r>
              <a:rPr lang="zh-CN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个</a:t>
            </a:r>
            <a:r>
              <a:rPr lang="en-US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 HTTP </a:t>
            </a:r>
            <a:r>
              <a:rPr lang="zh-CN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接口，含流式对话与语义层调试接口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723900" y="44005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76300" y="4343400"/>
            <a:ext cx="30194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评测三组判据，一条命令重跑并输出报告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4314825" y="1752600"/>
            <a:ext cx="3562350" cy="4371975"/>
          </a:xfrm>
          <a:prstGeom prst="roundRect">
            <a:avLst>
              <a:gd name="adj" fmla="val 267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4505325" y="1971675"/>
            <a:ext cx="47625" cy="2095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4648200" y="194310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微软雅黑"/>
                <a:ea typeface="微软雅黑"/>
              </a:rPr>
              <a:t>明确不做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4505325" y="24098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4657725" y="2352675"/>
            <a:ext cx="30289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向量检索：登记表数量少，规则匹配已经够用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4505325" y="2762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657725" y="2705100"/>
            <a:ext cx="30289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用户体系与鉴权：单机演示场景，无多角色需求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4505325" y="31146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4657725" y="3057525"/>
            <a:ext cx="30289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容器化部署：本地按说明即可启动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4505325" y="34671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657725" y="3409950"/>
            <a:ext cx="30289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多租户与读写分离：没有对应的业务前提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8105775" y="1752600"/>
            <a:ext cx="3552825" cy="4371975"/>
          </a:xfrm>
          <a:prstGeom prst="roundRect">
            <a:avLst>
              <a:gd name="adj" fmla="val 268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8296275" y="1971675"/>
            <a:ext cx="47625" cy="2095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439150" y="194310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微软雅黑"/>
                <a:ea typeface="微软雅黑"/>
              </a:rPr>
              <a:t>后续演进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8296275" y="24098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448675" y="2352675"/>
            <a:ext cx="301942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换</a:t>
            </a:r>
            <a:r>
              <a:rPr lang="en-US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 PostgreSQL</a:t>
            </a:r>
            <a:r>
              <a:rPr lang="zh-CN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：单表超过</a:t>
            </a:r>
            <a:r>
              <a:rPr lang="en-US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 500 </a:t>
            </a:r>
            <a:r>
              <a:rPr lang="zh-CN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万行，或出现并发写入需求时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8296275" y="29908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448675" y="2933700"/>
            <a:ext cx="301942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语义层改嵌入召回：登记表超过</a:t>
            </a:r>
            <a:r>
              <a:rPr lang="en-US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 30 </a:t>
            </a:r>
            <a:r>
              <a:rPr lang="zh-CN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张，规则匹配维护成本上升时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8296275" y="3571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448675" y="3514725"/>
            <a:ext cx="301942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跨会话长期记忆：需要跨重启保留上下文时，检查点改</a:t>
            </a:r>
            <a:r>
              <a:rPr lang="en-US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 SQLite </a:t>
            </a:r>
            <a:r>
              <a:rPr lang="zh-CN" sz="1013">
                <a:solidFill>
                  <a:srgbClr val="FFFFFF">
                    <a:alpha val="86000"/>
                  </a:srgbClr>
                </a:solidFill>
                <a:latin typeface="微软雅黑"/>
                <a:ea typeface="微软雅黑"/>
              </a:rPr>
              <a:t>实现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33400" y="6315075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Text2SQL </a:t>
            </a:r>
            <a:r>
              <a:rPr lang="zh-CN" sz="1050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电商数据分析</a:t>
            </a:r>
            <a:r>
              <a:rPr lang="en-US" sz="1050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 Agent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1229975" y="6315075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12 / 12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2026-09-15T17:18:28Z</dcterms:created>
  <dcterms:modified xsi:type="dcterms:W3CDTF">2026-09-15T17:18:28Z</dcterms:modified>
</cp:coreProperties>
</file>