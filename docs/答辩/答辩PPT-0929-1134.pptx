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image" Target="../media/image4.png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1" Type="http://schemas.openxmlformats.org/officeDocument/2006/relationships/slideLayout" Target="../slideLayouts/slideLayout1.xml"/><Relationship Id="rId30" Type="http://schemas.openxmlformats.org/officeDocument/2006/relationships/tags" Target="../tags/tag48.xml"/><Relationship Id="rId3" Type="http://schemas.openxmlformats.org/officeDocument/2006/relationships/image" Target="../media/image3.png"/><Relationship Id="rId29" Type="http://schemas.openxmlformats.org/officeDocument/2006/relationships/tags" Target="../tags/tag47.xml"/><Relationship Id="rId28" Type="http://schemas.openxmlformats.org/officeDocument/2006/relationships/image" Target="../media/image2.png"/><Relationship Id="rId27" Type="http://schemas.openxmlformats.org/officeDocument/2006/relationships/tags" Target="../tags/tag46.xml"/><Relationship Id="rId26" Type="http://schemas.openxmlformats.org/officeDocument/2006/relationships/tags" Target="../tags/tag45.xml"/><Relationship Id="rId25" Type="http://schemas.openxmlformats.org/officeDocument/2006/relationships/tags" Target="../tags/tag44.xml"/><Relationship Id="rId24" Type="http://schemas.openxmlformats.org/officeDocument/2006/relationships/tags" Target="../tags/tag43.xml"/><Relationship Id="rId23" Type="http://schemas.openxmlformats.org/officeDocument/2006/relationships/image" Target="../media/image6.png"/><Relationship Id="rId22" Type="http://schemas.openxmlformats.org/officeDocument/2006/relationships/tags" Target="../tags/tag42.xml"/><Relationship Id="rId21" Type="http://schemas.openxmlformats.org/officeDocument/2006/relationships/tags" Target="../tags/tag41.xml"/><Relationship Id="rId20" Type="http://schemas.openxmlformats.org/officeDocument/2006/relationships/tags" Target="../tags/tag40.xml"/><Relationship Id="rId2" Type="http://schemas.openxmlformats.org/officeDocument/2006/relationships/tags" Target="../tags/tag26.xml"/><Relationship Id="rId19" Type="http://schemas.openxmlformats.org/officeDocument/2006/relationships/tags" Target="../tags/tag39.xml"/><Relationship Id="rId18" Type="http://schemas.openxmlformats.org/officeDocument/2006/relationships/image" Target="../media/image5.png"/><Relationship Id="rId17" Type="http://schemas.openxmlformats.org/officeDocument/2006/relationships/tags" Target="../tags/tag38.xml"/><Relationship Id="rId16" Type="http://schemas.openxmlformats.org/officeDocument/2006/relationships/tags" Target="../tags/tag37.xml"/><Relationship Id="rId15" Type="http://schemas.openxmlformats.org/officeDocument/2006/relationships/tags" Target="../tags/tag36.xml"/><Relationship Id="rId14" Type="http://schemas.openxmlformats.org/officeDocument/2006/relationships/tags" Target="../tags/tag35.xml"/><Relationship Id="rId13" Type="http://schemas.openxmlformats.org/officeDocument/2006/relationships/image" Target="../media/image1.png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tags" Target="../tags/tag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background: '#FFFFFF', padding: 0, flexDirection: 'column' }}&gt;&#13;&#10;    {/* 深蓝顶条 A1 */}&#13;&#10;    &lt;Box style={{&#13;&#10;        width: '100%', height: 96, background: '#0E3F8C',&#13;&#10;        flexDirection: 'row', alignItems: 'center', justifyContent: 'space-between',&#13;&#10;        padding: '0 48px',&#13;&#10;    }}&gt;&#13;&#10;        &lt;Text style={{ fontSize: 16, color: 'rgba(255,255,255,0.82)', fontFamily: '微软雅黑', letterSpacing: 1 }}&gt;&#13;&#10;            &#13;&#10;        &lt;/Text&gt;&#13;&#10;        &lt;Text style={{ fontSize: 16, color: 'rgba(255,255,255,0.82)', fontFamily: '微软雅黑', letterSpacing: 1 }}&gt;&#13;&#10;            &#13;&#10;        &lt;/Text&gt;&#13;&#10;    &lt;/Box&gt;&#13;&#10;&#13;&#10;    {/* 主标题区 */}&#13;&#10;    &lt;Box style={{&#13;&#10;        flex: 1, flexDirection: 'column', justifyContent: 'center',&#13;&#10;        padding: '0 96px', gap: 22,&#13;&#10;    }}&gt;&#13;&#10;        &lt;Box style={{ width: 72, height: 5, background: '#1E4FA8' }} /&gt;&#13;&#10;        &lt;Text style={{ fontSize: 60, fontWeight: 'bold', color: '#0E3F8C', lineHeight: 1.18, fontFamily: '微软雅黑' }}&gt;&#13;&#10;            基于 Text2SQL 的&lt;br /&gt;电商数据分析 Agent&#13;&#10;        &lt;/Text&gt;&#13;&#10;        &lt;Text style={{ fontSize: 48, color: '#3D7BD9', lineHeight: 1.15, fontFamily: 'Times New Roman' }}&gt;&#13;&#10;            A Trustworthy Text-to-SQL Analytics Agent&#13;&#10;        &lt;/Text&gt;&#13;&#10;        &lt;Box style={{ width: 1080, height: 1, background: '#D6DCE5', marginTop: 6 }} /&gt;&#13;&#10;        &lt;Text style={{ fontSize: 26, color: '#4A5568', fontFamily: '微软雅黑', letterSpacing: 2 }}&gt;&#13;&#10;            口径集中配置 · 执行前校验 · 结果可追溯&#13;&#10;        &lt;/Text&gt;&#13;&#10;    &lt;/Box&gt;&#13;&#10;&#13;&#10;    {/* 底部信息条 */}&#13;&#10;    &lt;Box style={{&#13;&#10;        width: '100%', height: 104, background: '#F0F5FC',&#13;&#10;        border: { top: { width: 1, color: '#D6DCE5' } },&#13;&#10;        flexDirection: 'row', alignItems: 'center', justifyContent: 'space-between',&#13;&#10;        padding: '0 96px',&#13;&#10;    }}&gt;&#13;&#10;        &lt;Box style={{ flexDirection: 'column', gap: 4 }}&gt;&#13;&#10;            &lt;Text style={{ fontSize: 14, color: '#8B97A8', fontFamily: '微软雅黑' }}&gt;答辩人&lt;/Text&gt;&#13;&#10;            &lt;Text style={{ fontSize: 20, fontWeight: 'bold', color: '#1A2230', fontFamily: '微软雅黑' }}&gt;李金盛&lt;/Text&gt;&#13;&#10;        &lt;/Box&gt;&#13;&#10;        &lt;Box style={{ flexDirection: 'column', gap: 4 }}&gt;&#13;&#10;            &lt;Text style={{ fontSize: 14, color: '#8B97A8', fontFamily: '微软雅黑' }}&gt;学号&lt;/Text&gt;&#13;&#10;            &lt;Text style={{ fontSize: 20, color: '#1A2230', fontFamily: '微软雅黑' }}&gt;2021000000&lt;/Text&gt;&#13;&#10;        &lt;/Box&gt;&#13;&#10;        &lt;Box style={{ flexDirection: 'column', gap: 4 }}&gt;&#13;&#10;            &lt;Text style={{ fontSize: 14, color: '#8B97A8', fontFamily: '微软雅黑' }}&gt;专业&lt;/Text&gt;&#13;&#10;            &lt;Text style={{ fontSize: 20, color: '#1A2230', fontFamily: '微软雅黑' }}&gt;计算机科学与技术&lt;/Text&gt;&#13;&#10;        &lt;/Box&gt;&#13;&#10;        &lt;Box style={{ flexDirection: 'column', gap: 4 }}&gt;&#13;&#10;            &lt;Text style={{ fontSize: 14, color: '#8B97A8', fontFamily: '微软雅黑' }}&gt;指导老师&lt;/Text&gt;&#13;&#10;            &lt;Text style={{ fontSize: 20, color: '#1A2230', fontFamily: '微软雅黑' }}&gt;待填写&lt;/Text&gt;&#13;&#10;        &lt;/Box&gt;&#13;&#10;        &lt;Box style={{ flexDirection: 'column', gap: 4 }}&gt;&#13;&#10;            &lt;Text style={{ fontSize: 14, color: '#8B97A8', fontFamily: '微软雅黑' }}&gt;答辩日期&lt;/Text&gt;&#13;&#10;            &lt;Text style={{ fontSize: 20, color: '#1A2230', fontFamily: '微软雅黑' }}&gt;2026年9月29日&lt;/Text&gt;&#13;&#10;        &lt;/Box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4" name="文本框 3" descr="{&quot;isTemplate&quot;:true,&quot;type&quot;:&quot;text&quot;}"/>
          <p:cNvSpPr txBox="1"/>
          <p:nvPr/>
        </p:nvSpPr>
        <p:spPr>
          <a:xfrm>
            <a:off x="457200" y="457200"/>
            <a:ext cx="0" cy="0"/>
          </a:xfrm>
          <a:prstGeom prst="rect">
            <a:avLst/>
          </a:prstGeom>
        </p:spPr>
        <p:txBody>
          <a:bodyPr wrap="none" lIns="0" tIns="0" rIns="0" bIns="0"/>
          <a:p/>
        </p:txBody>
      </p:sp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11734800" y="457200"/>
            <a:ext cx="0" cy="0"/>
          </a:xfrm>
          <a:prstGeom prst="rect">
            <a:avLst/>
          </a:prstGeom>
        </p:spPr>
        <p:txBody>
          <a:bodyPr wrap="none" lIns="0" tIns="0" rIns="0" bIns="0"/>
          <a:p/>
        </p:txBody>
      </p:sp>
      <p:sp>
        <p:nvSpPr>
          <p:cNvPr id="6" name="矩形 5"/>
          <p:cNvSpPr/>
          <p:nvPr/>
        </p:nvSpPr>
        <p:spPr>
          <a:xfrm>
            <a:off x="914400" y="1638300"/>
            <a:ext cx="685800" cy="47625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914400" y="1895475"/>
            <a:ext cx="10363200" cy="16192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45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基于</a:t>
            </a:r>
            <a:r>
              <a:rPr lang="en-US" sz="45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Text2SQL </a:t>
            </a:r>
            <a:r>
              <a:rPr lang="zh-CN" sz="45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endParaRPr lang="zh-CN" sz="45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8000"/>
              </a:lnSpc>
            </a:pPr>
            <a:r>
              <a:rPr lang="zh-CN" sz="45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电商数据分析</a:t>
            </a:r>
            <a:r>
              <a:rPr lang="en-US" sz="45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Agent</a:t>
            </a:r>
            <a:endParaRPr lang="en-US" sz="45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914400" y="3724275"/>
            <a:ext cx="10363200" cy="638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en-US" sz="3600">
                <a:solidFill>
                  <a:srgbClr val="3D7BD9"/>
                </a:solidFill>
                <a:latin typeface="Times New Roman" panose="02020603050405020304"/>
                <a:ea typeface="Times New Roman" panose="02020603050405020304"/>
              </a:rPr>
              <a:t>A Trustworthy Text-to-SQL Analytics Agent</a:t>
            </a:r>
            <a:endParaRPr lang="en-US" sz="3600">
              <a:solidFill>
                <a:srgbClr val="3D7BD9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14400" y="4629150"/>
            <a:ext cx="10287000" cy="9525"/>
          </a:xfrm>
          <a:prstGeom prst="rect">
            <a:avLst/>
          </a:prstGeom>
          <a:solidFill>
            <a:srgbClr val="D6DCE5"/>
          </a:solidFill>
        </p:spPr>
        <p:txBody>
          <a:bodyPr/>
          <a:p/>
        </p:txBody>
      </p:sp>
      <p:sp>
        <p:nvSpPr>
          <p:cNvPr id="10" name="文本框 9" descr="{&quot;isTemplate&quot;:true,&quot;type&quot;:&quot;text&quot;}"/>
          <p:cNvSpPr txBox="1"/>
          <p:nvPr/>
        </p:nvSpPr>
        <p:spPr>
          <a:xfrm>
            <a:off x="914400" y="4848225"/>
            <a:ext cx="10363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spc="1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口径集中配置</a:t>
            </a:r>
            <a:r>
              <a:rPr lang="en-US" sz="1950" spc="1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950" spc="1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执行前校验</a:t>
            </a:r>
            <a:r>
              <a:rPr lang="en-US" sz="1950" spc="1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950" spc="1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结果可追溯</a:t>
            </a:r>
            <a:endParaRPr lang="zh-CN" sz="1950" spc="1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0" y="5867400"/>
            <a:ext cx="12192000" cy="990600"/>
          </a:xfrm>
          <a:prstGeom prst="rect">
            <a:avLst/>
          </a:prstGeom>
          <a:solidFill>
            <a:srgbClr val="F0F5FC"/>
          </a:solidFill>
        </p:spPr>
        <p:txBody>
          <a:bodyPr/>
          <a:p/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914400" y="6153150"/>
            <a:ext cx="571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答辩人</a:t>
            </a:r>
            <a:endParaRPr lang="zh-CN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914400" y="6353175"/>
            <a:ext cx="5715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李金盛</a:t>
            </a:r>
            <a:endParaRPr lang="zh-CN" sz="150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 descr="{&quot;isTemplate&quot;:true,&quot;type&quot;:&quot;text&quot;}"/>
          <p:cNvSpPr txBox="1"/>
          <p:nvPr/>
        </p:nvSpPr>
        <p:spPr>
          <a:xfrm>
            <a:off x="2819400" y="6153150"/>
            <a:ext cx="1047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学号</a:t>
            </a:r>
            <a:endParaRPr lang="zh-CN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 descr="{&quot;isTemplate&quot;:true,&quot;type&quot;:&quot;text&quot;}"/>
          <p:cNvSpPr txBox="1"/>
          <p:nvPr/>
        </p:nvSpPr>
        <p:spPr>
          <a:xfrm>
            <a:off x="2819400" y="6353175"/>
            <a:ext cx="10477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231010223</a:t>
            </a:r>
            <a:endParaRPr lang="en-US" sz="15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5210175" y="6153150"/>
            <a:ext cx="1524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专业</a:t>
            </a:r>
            <a:endParaRPr lang="zh-CN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 descr="{&quot;isTemplate&quot;:true,&quot;type&quot;:&quot;text&quot;}"/>
          <p:cNvSpPr txBox="1"/>
          <p:nvPr/>
        </p:nvSpPr>
        <p:spPr>
          <a:xfrm>
            <a:off x="5210175" y="6353175"/>
            <a:ext cx="1524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数据科学与大数据</a:t>
            </a:r>
            <a:r>
              <a:rPr lang="zh-CN" sz="15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技术</a:t>
            </a:r>
            <a:endParaRPr lang="zh-CN" sz="15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 descr="{&quot;isTemplate&quot;:true,&quot;type&quot;:&quot;text&quot;}"/>
          <p:cNvSpPr txBox="1"/>
          <p:nvPr/>
        </p:nvSpPr>
        <p:spPr>
          <a:xfrm>
            <a:off x="8067675" y="6153150"/>
            <a:ext cx="571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班级</a:t>
            </a:r>
            <a:endParaRPr lang="zh-CN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 descr="{&quot;isTemplate&quot;:true,&quot;type&quot;:&quot;text&quot;}"/>
          <p:cNvSpPr txBox="1"/>
          <p:nvPr/>
        </p:nvSpPr>
        <p:spPr>
          <a:xfrm>
            <a:off x="8067675" y="6353175"/>
            <a:ext cx="5715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嘉大</a:t>
            </a:r>
            <a:r>
              <a:rPr lang="zh-CN" sz="15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班</a:t>
            </a:r>
            <a:endParaRPr lang="zh-CN" sz="15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 descr="{&quot;isTemplate&quot;:true,&quot;type&quot;:&quot;text&quot;}"/>
          <p:cNvSpPr txBox="1"/>
          <p:nvPr/>
        </p:nvSpPr>
        <p:spPr>
          <a:xfrm>
            <a:off x="9972675" y="6153150"/>
            <a:ext cx="1304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答辩日期</a:t>
            </a:r>
            <a:endParaRPr lang="zh-CN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 descr="{&quot;isTemplate&quot;:true,&quot;type&quot;:&quot;text&quot;}"/>
          <p:cNvSpPr txBox="1"/>
          <p:nvPr/>
        </p:nvSpPr>
        <p:spPr>
          <a:xfrm>
            <a:off x="9972675" y="6353175"/>
            <a:ext cx="13049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2026</a:t>
            </a:r>
            <a:r>
              <a:rPr lang="zh-CN" sz="15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年</a:t>
            </a:r>
            <a:r>
              <a:rPr lang="en-US" sz="15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r>
              <a:rPr lang="zh-CN" sz="15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月</a:t>
            </a:r>
            <a:r>
              <a:rPr lang="en-US" sz="15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29</a:t>
            </a:r>
            <a:r>
              <a:rPr lang="zh-CN" sz="15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日</a:t>
            </a:r>
            <a:endParaRPr lang="zh-CN" sz="15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6" name="" descr="&lt;Slide style={{ background: '#FFFFFF', padding: 0, flexDirection: 'row' }}&gt;&#13;&#10;    {/* 左侧深蓝栏 */}&#13;&#10;    &lt;Box style={{&#13;&#10;        width: 380, height: '100%', background: '#0E3F8C',&#13;&#10;        flexDirection: 'column', justifyContent: 'center', padding: '0 48px', gap: 18,&#13;&#10;    }}&gt;&#13;&#10;        &lt;Box style={{ width: 64, height: 5, background: '#3D7BD9' }} /&gt;&#13;&#10;        &lt;Text style={{ fontSize: 56, fontWeight: 'bold', color: '#FFFFFF', fontFamily: '微软雅黑', lineHeight: 1.2 }}&gt;&#13;&#10;            目录&#13;&#10;        &lt;/Text&gt;&#13;&#10;        &lt;Text style={{ fontSize: 22, color: 'rgba(255,255,255,0.62)', fontFamily: 'Times New Roman', letterSpacing: 3 }}&gt;&#13;&#10;            CONTENTS&#13;&#10;        &lt;/Text&gt;&#13;&#10;        &lt;Text style={{ fontSize: 15, color: 'rgba(255,255,255,0.55)', fontFamily: '微软雅黑', marginTop: 26, lineHeight: 1.9 }}&gt;&#13;&#10;            16 页 · 讲解 12–15 分钟&lt;br /&gt;第 10 至 13 页为可信性设计&#13;&#10;        &lt;/Text&gt;&#13;&#10;    &lt;/Box&gt;&#13;&#10;&#13;&#10;    {/* 右侧条目 */}&#13;&#10;    &lt;Box style={{&#13;&#10;        flex: 1, flexDirection: 'column', justifyContent: 'center',&#13;&#10;        padding: '0 64px', gap: 20,&#13;&#10;    }}&gt;&#13;&#10;        &lt;Box style={{ flexDirection: 'row', alignItems: 'center', gap: 20 }}&gt;&#13;&#10;            &lt;Box style={{ width: 46, height: 46, background: '#1E4FA8', borderRadius: 4, alignItems: 'center', justifyContent: 'center' }}&gt;&#13;&#10;                &lt;Text style={{ fontSize: 22, fontWeight: 'bold', color: '#FFFFFF', fontFamily: 'Times New Roman' }}&gt;01&lt;/Text&gt;&#13;&#10;            &lt;/Box&gt;&#13;&#10;            &lt;Box style={{ flexDirection: 'column', gap: 3 }}&gt;&#13;&#10;                &lt;Text style={{ fontSize: 26, fontWeight: 'bold', color: '#1A2230', fontFamily: '微软雅黑' }}&gt;选题与目标&lt;/Text&gt;&#13;&#10;                &lt;Text style={{ fontSize: 17, color: '#8B97A8', fontFamily: '微软雅黑' }}&gt;业务取数的等待链路，以及本项目的验收口径&lt;/Text&gt;&#13;&#10;            &lt;/Box&gt;&#13;&#10;        &lt;/Box&gt;&#13;&#10;&#13;&#10;        &lt;Box style={{ width: '100%', height: 1, background: '#E5E7EB' }} /&gt;&#13;&#10;&#13;&#10;        &lt;Box style={{ flexDirection: 'row', alignItems: 'center', gap: 20 }}&gt;&#13;&#10;            &lt;Box style={{ width: 46, height: 46, background: '#1E4FA8', borderRadius: 4, alignItems: 'center', justifyContent: 'center' }}&gt;&#13;&#10;                &lt;Text style={{ fontSize: 22, fontWeight: 'bold', color: '#FFFFFF', fontFamily: 'Times New Roman' }}&gt;02&lt;/Text&gt;&#13;&#10;            &lt;/Box&gt;&#13;&#10;            &lt;Box style={{ flexDirection: 'column', gap: 3 }}&gt;&#13;&#10;                &lt;Text style={{ fontSize: 26, fontWeight: 'bold', color: '#1A2230', fontFamily: '微软雅黑' }}&gt;系统设计&lt;/Text&gt;&#13;&#10;                &lt;Text style={{ fontSize: 17, color: '#8B97A8', fontFamily: '微软雅黑' }}&gt;六层架构、语义层、十四节点状态机与安全沙箱&lt;/Text&gt;&#13;&#10;            &lt;/Box&gt;&#13;&#10;        &lt;/Box&gt;&#13;&#10;&#13;&#10;        &lt;Box style={{ width: '100%', height: 1, background: '#E5E7EB' }} /&gt;&#13;&#10;&#13;&#10;        &lt;Box style={{ flexDirection: 'row', alignItems: 'center', gap: 20 }}&gt;&#13;&#10;            &lt;Box style={{ width: 46, height: 46, background: '#1E4FA8', borderRadius: 4, alignItems: 'center', justifyContent: 'center' }}&gt;&#13;&#10;                &lt;Text style={{ fontSize: 22, fontWeight: 'bold', color: '#FFFFFF', fontFamily: 'Times New Roman' }}&gt;03&lt;/Text&gt;&#13;&#10;            &lt;/Box&gt;&#13;&#10;            &lt;Box style={{ flexDirection: 'column', gap: 3 }}&gt;&#13;&#10;                &lt;Text style={{ fontSize: 26, fontWeight: 'bold', color: '#1A2230', fontFamily: '微软雅黑' }}&gt;可信性设计&lt;/Text&gt;&#13;&#10;                &lt;Text style={{ fontSize: 17, color: '#8B97A8', fontFamily: '微软雅黑' }}&gt;口径签名、数字回溯、审计留痕与边界诚实性&lt;/Text&gt;&#13;&#10;            &lt;/Box&gt;&#13;&#10;        &lt;/Box&gt;&#13;&#10;&#13;&#10;        &lt;Box style={{ width: '100%', height: 1, background: '#E5E7EB' }} /&gt;&#13;&#10;&#13;&#10;        &lt;Box style={{ flexDirection: 'row', alignItems: 'center', gap: 20 }}&gt;&#13;&#10;            &lt;Box style={{ width: 46, height: 46, background: '#1E4FA8', borderRadius: 4, alignItems: 'center', justifyContent: 'center' }}&gt;&#13;&#10;                &lt;Text style={{ fontSize: 22, fontWeight: 'bold', color: '#FFFFFF', fontFamily: 'Times New Roman' }}&gt;04&lt;/Text&gt;&#13;&#10;            &lt;/Box&gt;&#13;&#10;            &lt;Box style={{ flexDirection: 'column', gap: 3 }}&gt;&#13;&#10;                &lt;Text style={{ fontSize: 26, fontWeight: 'bold', color: '#1A2230', fontFamily: '微软雅黑' }}&gt;验证与演示&lt;/Text&gt;&#13;&#10;                &lt;Text style={{ fontSize: 17, color: '#8B97A8', fontFamily: '微软雅黑' }}&gt;真实模型下的六个运行场景与十组评测结果&lt;/Text&gt;&#13;&#10;            &lt;/Box&gt;&#13;&#10;        &lt;/Box&gt;&#13;&#10;&#13;&#10;        &lt;Box style={{ width: '100%', height: 1, background: '#E5E7EB' }} /&gt;&#13;&#10;&#13;&#10;        &lt;Box style={{ flexDirection: 'row', alignItems: 'center', gap: 20 }}&gt;&#13;&#10;            &lt;Box style={{ width: 46, height: 46, background: '#1E4FA8', borderRadius: 4, alignItems: 'center', justifyContent: 'center' }}&gt;&#13;&#10;                &lt;Text style={{ fontSize: 22, fontWeight: 'bold', color: '#FFFFFF', fontFamily: 'Times New Roman' }}&gt;05&lt;/Text&gt;&#13;&#10;            &lt;/Box&gt;&#13;&#10;            &lt;Box style={{ flexDirection: 'column', gap: 3 }}&gt;&#13;&#10;                &lt;Text style={{ fontSize: 26, fontWeight: 'bold', color: '#1A2230', fontFamily: '微软雅黑' }}&gt;总结与展望&lt;/Text&gt;&#13;&#10;                &lt;Text style={{ fontSize: 17, color: '#8B97A8', fontFamily: '微软雅黑' }}&gt;已实现的能力、明确不做的范围与后续演进&lt;/Text&gt;&#13;&#10;            &lt;/Box&gt;&#13;&#10;        &lt;/Box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矩形 30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08" name="矩形 307"/>
          <p:cNvSpPr/>
          <p:nvPr/>
        </p:nvSpPr>
        <p:spPr>
          <a:xfrm>
            <a:off x="0" y="0"/>
            <a:ext cx="3619500" cy="68580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309" name="矩形 308"/>
          <p:cNvSpPr/>
          <p:nvPr/>
        </p:nvSpPr>
        <p:spPr>
          <a:xfrm>
            <a:off x="457200" y="2181225"/>
            <a:ext cx="609600" cy="47625"/>
          </a:xfrm>
          <a:prstGeom prst="rect">
            <a:avLst/>
          </a:prstGeom>
          <a:solidFill>
            <a:srgbClr val="3D7BD9"/>
          </a:solidFill>
        </p:spPr>
        <p:txBody>
          <a:bodyPr/>
          <a:p/>
        </p:txBody>
      </p:sp>
      <p:sp>
        <p:nvSpPr>
          <p:cNvPr id="310" name="文本框 309" descr="{&quot;isTemplate&quot;:true,&quot;type&quot;:&quot;text&quot;}"/>
          <p:cNvSpPr txBox="1"/>
          <p:nvPr/>
        </p:nvSpPr>
        <p:spPr>
          <a:xfrm>
            <a:off x="457200" y="2400300"/>
            <a:ext cx="2705100" cy="771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zh-CN" sz="4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1" name="文本框 310" descr="{&quot;isTemplate&quot;:true,&quot;type&quot;:&quot;text&quot;}"/>
          <p:cNvSpPr txBox="1"/>
          <p:nvPr/>
        </p:nvSpPr>
        <p:spPr>
          <a:xfrm>
            <a:off x="457200" y="3343275"/>
            <a:ext cx="27051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spc="225">
                <a:solidFill>
                  <a:srgbClr val="FFFFFF">
                    <a:alpha val="62000"/>
                  </a:srgbClr>
                </a:solidFill>
                <a:latin typeface="Times New Roman" panose="02020603050405020304"/>
                <a:ea typeface="Times New Roman" panose="02020603050405020304"/>
              </a:rPr>
              <a:t>CONTENTS</a:t>
            </a:r>
            <a:endParaRPr lang="en-US" sz="1650" spc="225">
              <a:solidFill>
                <a:srgbClr val="FFFFFF">
                  <a:alpha val="62000"/>
                </a:srgbClr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12" name="文本框 311" descr="{&quot;isTemplate&quot;:true,&quot;type&quot;:&quot;text&quot;}"/>
          <p:cNvSpPr txBox="1"/>
          <p:nvPr/>
        </p:nvSpPr>
        <p:spPr>
          <a:xfrm>
            <a:off x="457200" y="4019550"/>
            <a:ext cx="2705100" cy="657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FFFFFF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16 </a:t>
            </a:r>
            <a:r>
              <a:rPr lang="zh-CN" sz="1125">
                <a:solidFill>
                  <a:srgbClr val="FFFFFF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页</a:t>
            </a:r>
            <a:r>
              <a:rPr lang="en-US" sz="1125">
                <a:solidFill>
                  <a:srgbClr val="FFFFFF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FFFFFF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讲解</a:t>
            </a:r>
            <a:r>
              <a:rPr lang="en-US" sz="1125">
                <a:solidFill>
                  <a:srgbClr val="FFFFFF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12–15 </a:t>
            </a:r>
            <a:r>
              <a:rPr lang="zh-CN" sz="1125">
                <a:solidFill>
                  <a:srgbClr val="FFFFFF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分钟</a:t>
            </a:r>
            <a:endParaRPr lang="zh-CN" sz="1125">
              <a:solidFill>
                <a:srgbClr val="FFFFFF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90000"/>
              </a:lnSpc>
            </a:pPr>
            <a:r>
              <a:rPr lang="zh-CN" sz="1125">
                <a:solidFill>
                  <a:srgbClr val="FFFFFF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125">
                <a:solidFill>
                  <a:srgbClr val="FFFFFF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10 </a:t>
            </a:r>
            <a:r>
              <a:rPr lang="zh-CN" sz="1125">
                <a:solidFill>
                  <a:srgbClr val="FFFFFF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至</a:t>
            </a:r>
            <a:r>
              <a:rPr lang="en-US" sz="1125">
                <a:solidFill>
                  <a:srgbClr val="FFFFFF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13 </a:t>
            </a:r>
            <a:r>
              <a:rPr lang="zh-CN" sz="1125">
                <a:solidFill>
                  <a:srgbClr val="FFFFFF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页为可信性设计</a:t>
            </a:r>
            <a:endParaRPr lang="zh-CN" sz="1125">
              <a:solidFill>
                <a:srgbClr val="FFFFFF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3" name="圆角矩形 312"/>
          <p:cNvSpPr/>
          <p:nvPr>
            <p:custDataLst>
              <p:tags r:id="rId1"/>
            </p:custDataLst>
          </p:nvPr>
        </p:nvSpPr>
        <p:spPr>
          <a:xfrm>
            <a:off x="4229100" y="1362075"/>
            <a:ext cx="438150" cy="438150"/>
          </a:xfrm>
          <a:prstGeom prst="roundRect">
            <a:avLst>
              <a:gd name="adj" fmla="val 8696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314" name="文本框 313" descr="{&quot;isTemplate&quot;:true,&quot;type&quot;:&quot;text&quot;}"/>
          <p:cNvSpPr txBox="1"/>
          <p:nvPr>
            <p:custDataLst>
              <p:tags r:id="rId2"/>
            </p:custDataLst>
          </p:nvPr>
        </p:nvSpPr>
        <p:spPr>
          <a:xfrm>
            <a:off x="4343400" y="1457325"/>
            <a:ext cx="209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</a:rPr>
              <a:t>01</a:t>
            </a:r>
            <a:endParaRPr lang="en-US" sz="165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15" name="文本框 314" descr="{&quot;isTemplate&quot;:true,&quot;type&quot;:&quot;text&quot;}"/>
          <p:cNvSpPr txBox="1"/>
          <p:nvPr>
            <p:custDataLst>
              <p:tags r:id="rId3"/>
            </p:custDataLst>
          </p:nvPr>
        </p:nvSpPr>
        <p:spPr>
          <a:xfrm>
            <a:off x="4857750" y="1314450"/>
            <a:ext cx="32385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选题与目标</a:t>
            </a:r>
            <a:endParaRPr lang="zh-CN" sz="19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6" name="文本框 315" descr="{&quot;isTemplate&quot;:true,&quot;type&quot;:&quot;text&quot;}"/>
          <p:cNvSpPr txBox="1"/>
          <p:nvPr>
            <p:custDataLst>
              <p:tags r:id="rId4"/>
            </p:custDataLst>
          </p:nvPr>
        </p:nvSpPr>
        <p:spPr>
          <a:xfrm>
            <a:off x="4857750" y="1647825"/>
            <a:ext cx="32385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业务取数的等待链路，以及本项目的验收口径</a:t>
            </a:r>
            <a:endParaRPr lang="zh-CN" sz="127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7" name="矩形 316"/>
          <p:cNvSpPr/>
          <p:nvPr>
            <p:custDataLst>
              <p:tags r:id="rId5"/>
            </p:custDataLst>
          </p:nvPr>
        </p:nvSpPr>
        <p:spPr>
          <a:xfrm>
            <a:off x="4229100" y="2038350"/>
            <a:ext cx="7353300" cy="9525"/>
          </a:xfrm>
          <a:prstGeom prst="rect">
            <a:avLst/>
          </a:prstGeom>
          <a:solidFill>
            <a:srgbClr val="E5E7EB"/>
          </a:solidFill>
        </p:spPr>
        <p:txBody>
          <a:bodyPr/>
          <a:p/>
        </p:txBody>
      </p:sp>
      <p:sp>
        <p:nvSpPr>
          <p:cNvPr id="318" name="圆角矩形 317"/>
          <p:cNvSpPr/>
          <p:nvPr>
            <p:custDataLst>
              <p:tags r:id="rId6"/>
            </p:custDataLst>
          </p:nvPr>
        </p:nvSpPr>
        <p:spPr>
          <a:xfrm>
            <a:off x="4229100" y="2286000"/>
            <a:ext cx="438150" cy="438150"/>
          </a:xfrm>
          <a:prstGeom prst="roundRect">
            <a:avLst>
              <a:gd name="adj" fmla="val 8696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319" name="文本框 318" descr="{&quot;isTemplate&quot;:true,&quot;type&quot;:&quot;text&quot;}"/>
          <p:cNvSpPr txBox="1"/>
          <p:nvPr>
            <p:custDataLst>
              <p:tags r:id="rId7"/>
            </p:custDataLst>
          </p:nvPr>
        </p:nvSpPr>
        <p:spPr>
          <a:xfrm>
            <a:off x="4343400" y="2381250"/>
            <a:ext cx="209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</a:rPr>
              <a:t>02</a:t>
            </a:r>
            <a:endParaRPr lang="en-US" sz="165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20" name="文本框 319" descr="{&quot;isTemplate&quot;:true,&quot;type&quot;:&quot;text&quot;}"/>
          <p:cNvSpPr txBox="1"/>
          <p:nvPr>
            <p:custDataLst>
              <p:tags r:id="rId8"/>
            </p:custDataLst>
          </p:nvPr>
        </p:nvSpPr>
        <p:spPr>
          <a:xfrm>
            <a:off x="4857750" y="2238375"/>
            <a:ext cx="3400425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系统设计</a:t>
            </a:r>
            <a:endParaRPr lang="zh-CN" sz="19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1" name="文本框 320" descr="{&quot;isTemplate&quot;:true,&quot;type&quot;:&quot;text&quot;}"/>
          <p:cNvSpPr txBox="1"/>
          <p:nvPr>
            <p:custDataLst>
              <p:tags r:id="rId9"/>
            </p:custDataLst>
          </p:nvPr>
        </p:nvSpPr>
        <p:spPr>
          <a:xfrm>
            <a:off x="4857750" y="2571750"/>
            <a:ext cx="34004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六层架构、语义层、十四节点状态机与安全沙箱</a:t>
            </a:r>
            <a:endParaRPr lang="zh-CN" sz="127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2" name="矩形 321"/>
          <p:cNvSpPr/>
          <p:nvPr>
            <p:custDataLst>
              <p:tags r:id="rId10"/>
            </p:custDataLst>
          </p:nvPr>
        </p:nvSpPr>
        <p:spPr>
          <a:xfrm>
            <a:off x="4229100" y="2962275"/>
            <a:ext cx="7353300" cy="9525"/>
          </a:xfrm>
          <a:prstGeom prst="rect">
            <a:avLst/>
          </a:prstGeom>
          <a:solidFill>
            <a:srgbClr val="E5E7EB"/>
          </a:solidFill>
        </p:spPr>
        <p:txBody>
          <a:bodyPr/>
          <a:p/>
        </p:txBody>
      </p:sp>
      <p:sp>
        <p:nvSpPr>
          <p:cNvPr id="323" name="圆角矩形 322"/>
          <p:cNvSpPr/>
          <p:nvPr>
            <p:custDataLst>
              <p:tags r:id="rId11"/>
            </p:custDataLst>
          </p:nvPr>
        </p:nvSpPr>
        <p:spPr>
          <a:xfrm>
            <a:off x="4229100" y="3209925"/>
            <a:ext cx="438150" cy="438150"/>
          </a:xfrm>
          <a:prstGeom prst="roundRect">
            <a:avLst>
              <a:gd name="adj" fmla="val 8696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324" name="文本框 323" descr="{&quot;isTemplate&quot;:true,&quot;type&quot;:&quot;text&quot;}"/>
          <p:cNvSpPr txBox="1"/>
          <p:nvPr>
            <p:custDataLst>
              <p:tags r:id="rId12"/>
            </p:custDataLst>
          </p:nvPr>
        </p:nvSpPr>
        <p:spPr>
          <a:xfrm>
            <a:off x="4343400" y="3305175"/>
            <a:ext cx="209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</a:rPr>
              <a:t>03</a:t>
            </a:r>
            <a:endParaRPr lang="en-US" sz="165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25" name="文本框 324" descr="{&quot;isTemplate&quot;:true,&quot;type&quot;:&quot;text&quot;}"/>
          <p:cNvSpPr txBox="1"/>
          <p:nvPr>
            <p:custDataLst>
              <p:tags r:id="rId13"/>
            </p:custDataLst>
          </p:nvPr>
        </p:nvSpPr>
        <p:spPr>
          <a:xfrm>
            <a:off x="4857750" y="3162300"/>
            <a:ext cx="32385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可信性设计</a:t>
            </a:r>
            <a:endParaRPr lang="zh-CN" sz="19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6" name="文本框 325" descr="{&quot;isTemplate&quot;:true,&quot;type&quot;:&quot;text&quot;}"/>
          <p:cNvSpPr txBox="1"/>
          <p:nvPr>
            <p:custDataLst>
              <p:tags r:id="rId14"/>
            </p:custDataLst>
          </p:nvPr>
        </p:nvSpPr>
        <p:spPr>
          <a:xfrm>
            <a:off x="4857750" y="3495675"/>
            <a:ext cx="32385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口径签名、数字回溯、审计留痕与边界诚实性</a:t>
            </a:r>
            <a:endParaRPr lang="zh-CN" sz="127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7" name="矩形 326"/>
          <p:cNvSpPr/>
          <p:nvPr>
            <p:custDataLst>
              <p:tags r:id="rId15"/>
            </p:custDataLst>
          </p:nvPr>
        </p:nvSpPr>
        <p:spPr>
          <a:xfrm>
            <a:off x="4229100" y="3886200"/>
            <a:ext cx="7353300" cy="9525"/>
          </a:xfrm>
          <a:prstGeom prst="rect">
            <a:avLst/>
          </a:prstGeom>
          <a:solidFill>
            <a:srgbClr val="E5E7EB"/>
          </a:solidFill>
        </p:spPr>
        <p:txBody>
          <a:bodyPr/>
          <a:p/>
        </p:txBody>
      </p:sp>
      <p:sp>
        <p:nvSpPr>
          <p:cNvPr id="328" name="圆角矩形 327"/>
          <p:cNvSpPr/>
          <p:nvPr>
            <p:custDataLst>
              <p:tags r:id="rId16"/>
            </p:custDataLst>
          </p:nvPr>
        </p:nvSpPr>
        <p:spPr>
          <a:xfrm>
            <a:off x="4229100" y="4133850"/>
            <a:ext cx="438150" cy="438150"/>
          </a:xfrm>
          <a:prstGeom prst="roundRect">
            <a:avLst>
              <a:gd name="adj" fmla="val 8696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329" name="文本框 328" descr="{&quot;isTemplate&quot;:true,&quot;type&quot;:&quot;text&quot;}"/>
          <p:cNvSpPr txBox="1"/>
          <p:nvPr>
            <p:custDataLst>
              <p:tags r:id="rId17"/>
            </p:custDataLst>
          </p:nvPr>
        </p:nvSpPr>
        <p:spPr>
          <a:xfrm>
            <a:off x="4343400" y="4229100"/>
            <a:ext cx="209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</a:rPr>
              <a:t>04</a:t>
            </a:r>
            <a:endParaRPr lang="en-US" sz="165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30" name="文本框 329" descr="{&quot;isTemplate&quot;:true,&quot;type&quot;:&quot;text&quot;}"/>
          <p:cNvSpPr txBox="1"/>
          <p:nvPr>
            <p:custDataLst>
              <p:tags r:id="rId18"/>
            </p:custDataLst>
          </p:nvPr>
        </p:nvSpPr>
        <p:spPr>
          <a:xfrm>
            <a:off x="4857750" y="4086225"/>
            <a:ext cx="3076575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验证与演示</a:t>
            </a:r>
            <a:endParaRPr lang="zh-CN" sz="19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1" name="文本框 330" descr="{&quot;isTemplate&quot;:true,&quot;type&quot;:&quot;text&quot;}"/>
          <p:cNvSpPr txBox="1"/>
          <p:nvPr>
            <p:custDataLst>
              <p:tags r:id="rId19"/>
            </p:custDataLst>
          </p:nvPr>
        </p:nvSpPr>
        <p:spPr>
          <a:xfrm>
            <a:off x="4857750" y="4419600"/>
            <a:ext cx="30765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真实模型下的六个运行场景与十组评测结果</a:t>
            </a:r>
            <a:endParaRPr lang="zh-CN" sz="127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2" name="矩形 331"/>
          <p:cNvSpPr/>
          <p:nvPr>
            <p:custDataLst>
              <p:tags r:id="rId20"/>
            </p:custDataLst>
          </p:nvPr>
        </p:nvSpPr>
        <p:spPr>
          <a:xfrm>
            <a:off x="4229100" y="4810125"/>
            <a:ext cx="7353300" cy="9525"/>
          </a:xfrm>
          <a:prstGeom prst="rect">
            <a:avLst/>
          </a:prstGeom>
          <a:solidFill>
            <a:srgbClr val="E5E7EB"/>
          </a:solidFill>
        </p:spPr>
        <p:txBody>
          <a:bodyPr/>
          <a:p/>
        </p:txBody>
      </p:sp>
      <p:sp>
        <p:nvSpPr>
          <p:cNvPr id="333" name="圆角矩形 332"/>
          <p:cNvSpPr/>
          <p:nvPr>
            <p:custDataLst>
              <p:tags r:id="rId21"/>
            </p:custDataLst>
          </p:nvPr>
        </p:nvSpPr>
        <p:spPr>
          <a:xfrm>
            <a:off x="4229100" y="5057775"/>
            <a:ext cx="438150" cy="438150"/>
          </a:xfrm>
          <a:prstGeom prst="roundRect">
            <a:avLst>
              <a:gd name="adj" fmla="val 8696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334" name="文本框 333" descr="{&quot;isTemplate&quot;:true,&quot;type&quot;:&quot;text&quot;}"/>
          <p:cNvSpPr txBox="1"/>
          <p:nvPr>
            <p:custDataLst>
              <p:tags r:id="rId22"/>
            </p:custDataLst>
          </p:nvPr>
        </p:nvSpPr>
        <p:spPr>
          <a:xfrm>
            <a:off x="4343400" y="5153025"/>
            <a:ext cx="209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</a:rPr>
              <a:t>05</a:t>
            </a:r>
            <a:endParaRPr lang="en-US" sz="165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35" name="文本框 334" descr="{&quot;isTemplate&quot;:true,&quot;type&quot;:&quot;text&quot;}"/>
          <p:cNvSpPr txBox="1"/>
          <p:nvPr>
            <p:custDataLst>
              <p:tags r:id="rId23"/>
            </p:custDataLst>
          </p:nvPr>
        </p:nvSpPr>
        <p:spPr>
          <a:xfrm>
            <a:off x="4857750" y="5010150"/>
            <a:ext cx="3076575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总结与展望</a:t>
            </a:r>
            <a:endParaRPr lang="zh-CN" sz="195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6" name="文本框 335" descr="{&quot;isTemplate&quot;:true,&quot;type&quot;:&quot;text&quot;}"/>
          <p:cNvSpPr txBox="1"/>
          <p:nvPr>
            <p:custDataLst>
              <p:tags r:id="rId24"/>
            </p:custDataLst>
          </p:nvPr>
        </p:nvSpPr>
        <p:spPr>
          <a:xfrm>
            <a:off x="4857750" y="5343525"/>
            <a:ext cx="30765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已实现的能力与后续演进</a:t>
            </a:r>
            <a:endParaRPr lang="zh-CN" sz="127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7" name="" descr="&lt;Slide style={{ background: '#FFFFFF', padding: 0, flexDirection: 'column' }}&gt;&#13;&#10;    {/* A3 页眉 */}&#13;&#10;    &lt;Box style={{&#13;&#10;        width: '100%', height: 72, background: '#0E3F8C',&#13;&#10;        flexDirection: 'row', alignItems: 'center', justifyContent: 'space-between',&#13;&#10;        padding: '0 40px',&#13;&#10;    }}&gt;&#13;&#10;        &lt;Box style={{ flexDirection: 'row', alignItems: 'center', gap: 14 }}&gt;&#13;&#10;            &lt;Box style={{ width: 5, height: 26, background: '#3D7BD9' }} /&gt;&#13;&#10;            &lt;Text style={{ fontSize: 32, fontWeight: 'bold', color: '#FFFFFF', fontFamily: '微软雅黑' }}&gt;&#13;&#10;                业务要一个数，要等多久&#13;&#10;            &lt;/Text&gt;&#13;&#10;        &lt;/Box&gt;&#13;&#10;        &lt;Text style={{ fontSize: 15, color: 'rgba(255,255,255,0.7)', fontFamily: '微软雅黑' }}&gt;&#13;&#10;            选题背景&#13;&#10;        &lt;/Text&gt;&#13;&#10;    &lt;/Box&gt;&#13;&#10;&#13;&#10;    {/* C 内容区 */}&#13;&#10;    &lt;Box style={{ flex: 1, flexDirection: 'column', padding: '36px 40px 0 40px', gap: 22 }}&gt;&#13;&#10;        &lt;Text style={{ fontSize: 22, color: '#1A2230', lineHeight: 1.8, fontFamily: '微软雅黑', textAlign: 'justify' }}&gt;&#13;&#10;            在电商团队里，一个简单的问题往往要走完一条漫长的链路：业务提需求，分析师对口径，写 SQL 到数仓取数，导出表格，再做成图表回复。慢的不是某一环，而是每一环都在重复消耗同一件事——口径。&#13;&#10;            &lt;br /&gt;&lt;br /&gt;&#13;&#10;            同一句「上个月卖得怎么样」，运营说的是成交额，仓储说的是发货件数，财务说的是剔除退款后的净额。三人各写一遍 SQL，各得一组数字，彼此不知道另外两组的存在。&#13;&#10;            &lt;br /&gt;&lt;br /&gt;&#13;&#10;            让机器接管这条链路，困难不在写不出 SQL，而在它可能算错了量却仍返回一个正常的数字。问毛利它算成交额，问客单价它算成交额，不分组的问题它凭空补一个时间列。这类语句能通过语法检查、能执行、有数据，全程不报错。&#13;&#10;        &lt;/Text&gt;&#13;&#10;&#13;&#10;        {/* 底部强调句 */}&#13;&#10;        &lt;Box style={{&#13;&#10;            width: '100%', height: 78, background: '#E8EFF8',&#13;&#10;            border: { left: { width: 5, color: '#1E4FA8' } },&#13;&#10;            flexDirection: 'row', alignItems: 'center', padding: '0 28px',&#13;&#10;        }}&gt;&#13;&#10;            &lt;Text style={{ fontSize: 23, color: '#0E3F8C', fontWeight: 'bold', fontFamily: '微软雅黑', lineHeight: 1.5 }}&gt;&#13;&#10;                本项目要解决的不是「能不能出数」，而是「出的数凭什么可信」。&#13;&#10;            &lt;/Text&gt;&#13;&#10;        &lt;/Box&gt;&#13;&#10;    &lt;/Box&gt;&#13;&#10;&#13;&#10;    {/* D 页脚 */}&#13;&#10;    &lt;Box style={{&#13;&#10;        width: '100%', height: 40, flexDirection: 'row',&#13;&#10;        alignItems: 'center', justifyContent: 'space-between', padding: '0 40px',&#13;&#10;    }}&gt;&#13;&#10;        &lt;Text style={{ fontSize: 14, color: '#8B97A8', fontFamily: '微软雅黑' }}&gt;Text2SQL 电商数据分析 Agent&lt;/Text&gt;&#13;&#10;        &lt;Text style={{ fontSize: 15, color: '#1E4FA8', fontFamily: 'Times New Roman' }}&gt;03 / 16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矩形 33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39" name="矩形 338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340" name="矩形 339"/>
          <p:cNvSpPr/>
          <p:nvPr/>
        </p:nvSpPr>
        <p:spPr>
          <a:xfrm>
            <a:off x="381000" y="228600"/>
            <a:ext cx="47625" cy="247650"/>
          </a:xfrm>
          <a:prstGeom prst="rect">
            <a:avLst/>
          </a:prstGeom>
          <a:solidFill>
            <a:srgbClr val="3D7BD9"/>
          </a:solidFill>
        </p:spPr>
        <p:txBody>
          <a:bodyPr/>
          <a:p/>
        </p:txBody>
      </p:sp>
      <p:sp>
        <p:nvSpPr>
          <p:cNvPr id="341" name="文本框 340" descr="{&quot;isTemplate&quot;:true,&quot;type&quot;:&quot;text&quot;}"/>
          <p:cNvSpPr txBox="1"/>
          <p:nvPr/>
        </p:nvSpPr>
        <p:spPr>
          <a:xfrm>
            <a:off x="561975" y="161925"/>
            <a:ext cx="33528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业务要一个数，要等多久</a:t>
            </a:r>
            <a:endParaRPr lang="zh-CN"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2" name="文本框 341" descr="{&quot;isTemplate&quot;:true,&quot;type&quot;:&quot;text&quot;}"/>
          <p:cNvSpPr txBox="1"/>
          <p:nvPr/>
        </p:nvSpPr>
        <p:spPr>
          <a:xfrm>
            <a:off x="11239500" y="257175"/>
            <a:ext cx="571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选题背景</a:t>
            </a:r>
            <a:endParaRPr lang="zh-CN" sz="1125">
              <a:solidFill>
                <a:srgbClr val="FFFFFF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3" name="文本框 342" descr="{&quot;isTemplate&quot;:true,&quot;type&quot;:&quot;text&quot;}"/>
          <p:cNvSpPr txBox="1"/>
          <p:nvPr/>
        </p:nvSpPr>
        <p:spPr>
          <a:xfrm>
            <a:off x="381000" y="1028700"/>
            <a:ext cx="11430000" cy="3629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 algn="just">
              <a:lnSpc>
                <a:spcPct val="180000"/>
              </a:lnSpc>
            </a:pPr>
            <a:r>
              <a:rPr lang="zh-CN" sz="16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在电商团队里，一个简单的问题往往要走完一条漫长的链路：业务提需求，分析师对口径，写</a:t>
            </a:r>
            <a:r>
              <a:rPr lang="en-US" sz="16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SQL </a:t>
            </a:r>
            <a:r>
              <a:rPr lang="zh-CN" sz="16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到数仓取数，导出表格，再做成图表回复。慢的不是某一环，而是每一环都在重复消耗同一件事——口径。</a:t>
            </a:r>
            <a:endParaRPr lang="zh-CN" sz="16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80000"/>
              </a:lnSpc>
            </a:pPr>
            <a:r>
              <a:rPr sz="16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sz="16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80000"/>
              </a:lnSpc>
            </a:pPr>
            <a:r>
              <a:rPr lang="zh-CN" sz="16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同一句「上个月卖得怎么样」，运营说的是成交额，仓储说的是发货件数，财务说的是剔除退款后的净额。三人各写一遍</a:t>
            </a:r>
            <a:r>
              <a:rPr lang="en-US" sz="16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SQL</a:t>
            </a:r>
            <a:r>
              <a:rPr lang="zh-CN" sz="16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，各得一组数字，彼此不知道另外两组的存在。</a:t>
            </a:r>
            <a:endParaRPr lang="zh-CN" sz="16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80000"/>
              </a:lnSpc>
            </a:pPr>
            <a:r>
              <a:rPr sz="16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sz="16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80000"/>
              </a:lnSpc>
            </a:pPr>
            <a:r>
              <a:rPr lang="zh-CN" sz="16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让机器接管这条链路，困难不在写不出</a:t>
            </a:r>
            <a:r>
              <a:rPr lang="en-US" sz="16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SQL</a:t>
            </a:r>
            <a:r>
              <a:rPr lang="zh-CN" sz="16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，而在它可能算错了量却仍返回一个正常的数字。问毛利它算成交额，问客单价它算成交额，不分组的问题它凭空补一个时间列。这类语句能通过语法检查、能执行、有数据，全程不报错。</a:t>
            </a:r>
            <a:endParaRPr lang="zh-CN" sz="16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4" name="矩形 343"/>
          <p:cNvSpPr/>
          <p:nvPr/>
        </p:nvSpPr>
        <p:spPr>
          <a:xfrm>
            <a:off x="381000" y="4867275"/>
            <a:ext cx="11430000" cy="742950"/>
          </a:xfrm>
          <a:prstGeom prst="rect">
            <a:avLst/>
          </a:prstGeom>
          <a:solidFill>
            <a:srgbClr val="E8EFF8"/>
          </a:solidFill>
        </p:spPr>
        <p:txBody>
          <a:bodyPr/>
          <a:p/>
        </p:txBody>
      </p:sp>
      <p:sp>
        <p:nvSpPr>
          <p:cNvPr id="345" name="文本框 344" descr="{&quot;isTemplate&quot;:true,&quot;type&quot;:&quot;text&quot;}"/>
          <p:cNvSpPr txBox="1"/>
          <p:nvPr/>
        </p:nvSpPr>
        <p:spPr>
          <a:xfrm>
            <a:off x="647700" y="5038725"/>
            <a:ext cx="6572250" cy="4000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本项目要解决的不只是「能不能出数」，还</a:t>
            </a:r>
            <a:r>
              <a:rPr lang="zh-CN" sz="17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要「出的数凭什么可信」。</a:t>
            </a:r>
            <a:endParaRPr lang="zh-CN" sz="172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6" name="文本框 345" descr="{&quot;isTemplate&quot;:true,&quot;type&quot;:&quot;text&quot;}"/>
          <p:cNvSpPr txBox="1"/>
          <p:nvPr/>
        </p:nvSpPr>
        <p:spPr>
          <a:xfrm>
            <a:off x="381000" y="6591300"/>
            <a:ext cx="17811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Text2SQL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电商数据分析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Agent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7" name="文本框 346" descr="{&quot;isTemplate&quot;:true,&quot;type&quot;:&quot;text&quot;}"/>
          <p:cNvSpPr txBox="1"/>
          <p:nvPr/>
        </p:nvSpPr>
        <p:spPr>
          <a:xfrm>
            <a:off x="11410950" y="6581775"/>
            <a:ext cx="4000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Times New Roman" panose="02020603050405020304"/>
                <a:ea typeface="Times New Roman" panose="02020603050405020304"/>
              </a:rPr>
              <a:t>03 / 16</a:t>
            </a:r>
            <a:endParaRPr lang="en-US" sz="1125">
              <a:solidFill>
                <a:srgbClr val="1E4FA8"/>
              </a:solidFill>
              <a:latin typeface="Times New Roman" panose="02020603050405020304"/>
              <a:ea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8" name="" descr="&lt;Slide style={{ background: '#FFFFFF', padding: 0, flexDirection: 'column' }}&gt;&#13;&#10;    {/* A3 页眉 */}&#13;&#10;    &lt;Box style={{&#13;&#10;        width: '100%', height: 72, background: '#0E3F8C',&#13;&#10;        flexDirection: 'row', alignItems: 'center', justifyContent: 'space-between',&#13;&#10;        padding: '0 40px',&#13;&#10;    }}&gt;&#13;&#10;        &lt;Box style={{ flexDirection: 'row', alignItems: 'center', gap: 14 }}&gt;&#13;&#10;            &lt;Box style={{ width: 5, height: 26, background: '#3D7BD9' }} /&gt;&#13;&#10;            &lt;Text style={{ fontSize: 32, fontWeight: 'bold', color: '#FFFFFF', fontFamily: '微软雅黑' }}&gt;&#13;&#10;                做到什么程度才算成&#13;&#10;            &lt;/Text&gt;&#13;&#10;        &lt;/Box&gt;&#13;&#10;        &lt;Text style={{ fontSize: 15, color: 'rgba(255,255,255,0.7)', fontFamily: '微软雅黑' }}&gt;&#13;&#10;            选题背景&#13;&#10;        &lt;/Text&gt;&#13;&#10;    &lt;/Box&gt;&#13;&#10;&#13;&#10;    &lt;Box style={{ flex: 1, flexDirection: 'column', padding: '32px 40px 0 40px', gap: 22 }}&gt;&#13;&#10;        {/* 引导句 */}&#13;&#10;        &lt;Text style={{ fontSize: 22, color: '#4A5568', fontFamily: '微软雅黑' }}&gt;&#13;&#10;            三条验收判据先定下来，再做实现。每一条都落到可以逐项核对的机制上，而不是一句「能跑通」。&#13;&#10;        &lt;/Text&gt;&#13;&#10;&#13;&#10;        {/* KPI 四联数 */}&#13;&#10;        &lt;Box style={{ flexDirection: 'row', gap: 18 }}&gt;&#13;&#10;            &lt;Box style={{ flex: 1, height: 148, background: '#F0F5FC', border: { top: { width: 4, color: '#1E4FA8' } }, flexDirection: 'column', justifyContent: 'center', alignItems: 'center', gap: 6 }}&gt;&#13;&#10;                &lt;Text style={{ fontSize: 72, fontWeight: 'bold', color: '#0E3F8C', fontFamily: 'Times New Roman', lineHeight: 1 }}&gt;7&lt;/Text&gt;&#13;&#10;                &lt;Text style={{ fontSize: 17, color: '#4A5568', fontFamily: '微软雅黑' }}&gt;语义层登记指标&lt;/Text&gt;&#13;&#10;            &lt;/Box&gt;&#13;&#10;            &lt;Box style={{ flex: 1, height: 148, background: '#F0F5FC', border: { top: { width: 4, color: '#1E4FA8' } }, flexDirection: 'column', justifyContent: 'center', alignItems: 'center', gap: 6 }}&gt;&#13;&#10;                &lt;Text style={{ fontSize: 72, fontWeight: 'bold', color: '#0E3F8C', fontFamily: 'Times New Roman', lineHeight: 1 }}&gt;9&lt;/Text&gt;&#13;&#10;                &lt;Text style={{ fontSize: 17, color: '#4A5568', fontFamily: '微软雅黑' }}&gt;SQL 守卫规则&lt;/Text&gt;&#13;&#10;            &lt;/Box&gt;&#13;&#10;            &lt;Box style={{ flex: 1, height: 148, background: '#F0F5FC', border: { top: { width: 4, color: '#1E4FA8' } }, flexDirection: 'column', justifyContent: 'center', alignItems: 'center', gap: 6 }}&gt;&#13;&#10;                &lt;Text style={{ fontSize: 72, fontWeight: 'bold', color: '#0E3F8C', fontFamily: 'Times New Roman', lineHeight: 1 }}&gt;14&lt;/Text&gt;&#13;&#10;                &lt;Text style={{ fontSize: 17, color: '#4A5568', fontFamily: '微软雅黑' }}&gt;状态机节点&lt;/Text&gt;&#13;&#10;            &lt;/Box&gt;&#13;&#10;            &lt;Box style={{ flex: 1, height: 148, background: '#E8EFF8', border: { top: { width: 4, color: '#D9534F' } }, flexDirection: 'column', justifyContent: 'center', alignItems: 'center', gap: 6 }}&gt;&#13;&#10;                &lt;Text style={{ fontSize: 72, fontWeight: 'bold', color: '#0E3F8C', fontFamily: 'Times New Roman', lineHeight: 1 }}&gt;544&lt;/Text&gt;&#13;&#10;                &lt;Text style={{ fontSize: 17, color: '#4A5568', fontFamily: '微软雅黑' }}&gt;单元测试通过&lt;/Text&gt;&#13;&#10;            &lt;/Box&gt;&#13;&#10;        &lt;/Box&gt;&#13;&#10;&#13;&#10;        {/* 验收口径表 */}&#13;&#10;        &lt;Table&#13;&#10;            style={{ width: '100%', height: 246 }}&#13;&#10;            defaultTextStyle={{ fontSize: 18, textAlign: 'left', color: '#1A2230', fontFamily: '微软雅黑' }}&#13;&#10;            defaultCellStyle={{&#13;&#10;                border: {&#13;&#10;                    left: { width: 1, color: '#D6DCE5' },&#13;&#10;                    right: { width: 1, color: '#D6DCE5' },&#13;&#10;                    top: { width: 1, color: '#D6DCE5' },&#13;&#10;                    bottom: { width: 1, color: '#D6DCE5' },&#13;&#10;                },&#13;&#10;                padding: { left: 16, right: 16, top: 10, bottom: 10 },&#13;&#10;            }}&#13;&#10;            cells={[&#13;&#10;                [&#13;&#10;                    { text: '验收维度', textStyle: { bold: true, color: '#FFFFFF', fontSize: 19 }, cellStyle: { background: { color: '#0E3F8C' } } },&#13;&#10;                    { text: '判据', textStyle: { bold: true, color: '#FFFFFF', fontSize: 19 }, cellStyle: { background: { color: '#0E3F8C' } } },&#13;&#10;                    { text: '当前状态（实测）', textStyle: { bold: true, color: '#FFFFFF', fontSize: 19 }, cellStyle: { background: { color: '#0E3F8C' } } },&#13;&#10;                ],&#13;&#10;                [&#13;&#10;                    { text: '口径可追溯', textStyle: { bold: true, color: '#1E4FA8' } },&#13;&#10;                    '每个业务指标的聚合表达式在语义层显式声明，不由模型临场决定',&#13;&#10;                    { text: '7 个指标全部登记，含必带过滤条件与口径边界说明', textStyle: { color: '#4A5568' } },&#13;&#10;                ],&#13;&#10;                [&#13;&#10;                    { text: '过程可核对', textStyle: { bold: true, color: '#1E4FA8' }, cellStyle: { background: { color: '#F7F9FC' } } },&#13;&#10;                    { text: '每轮回答可展开执行的 SQL、阶段时序与采用的指标口径', cellStyle: { background: { color: '#F7F9FC' } } },&#13;&#10;                    { text: '14 节点全链路留痕，前端逐项可查', textStyle: { color: '#4A5568' }, cellStyle: { background: { color: '#F7F9FC' } } },&#13;&#10;                ],&#13;&#10;                [&#13;&#10;                    { text: '越权不发生', textStyle: { bold: true, color: '#1E4FA8' } },&#13;&#10;                    '非查询语句、未登记的表与字段，在执行之前就被拒绝',&#13;&#10;                    { text: '9 条规则 + 544 条测试覆盖，安全组 8 项全通过', textStyle: { color: '#4A5568' } },&#13;&#10;                ],&#13;&#10;            ]}&#13;&#10;        /&gt;&#13;&#10;&#13;&#10;        &lt;Text style={{ fontSize: 14, color: '#8B97A8', fontFamily: '微软雅黑' }}&gt;&#13;&#10;            数据来源：GET /api/health 与 backend/app/db/guard.py、agent/graph.py；测试数取自 2026-09-29 本机 pytest -q 实跑结果。&#13;&#10;        &lt;/Text&gt;&#13;&#10;    &lt;/Box&gt;&#13;&#10;&#13;&#10;    {/* D 页脚 */}&#13;&#10;    &lt;Box style={{ width: '100%', height: 40, flexDirection: 'row', alignItems: 'center', justifyContent: 'space-between', padding: '0 40px' }}&gt;&#13;&#10;        &lt;Text style={{ fontSize: 14, color: '#8B97A8', fontFamily: '微软雅黑' }}&gt;Text2SQL 电商数据分析 Agent&lt;/Text&gt;&#13;&#10;        &lt;Text style={{ fontSize: 15, color: '#1E4FA8', fontFamily: 'Times New Roman' }}&gt;04 / 16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矩形 3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50" name="矩形 349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351" name="矩形 350"/>
          <p:cNvSpPr/>
          <p:nvPr/>
        </p:nvSpPr>
        <p:spPr>
          <a:xfrm>
            <a:off x="381000" y="228600"/>
            <a:ext cx="47625" cy="247650"/>
          </a:xfrm>
          <a:prstGeom prst="rect">
            <a:avLst/>
          </a:prstGeom>
          <a:solidFill>
            <a:srgbClr val="3D7BD9"/>
          </a:solidFill>
        </p:spPr>
        <p:txBody>
          <a:bodyPr/>
          <a:p/>
        </p:txBody>
      </p:sp>
      <p:sp>
        <p:nvSpPr>
          <p:cNvPr id="352" name="文本框 351" descr="{&quot;isTemplate&quot;:true,&quot;type&quot;:&quot;text&quot;}"/>
          <p:cNvSpPr txBox="1"/>
          <p:nvPr/>
        </p:nvSpPr>
        <p:spPr>
          <a:xfrm>
            <a:off x="561975" y="161925"/>
            <a:ext cx="27432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做到什么程度才算成</a:t>
            </a:r>
            <a:endParaRPr lang="zh-CN"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3" name="文本框 352" descr="{&quot;isTemplate&quot;:true,&quot;type&quot;:&quot;text&quot;}"/>
          <p:cNvSpPr txBox="1"/>
          <p:nvPr/>
        </p:nvSpPr>
        <p:spPr>
          <a:xfrm>
            <a:off x="11239500" y="257175"/>
            <a:ext cx="571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选题背景</a:t>
            </a:r>
            <a:endParaRPr lang="zh-CN" sz="1125">
              <a:solidFill>
                <a:srgbClr val="FFFFFF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4" name="文本框 353" descr="{&quot;isTemplate&quot;:true,&quot;type&quot;:&quot;text&quot;}"/>
          <p:cNvSpPr txBox="1"/>
          <p:nvPr/>
        </p:nvSpPr>
        <p:spPr>
          <a:xfrm>
            <a:off x="381000" y="990600"/>
            <a:ext cx="11430000" cy="25717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sz="16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先定下来</a:t>
            </a:r>
            <a:r>
              <a:rPr lang="zh-CN" sz="16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三条验收判据，再做实现。确保每一条都落到可以逐项核对的机制上，而不是一句轻飘飘</a:t>
            </a:r>
            <a:r>
              <a:rPr lang="zh-CN" sz="16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的「能跑通」。</a:t>
            </a:r>
            <a:endParaRPr lang="zh-CN" sz="16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5" name="矩形 354"/>
          <p:cNvSpPr/>
          <p:nvPr/>
        </p:nvSpPr>
        <p:spPr>
          <a:xfrm>
            <a:off x="381000" y="1457325"/>
            <a:ext cx="2733675" cy="1409700"/>
          </a:xfrm>
          <a:prstGeom prst="rect">
            <a:avLst/>
          </a:prstGeom>
          <a:solidFill>
            <a:srgbClr val="F0F5FC"/>
          </a:solidFill>
        </p:spPr>
        <p:txBody>
          <a:bodyPr/>
          <a:p/>
        </p:txBody>
      </p:sp>
      <p:sp>
        <p:nvSpPr>
          <p:cNvPr id="356" name="文本框 355" descr="{&quot;isTemplate&quot;:true,&quot;type&quot;:&quot;text&quot;}"/>
          <p:cNvSpPr txBox="1"/>
          <p:nvPr/>
        </p:nvSpPr>
        <p:spPr>
          <a:xfrm>
            <a:off x="1581150" y="1619250"/>
            <a:ext cx="342900" cy="8286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0E3F8C"/>
                </a:solidFill>
                <a:latin typeface="Times New Roman" panose="02020603050405020304"/>
                <a:ea typeface="Times New Roman" panose="02020603050405020304"/>
              </a:rPr>
              <a:t>7</a:t>
            </a:r>
            <a:endParaRPr lang="en-US" sz="5400" b="1">
              <a:solidFill>
                <a:srgbClr val="0E3F8C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57" name="文本框 356" descr="{&quot;isTemplate&quot;:true,&quot;type&quot;:&quot;text&quot;}"/>
          <p:cNvSpPr txBox="1"/>
          <p:nvPr/>
        </p:nvSpPr>
        <p:spPr>
          <a:xfrm>
            <a:off x="1181100" y="2505075"/>
            <a:ext cx="11334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语义层登记指标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8" name="矩形 357"/>
          <p:cNvSpPr/>
          <p:nvPr/>
        </p:nvSpPr>
        <p:spPr>
          <a:xfrm>
            <a:off x="3286125" y="1457325"/>
            <a:ext cx="2724150" cy="1409700"/>
          </a:xfrm>
          <a:prstGeom prst="rect">
            <a:avLst/>
          </a:prstGeom>
          <a:solidFill>
            <a:srgbClr val="F0F5FC"/>
          </a:solidFill>
        </p:spPr>
        <p:txBody>
          <a:bodyPr/>
          <a:p/>
        </p:txBody>
      </p:sp>
      <p:sp>
        <p:nvSpPr>
          <p:cNvPr id="359" name="文本框 358" descr="{&quot;isTemplate&quot;:true,&quot;type&quot;:&quot;text&quot;}"/>
          <p:cNvSpPr txBox="1"/>
          <p:nvPr/>
        </p:nvSpPr>
        <p:spPr>
          <a:xfrm>
            <a:off x="4476750" y="1619250"/>
            <a:ext cx="342900" cy="8286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0E3F8C"/>
                </a:solidFill>
                <a:latin typeface="Times New Roman" panose="02020603050405020304"/>
                <a:ea typeface="Times New Roman" panose="02020603050405020304"/>
              </a:rPr>
              <a:t>9</a:t>
            </a:r>
            <a:endParaRPr lang="en-US" sz="5400" b="1">
              <a:solidFill>
                <a:srgbClr val="0E3F8C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60" name="文本框 359" descr="{&quot;isTemplate&quot;:true,&quot;type&quot;:&quot;text&quot;}"/>
          <p:cNvSpPr txBox="1"/>
          <p:nvPr/>
        </p:nvSpPr>
        <p:spPr>
          <a:xfrm>
            <a:off x="4152900" y="2505075"/>
            <a:ext cx="9906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SQL 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守卫规则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1" name="矩形 360"/>
          <p:cNvSpPr/>
          <p:nvPr/>
        </p:nvSpPr>
        <p:spPr>
          <a:xfrm>
            <a:off x="6181725" y="1457325"/>
            <a:ext cx="2733675" cy="1409700"/>
          </a:xfrm>
          <a:prstGeom prst="rect">
            <a:avLst/>
          </a:prstGeom>
          <a:solidFill>
            <a:srgbClr val="F0F5FC"/>
          </a:solidFill>
        </p:spPr>
        <p:txBody>
          <a:bodyPr/>
          <a:p/>
        </p:txBody>
      </p:sp>
      <p:sp>
        <p:nvSpPr>
          <p:cNvPr id="362" name="文本框 361" descr="{&quot;isTemplate&quot;:true,&quot;type&quot;:&quot;text&quot;}"/>
          <p:cNvSpPr txBox="1"/>
          <p:nvPr/>
        </p:nvSpPr>
        <p:spPr>
          <a:xfrm>
            <a:off x="7210425" y="1619250"/>
            <a:ext cx="685800" cy="8286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0E3F8C"/>
                </a:solidFill>
                <a:latin typeface="Times New Roman" panose="02020603050405020304"/>
                <a:ea typeface="Times New Roman" panose="02020603050405020304"/>
              </a:rPr>
              <a:t>14</a:t>
            </a:r>
            <a:endParaRPr lang="en-US" sz="5400" b="1">
              <a:solidFill>
                <a:srgbClr val="0E3F8C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63" name="文本框 362" descr="{&quot;isTemplate&quot;:true,&quot;type&quot;:&quot;text&quot;}"/>
          <p:cNvSpPr txBox="1"/>
          <p:nvPr/>
        </p:nvSpPr>
        <p:spPr>
          <a:xfrm>
            <a:off x="7143750" y="2505075"/>
            <a:ext cx="8096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状态机节点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4" name="矩形 363"/>
          <p:cNvSpPr/>
          <p:nvPr/>
        </p:nvSpPr>
        <p:spPr>
          <a:xfrm>
            <a:off x="9086850" y="1457325"/>
            <a:ext cx="2724150" cy="1409700"/>
          </a:xfrm>
          <a:prstGeom prst="rect">
            <a:avLst/>
          </a:prstGeom>
          <a:solidFill>
            <a:srgbClr val="E8EFF8"/>
          </a:solidFill>
        </p:spPr>
        <p:txBody>
          <a:bodyPr/>
          <a:p/>
        </p:txBody>
      </p:sp>
      <p:sp>
        <p:nvSpPr>
          <p:cNvPr id="365" name="文本框 364" descr="{&quot;isTemplate&quot;:true,&quot;type&quot;:&quot;text&quot;}"/>
          <p:cNvSpPr txBox="1"/>
          <p:nvPr/>
        </p:nvSpPr>
        <p:spPr>
          <a:xfrm>
            <a:off x="9934575" y="1619250"/>
            <a:ext cx="1028700" cy="8286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0E3F8C"/>
                </a:solidFill>
                <a:latin typeface="Times New Roman" panose="02020603050405020304"/>
                <a:ea typeface="Times New Roman" panose="02020603050405020304"/>
              </a:rPr>
              <a:t>544</a:t>
            </a:r>
            <a:endParaRPr lang="en-US" sz="5400" b="1">
              <a:solidFill>
                <a:srgbClr val="0E3F8C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66" name="文本框 365" descr="{&quot;isTemplate&quot;:true,&quot;type&quot;:&quot;text&quot;}"/>
          <p:cNvSpPr txBox="1"/>
          <p:nvPr/>
        </p:nvSpPr>
        <p:spPr>
          <a:xfrm>
            <a:off x="9963150" y="2505075"/>
            <a:ext cx="9715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单元测试通过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67" name="表格 366"/>
          <p:cNvGraphicFramePr/>
          <p:nvPr/>
        </p:nvGraphicFramePr>
        <p:xfrm>
          <a:off x="381000" y="3076575"/>
          <a:ext cx="11430000" cy="2343150"/>
        </p:xfrm>
        <a:graphic>
          <a:graphicData uri="http://schemas.openxmlformats.org/drawingml/2006/table">
            <a:tbl>
              <a:tblPr/>
              <a:tblGrid>
                <a:gridCol w="1081334"/>
                <a:gridCol w="5771455"/>
                <a:gridCol w="4577211"/>
              </a:tblGrid>
              <a:tr h="61012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验收维度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判据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当前状态（实测）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</a:tr>
              <a:tr h="57767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E4F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口径可追溯</a:t>
                      </a:r>
                      <a:endParaRPr sz="1350" b="1">
                        <a:solidFill>
                          <a:srgbClr val="1E4FA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每个业务指标的聚合表达式在语义层显式声明，不由模型临场决定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4A556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 个指标全部登记，含必带过滤条件与口径边界说明</a:t>
                      </a:r>
                      <a:endParaRPr sz="1350">
                        <a:solidFill>
                          <a:srgbClr val="4A556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7767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E4F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过程可核对</a:t>
                      </a:r>
                      <a:endParaRPr sz="1350" b="1">
                        <a:solidFill>
                          <a:srgbClr val="1E4FA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每轮回答可展开执行的 SQL、阶段时序与采用的指标口径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4A556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14 节点全链路留痕，前端逐项可查</a:t>
                      </a:r>
                      <a:endParaRPr sz="1350">
                        <a:solidFill>
                          <a:srgbClr val="4A556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</a:tr>
              <a:tr h="57767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E4F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越权不发生</a:t>
                      </a:r>
                      <a:endParaRPr sz="1350" b="1">
                        <a:solidFill>
                          <a:srgbClr val="1E4FA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非查询语句、未登记的表与字段，在执行之前就被拒绝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4A556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 条规则 + 544 条测试覆盖，安全组 8 项全通过</a:t>
                      </a:r>
                      <a:endParaRPr sz="1350">
                        <a:solidFill>
                          <a:srgbClr val="4A556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68" name="文本框 367" descr="{&quot;isTemplate&quot;:true,&quot;type&quot;:&quot;text&quot;}"/>
          <p:cNvSpPr txBox="1"/>
          <p:nvPr/>
        </p:nvSpPr>
        <p:spPr>
          <a:xfrm>
            <a:off x="381000" y="5629275"/>
            <a:ext cx="11430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数据来源：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GET /api/health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backend/app/db/guard.py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agent/graph.py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；测试数取自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2026-09-29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本机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pytest -q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实跑结果。</a:t>
            </a:r>
            <a:endParaRPr lang="zh-CN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9" name="文本框 368" descr="{&quot;isTemplate&quot;:true,&quot;type&quot;:&quot;text&quot;}"/>
          <p:cNvSpPr txBox="1"/>
          <p:nvPr/>
        </p:nvSpPr>
        <p:spPr>
          <a:xfrm>
            <a:off x="381000" y="6591300"/>
            <a:ext cx="17811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Text2SQL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电商数据分析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Agent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0" name="文本框 369" descr="{&quot;isTemplate&quot;:true,&quot;type&quot;:&quot;text&quot;}"/>
          <p:cNvSpPr txBox="1"/>
          <p:nvPr/>
        </p:nvSpPr>
        <p:spPr>
          <a:xfrm>
            <a:off x="11410950" y="6581775"/>
            <a:ext cx="4000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Times New Roman" panose="02020603050405020304"/>
                <a:ea typeface="Times New Roman" panose="02020603050405020304"/>
              </a:rPr>
              <a:t>04 / 16</a:t>
            </a:r>
            <a:endParaRPr lang="en-US" sz="1125">
              <a:solidFill>
                <a:srgbClr val="1E4FA8"/>
              </a:solidFill>
              <a:latin typeface="Times New Roman" panose="02020603050405020304"/>
              <a:ea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1" name="" descr="&lt;Slide style={{ background: '#FFFFFF', padding: 0, flexDirection: 'column' }}&gt;&#13;&#10;    {/* A3 页眉 */}&#13;&#10;    &lt;Box style={{&#13;&#10;        width: '100%', height: 72, background: '#0E3F8C',&#13;&#10;        flexDirection: 'row', alignItems: 'center', justifyContent: 'space-between',&#13;&#10;        padding: '0 40px',&#13;&#10;    }}&gt;&#13;&#10;        &lt;Box style={{ flexDirection: 'row', alignItems: 'center', gap: 14 }}&gt;&#13;&#10;            &lt;Box style={{ width: 5, height: 26, background: '#3D7BD9' }} /&gt;&#13;&#10;            &lt;Text style={{ fontSize: 32, fontWeight: 'bold', color: '#FFFFFF', fontFamily: '微软雅黑' }}&gt;&#13;&#10;                六层职责，单进程部署&#13;&#10;            &lt;/Text&gt;&#13;&#10;        &lt;/Box&gt;&#13;&#10;        &lt;Text style={{ fontSize: 15, color: 'rgba(255,255,255,0.7)', fontFamily: '微软雅黑' }}&gt;&#13;&#10;            系统设计&#13;&#10;        &lt;/Text&gt;&#13;&#10;    &lt;/Box&gt;&#13;&#10;&#13;&#10;    &lt;Box style={{ flex: 1, flexDirection: 'column', padding: '28px 40px 0 40px', gap: 18 }}&gt;&#13;&#10;        {/* 六层分层图 */}&#13;&#10;        &lt;Box style={{ flexDirection: 'row', alignItems: 'center', gap: 12 }}&gt;&#13;&#10;            &lt;Box style={{ width: 168, height: 52, background: '#0E3F8C', borderRadius: 3, alignItems: 'center', justifyContent: 'center' }}&gt;&#13;&#10;                &lt;Text style={{ fontSize: 24, fontWeight: 'bold', color: '#FFFFFF', fontFamily: 'Times New Roman' }}&gt;api&lt;/Text&gt;&#13;&#10;            &lt;/Box&gt;&#13;&#10;            &lt;Box style={{ flex: 1, height: 52, background: '#F7F9FC', border: { left: { width: 3, color: '#0E3F8C' } }, flexDirection: 'row', alignItems: 'center', padding: '0 18px' }}&gt;&#13;&#10;                &lt;Text style={{ fontSize: 21, color: '#1A2230', fontFamily: '微软雅黑' }}&gt;&#13;&#10;                    接口层 · FastAPI 路由、SSE 流式推送、会话与审计查询&#13;&#10;                &lt;/Text&gt;&#13;&#10;            &lt;/Box&gt;&#13;&#10;        &lt;/Box&gt;&#13;&#10;&#13;&#10;        &lt;Box style={{ flexDirection: 'row', alignItems: 'center', gap: 12 }}&gt;&#13;&#10;            &lt;Box style={{ width: 168, height: 52, background: '#0E3F8C', borderRadius: 3, alignItems: 'center', justifyContent: 'center' }}&gt;&#13;&#10;                &lt;Text style={{ fontSize: 24, fontWeight: 'bold', color: '#FFFFFF', fontFamily: 'Times New Roman' }}&gt;agent&lt;/Text&gt;&#13;&#10;            &lt;/Box&gt;&#13;&#10;            &lt;Box style={{ flex: 1, height: 52, background: '#F7F9FC', border: { left: { width: 3, color: '#0E3F8C' } }, flexDirection: 'row', alignItems: 'center', padding: '0 18px' }}&gt;&#13;&#10;                &lt;Text style={{ fontSize: 21, color: '#1A2230', fontFamily: '微软雅黑' }}&gt;&#13;&#10;                    编排层 · LangGraph 状态机，十四个节点与重试回环&#13;&#10;                &lt;/Text&gt;&#13;&#10;            &lt;/Box&gt;&#13;&#10;        &lt;/Box&gt;&#13;&#10;&#13;&#10;        &lt;Box style={{ flexDirection: 'row', alignItems: 'center', gap: 12 }}&gt;&#13;&#10;            &lt;Box style={{ width: 168, height: 52, background: '#1E4FA8', borderRadius: 3, alignItems: 'center', justifyContent: 'center' }}&gt;&#13;&#10;                &lt;Text style={{ fontSize: 24, fontWeight: 'bold', color: '#FFFFFF', fontFamily: 'Times New Roman' }}&gt;semantic&lt;/Text&gt;&#13;&#10;            &lt;/Box&gt;&#13;&#10;            &lt;Box style={{ flex: 1, height: 52, background: '#F7F9FC', border: { left: { width: 3, color: '#1E4FA8' } }, flexDirection: 'row', alignItems: 'center', padding: '0 18px' }}&gt;&#13;&#10;                &lt;Text style={{ fontSize: 21, color: '#1A2230', fontFamily: '微软雅黑' }}&gt;&#13;&#10;                    语义层 · 指标口径与表元数据，纯函数，不调模型也不连库&#13;&#10;                &lt;/Text&gt;&#13;&#10;            &lt;/Box&gt;&#13;&#10;        &lt;/Box&gt;&#13;&#10;&#13;&#10;        &lt;Box style={{ flexDirection: 'row', alignItems: 'center', gap: 12 }}&gt;&#13;&#10;            &lt;Box style={{ width: 168, height: 52, background: '#1E4FA8', borderRadius: 3, alignItems: 'center', justifyContent: 'center' }}&gt;&#13;&#10;                &lt;Text style={{ fontSize: 24, fontWeight: 'bold', color: '#FFFFFF', fontFamily: 'Times New Roman' }}&gt;llm&lt;/Text&gt;&#13;&#10;            &lt;/Box&gt;&#13;&#10;            &lt;Box style={{ flex: 1, height: 52, background: '#F7F9FC', border: { left: { width: 3, color: '#1E4FA8' } }, flexDirection: 'row', alignItems: 'center', padding: '0 18px' }}&gt;&#13;&#10;                &lt;Text style={{ fontSize: 21, color: '#1A2230', fontFamily: '微软雅黑' }}&gt;&#13;&#10;                    模型层 · Prompt 组装、结构化输出校验、失败重试与降级&#13;&#10;                &lt;/Text&gt;&#13;&#10;            &lt;/Box&gt;&#13;&#10;        &lt;/Box&gt;&#13;&#10;&#13;&#10;        &lt;Box style={{ flexDirection: 'row', alignItems: 'center', gap: 12 }}&gt;&#13;&#10;            &lt;Box style={{ width: 168, height: 52, background: '#3D7BD9', borderRadius: 3, alignItems: 'center', justifyContent: 'center' }}&gt;&#13;&#10;                &lt;Text style={{ fontSize: 24, fontWeight: 'bold', color: '#FFFFFF', fontFamily: 'Times New Roman' }}&gt;db&lt;/Text&gt;&#13;&#10;            &lt;/Box&gt;&#13;&#10;            &lt;Box style={{ flex: 1, height: 52, background: '#F7F9FC', border: { left: { width: 3, color: '#3D7BD9' } }, flexDirection: 'row', alignItems: 'center', padding: '0 18px' }}&gt;&#13;&#10;                &lt;Text style={{ fontSize: 21, color: '#1A2230', fontFamily: '微软雅黑' }}&gt;&#13;&#10;                    数据层 · Repository 抽象、九条 SQL 守卫、SQLite 只读连接&#13;&#10;                &lt;/Text&gt;&#13;&#10;            &lt;/Box&gt;&#13;&#10;        &lt;/Box&gt;&#13;&#10;&#13;&#10;        &lt;Box style={{ flexDirection: 'row', alignItems: 'center', gap: 12 }}&gt;&#13;&#10;            &lt;Box style={{ width: 168, height: 52, background: '#3D7BD9', borderRadius: 3, alignItems: 'center', justifyContent: 'center' }}&gt;&#13;&#10;                &lt;Text style={{ fontSize: 24, fontWeight: 'bold', color: '#FFFFFF', fontFamily: 'Times New Roman' }}&gt;chart&lt;/Text&gt;&#13;&#10;            &lt;/Box&gt;&#13;&#10;            &lt;Box style={{ flex: 1, height: 52, background: '#F7F9FC', border: { left: { width: 3, color: '#3D7BD9' } }, flexDirection: 'row', alignItems: 'center', padding: '0 18px' }}&gt;&#13;&#10;                &lt;Text style={{ fontSize: 21, color: '#1A2230', fontFamily: '微软雅黑' }}&gt;&#13;&#10;                    展现层 · 图型选择规则与 ECharts 配置生成，前端只负责渲染&#13;&#10;                &lt;/Text&gt;&#13;&#10;            &lt;/Box&gt;&#13;&#10;        &lt;/Box&gt;&#13;&#10;&#13;&#10;        {/* 三条硬约束 */}&#13;&#10;        &lt;Box style={{ flexDirection: 'row', gap: 14, marginTop: 4 }}&gt;&#13;&#10;            &lt;Box style={{ flex: 1, background: '#E8EFF8', padding: '12px 16px', flexDirection: 'column', gap: 4 }}&gt;&#13;&#10;                &lt;Text style={{ fontSize: 20, fontWeight: 'bold', color: '#0E3F8C', fontFamily: '微软雅黑' }}&gt;约束一&lt;/Text&gt;&#13;&#10;                &lt;Text style={{ fontSize: 18, color: '#4A5568', fontFamily: '微软雅黑', lineHeight: 1.5 }}&gt;&#13;&#10;                    节点层不出现数据库连接，只能调仓储层暴露的方法&#13;&#10;                &lt;/Text&gt;&#13;&#10;            &lt;/Box&gt;&#13;&#10;            &lt;Box style={{ flex: 1, background: '#E8EFF8', padding: '12px 16px', flexDirection: 'column', gap: 4 }}&gt;&#13;&#10;                &lt;Text style={{ fontSize: 20, fontWeight: 'bold', color: '#0E3F8C', fontFamily: '微软雅黑' }}&gt;约束二&lt;/Text&gt;&#13;&#10;                &lt;Text style={{ fontSize: 18, color: '#4A5568', fontFamily: '微软雅黑', lineHeight: 1.5 }}&gt;&#13;&#10;                    语义层不调用模型、不执行 SQL，保持纯函数&#13;&#10;                &lt;/Text&gt;&#13;&#10;            &lt;/Box&gt;&#13;&#10;            &lt;Box style={{ flex: 1, background: '#E8EFF8', padding: '12px 16px', flexDirection: 'column', gap: 4 }}&gt;&#13;&#10;                &lt;Text style={{ fontSize: 20, fontWeight: 'bold', color: '#0E3F8C', fontFamily: '微软雅黑' }}&gt;约束三&lt;/Text&gt;&#13;&#10;                &lt;Text style={{ fontSize: 18, color: '#4A5568', fontFamily: '微软雅黑', lineHeight: 1.5 }}&gt;&#13;&#10;                    密钥只出现在环境配置，代码与配置文件中不出现字面量&#13;&#10;                &lt;/Text&gt;&#13;&#10;            &lt;/Box&gt;&#13;&#10;        &lt;/Box&gt;&#13;&#10;    &lt;/Box&gt;&#13;&#10;&#13;&#10;    {/* D 页脚 */}&#13;&#10;    &lt;Box style={{ width: '100%', height: 40, flexDirection: 'row', alignItems: 'center', justifyContent: 'space-between', padding: '0 40px' }}&gt;&#13;&#10;        &lt;Text style={{ fontSize: 14, color: '#8B97A8', fontFamily: '微软雅黑' }}&gt;Text2SQL 电商数据分析 Agent&lt;/Text&gt;&#13;&#10;        &lt;Text style={{ fontSize: 15, color: '#1E4FA8', fontFamily: 'Times New Roman' }}&gt;05 / 16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矩形 37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73" name="矩形 37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374" name="矩形 373"/>
          <p:cNvSpPr/>
          <p:nvPr/>
        </p:nvSpPr>
        <p:spPr>
          <a:xfrm>
            <a:off x="381000" y="228600"/>
            <a:ext cx="47625" cy="247650"/>
          </a:xfrm>
          <a:prstGeom prst="rect">
            <a:avLst/>
          </a:prstGeom>
          <a:solidFill>
            <a:srgbClr val="3D7BD9"/>
          </a:solidFill>
        </p:spPr>
        <p:txBody>
          <a:bodyPr/>
          <a:p/>
        </p:txBody>
      </p:sp>
      <p:sp>
        <p:nvSpPr>
          <p:cNvPr id="375" name="文本框 374" descr="{&quot;isTemplate&quot;:true,&quot;type&quot;:&quot;text&quot;}"/>
          <p:cNvSpPr txBox="1"/>
          <p:nvPr/>
        </p:nvSpPr>
        <p:spPr>
          <a:xfrm>
            <a:off x="561975" y="161925"/>
            <a:ext cx="30480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六层职责，单进程部署</a:t>
            </a:r>
            <a:endParaRPr lang="zh-CN"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6" name="文本框 375" descr="{&quot;isTemplate&quot;:true,&quot;type&quot;:&quot;text&quot;}"/>
          <p:cNvSpPr txBox="1"/>
          <p:nvPr/>
        </p:nvSpPr>
        <p:spPr>
          <a:xfrm>
            <a:off x="11239500" y="257175"/>
            <a:ext cx="571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系统设计</a:t>
            </a:r>
            <a:endParaRPr lang="zh-CN" sz="1125">
              <a:solidFill>
                <a:srgbClr val="FFFFFF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7" name="圆角矩形 376"/>
          <p:cNvSpPr/>
          <p:nvPr/>
        </p:nvSpPr>
        <p:spPr>
          <a:xfrm>
            <a:off x="381000" y="952500"/>
            <a:ext cx="1600200" cy="495300"/>
          </a:xfrm>
          <a:prstGeom prst="roundRect">
            <a:avLst>
              <a:gd name="adj" fmla="val 5769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378" name="文本框 377" descr="{&quot;isTemplate&quot;:true,&quot;type&quot;:&quot;text&quot;}"/>
          <p:cNvSpPr txBox="1"/>
          <p:nvPr/>
        </p:nvSpPr>
        <p:spPr>
          <a:xfrm>
            <a:off x="1028700" y="1066800"/>
            <a:ext cx="31432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</a:rPr>
              <a:t>api</a:t>
            </a:r>
            <a:endParaRPr lang="en-US" sz="18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79" name="矩形 378"/>
          <p:cNvSpPr/>
          <p:nvPr/>
        </p:nvSpPr>
        <p:spPr>
          <a:xfrm>
            <a:off x="2095500" y="952500"/>
            <a:ext cx="9715500" cy="49530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380" name="文本框 379" descr="{&quot;isTemplate&quot;:true,&quot;type&quot;:&quot;text&quot;}"/>
          <p:cNvSpPr txBox="1"/>
          <p:nvPr/>
        </p:nvSpPr>
        <p:spPr>
          <a:xfrm>
            <a:off x="2266950" y="1076325"/>
            <a:ext cx="49244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接口层</a:t>
            </a:r>
            <a:r>
              <a:rPr lang="en-US" sz="15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· FastAPI </a:t>
            </a:r>
            <a:r>
              <a:rPr lang="zh-CN" sz="15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路由、</a:t>
            </a:r>
            <a:r>
              <a:rPr lang="en-US" sz="15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SSE </a:t>
            </a:r>
            <a:r>
              <a:rPr lang="zh-CN" sz="15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流式推送、会话与审计查询</a:t>
            </a:r>
            <a:endParaRPr lang="zh-CN" sz="15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1" name="圆角矩形 380"/>
          <p:cNvSpPr/>
          <p:nvPr/>
        </p:nvSpPr>
        <p:spPr>
          <a:xfrm>
            <a:off x="381000" y="1619250"/>
            <a:ext cx="1600200" cy="495300"/>
          </a:xfrm>
          <a:prstGeom prst="roundRect">
            <a:avLst>
              <a:gd name="adj" fmla="val 5769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382" name="文本框 381" descr="{&quot;isTemplate&quot;:true,&quot;type&quot;:&quot;text&quot;}"/>
          <p:cNvSpPr txBox="1"/>
          <p:nvPr/>
        </p:nvSpPr>
        <p:spPr>
          <a:xfrm>
            <a:off x="914400" y="1733550"/>
            <a:ext cx="533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</a:rPr>
              <a:t>agent</a:t>
            </a:r>
            <a:endParaRPr lang="en-US" sz="18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83" name="矩形 382"/>
          <p:cNvSpPr/>
          <p:nvPr/>
        </p:nvSpPr>
        <p:spPr>
          <a:xfrm>
            <a:off x="2095500" y="1619250"/>
            <a:ext cx="9715500" cy="49530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384" name="文本框 383" descr="{&quot;isTemplate&quot;:true,&quot;type&quot;:&quot;text&quot;}"/>
          <p:cNvSpPr txBox="1"/>
          <p:nvPr/>
        </p:nvSpPr>
        <p:spPr>
          <a:xfrm>
            <a:off x="2266950" y="1743075"/>
            <a:ext cx="46196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编排层</a:t>
            </a:r>
            <a:r>
              <a:rPr lang="en-US" sz="15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· LangGraph </a:t>
            </a:r>
            <a:r>
              <a:rPr lang="zh-CN" sz="15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状态机，十四个节点与重试回环</a:t>
            </a:r>
            <a:endParaRPr lang="zh-CN" sz="15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5" name="圆角矩形 384"/>
          <p:cNvSpPr/>
          <p:nvPr/>
        </p:nvSpPr>
        <p:spPr>
          <a:xfrm>
            <a:off x="381000" y="2286000"/>
            <a:ext cx="1600200" cy="495300"/>
          </a:xfrm>
          <a:prstGeom prst="roundRect">
            <a:avLst>
              <a:gd name="adj" fmla="val 5769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386" name="文本框 385" descr="{&quot;isTemplate&quot;:true,&quot;type&quot;:&quot;text&quot;}"/>
          <p:cNvSpPr txBox="1"/>
          <p:nvPr/>
        </p:nvSpPr>
        <p:spPr>
          <a:xfrm>
            <a:off x="752475" y="2400300"/>
            <a:ext cx="8667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</a:rPr>
              <a:t>semantic</a:t>
            </a:r>
            <a:endParaRPr lang="en-US" sz="18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87" name="矩形 386"/>
          <p:cNvSpPr/>
          <p:nvPr/>
        </p:nvSpPr>
        <p:spPr>
          <a:xfrm>
            <a:off x="2095500" y="2286000"/>
            <a:ext cx="9715500" cy="49530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388" name="文本框 387" descr="{&quot;isTemplate&quot;:true,&quot;type&quot;:&quot;text&quot;}"/>
          <p:cNvSpPr txBox="1"/>
          <p:nvPr/>
        </p:nvSpPr>
        <p:spPr>
          <a:xfrm>
            <a:off x="2266950" y="2409825"/>
            <a:ext cx="52006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语义层</a:t>
            </a:r>
            <a:r>
              <a:rPr lang="en-US" sz="15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5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指标口径与表元数据，纯函数，不调模型也不连库</a:t>
            </a:r>
            <a:endParaRPr lang="zh-CN" sz="15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9" name="圆角矩形 388"/>
          <p:cNvSpPr/>
          <p:nvPr/>
        </p:nvSpPr>
        <p:spPr>
          <a:xfrm>
            <a:off x="381000" y="2952750"/>
            <a:ext cx="1600200" cy="495300"/>
          </a:xfrm>
          <a:prstGeom prst="roundRect">
            <a:avLst>
              <a:gd name="adj" fmla="val 5769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390" name="文本框 389" descr="{&quot;isTemplate&quot;:true,&quot;type&quot;:&quot;text&quot;}"/>
          <p:cNvSpPr txBox="1"/>
          <p:nvPr/>
        </p:nvSpPr>
        <p:spPr>
          <a:xfrm>
            <a:off x="1019175" y="3067050"/>
            <a:ext cx="323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</a:rPr>
              <a:t>llm</a:t>
            </a:r>
            <a:endParaRPr lang="en-US" sz="18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91" name="矩形 390"/>
          <p:cNvSpPr/>
          <p:nvPr/>
        </p:nvSpPr>
        <p:spPr>
          <a:xfrm>
            <a:off x="2095500" y="2952750"/>
            <a:ext cx="9715500" cy="49530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392" name="文本框 391" descr="{&quot;isTemplate&quot;:true,&quot;type&quot;:&quot;text&quot;}"/>
          <p:cNvSpPr txBox="1"/>
          <p:nvPr/>
        </p:nvSpPr>
        <p:spPr>
          <a:xfrm>
            <a:off x="2266950" y="3076575"/>
            <a:ext cx="509587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模型层</a:t>
            </a:r>
            <a:r>
              <a:rPr lang="en-US" sz="15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· Prompt </a:t>
            </a:r>
            <a:r>
              <a:rPr lang="zh-CN" sz="15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组装、结构化输出校验、失败重试与降级</a:t>
            </a:r>
            <a:endParaRPr lang="zh-CN" sz="15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3" name="圆角矩形 392"/>
          <p:cNvSpPr/>
          <p:nvPr/>
        </p:nvSpPr>
        <p:spPr>
          <a:xfrm>
            <a:off x="381000" y="3619500"/>
            <a:ext cx="1600200" cy="495300"/>
          </a:xfrm>
          <a:prstGeom prst="roundRect">
            <a:avLst>
              <a:gd name="adj" fmla="val 5769"/>
            </a:avLst>
          </a:prstGeom>
          <a:solidFill>
            <a:srgbClr val="3D7BD9"/>
          </a:solidFill>
        </p:spPr>
        <p:txBody>
          <a:bodyPr/>
          <a:p/>
        </p:txBody>
      </p:sp>
      <p:sp>
        <p:nvSpPr>
          <p:cNvPr id="394" name="文本框 393" descr="{&quot;isTemplate&quot;:true,&quot;type&quot;:&quot;text&quot;}"/>
          <p:cNvSpPr txBox="1"/>
          <p:nvPr/>
        </p:nvSpPr>
        <p:spPr>
          <a:xfrm>
            <a:off x="1057275" y="3733800"/>
            <a:ext cx="2571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</a:rPr>
              <a:t>db</a:t>
            </a:r>
            <a:endParaRPr lang="en-US" sz="18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95" name="矩形 394"/>
          <p:cNvSpPr/>
          <p:nvPr/>
        </p:nvSpPr>
        <p:spPr>
          <a:xfrm>
            <a:off x="2095500" y="3619500"/>
            <a:ext cx="9715500" cy="49530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396" name="文本框 395" descr="{&quot;isTemplate&quot;:true,&quot;type&quot;:&quot;text&quot;}"/>
          <p:cNvSpPr txBox="1"/>
          <p:nvPr/>
        </p:nvSpPr>
        <p:spPr>
          <a:xfrm>
            <a:off x="2266950" y="3743325"/>
            <a:ext cx="53054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数据层</a:t>
            </a:r>
            <a:r>
              <a:rPr lang="en-US" sz="15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· Repository </a:t>
            </a:r>
            <a:r>
              <a:rPr lang="zh-CN" sz="15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抽象、九条</a:t>
            </a:r>
            <a:r>
              <a:rPr lang="en-US" sz="15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SQL </a:t>
            </a:r>
            <a:r>
              <a:rPr lang="zh-CN" sz="15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守卫、</a:t>
            </a:r>
            <a:r>
              <a:rPr lang="en-US" sz="15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SQLite </a:t>
            </a:r>
            <a:r>
              <a:rPr lang="zh-CN" sz="15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只读连接</a:t>
            </a:r>
            <a:endParaRPr lang="zh-CN" sz="15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7" name="圆角矩形 396"/>
          <p:cNvSpPr/>
          <p:nvPr/>
        </p:nvSpPr>
        <p:spPr>
          <a:xfrm>
            <a:off x="381000" y="4286250"/>
            <a:ext cx="1600200" cy="495300"/>
          </a:xfrm>
          <a:prstGeom prst="roundRect">
            <a:avLst>
              <a:gd name="adj" fmla="val 5769"/>
            </a:avLst>
          </a:prstGeom>
          <a:solidFill>
            <a:srgbClr val="3D7BD9"/>
          </a:solidFill>
        </p:spPr>
        <p:txBody>
          <a:bodyPr/>
          <a:p/>
        </p:txBody>
      </p:sp>
      <p:sp>
        <p:nvSpPr>
          <p:cNvPr id="398" name="文本框 397" descr="{&quot;isTemplate&quot;:true,&quot;type&quot;:&quot;text&quot;}"/>
          <p:cNvSpPr txBox="1"/>
          <p:nvPr/>
        </p:nvSpPr>
        <p:spPr>
          <a:xfrm>
            <a:off x="923925" y="4400550"/>
            <a:ext cx="5238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</a:rPr>
              <a:t>chart</a:t>
            </a:r>
            <a:endParaRPr lang="en-US" sz="18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99" name="矩形 398"/>
          <p:cNvSpPr/>
          <p:nvPr/>
        </p:nvSpPr>
        <p:spPr>
          <a:xfrm>
            <a:off x="2095500" y="4286250"/>
            <a:ext cx="9715500" cy="49530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400" name="文本框 399" descr="{&quot;isTemplate&quot;:true,&quot;type&quot;:&quot;text&quot;}"/>
          <p:cNvSpPr txBox="1"/>
          <p:nvPr/>
        </p:nvSpPr>
        <p:spPr>
          <a:xfrm>
            <a:off x="2266950" y="4410075"/>
            <a:ext cx="540067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展现层</a:t>
            </a:r>
            <a:r>
              <a:rPr lang="en-US" sz="15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5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图型选择规则与</a:t>
            </a:r>
            <a:r>
              <a:rPr lang="en-US" sz="15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ECharts </a:t>
            </a:r>
            <a:r>
              <a:rPr lang="zh-CN" sz="15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配置生成，前端只负责渲染</a:t>
            </a:r>
            <a:endParaRPr lang="zh-CN" sz="15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1" name="矩形 400"/>
          <p:cNvSpPr/>
          <p:nvPr/>
        </p:nvSpPr>
        <p:spPr>
          <a:xfrm>
            <a:off x="381000" y="4991100"/>
            <a:ext cx="3724275" cy="1114425"/>
          </a:xfrm>
          <a:prstGeom prst="rect">
            <a:avLst/>
          </a:prstGeom>
          <a:solidFill>
            <a:srgbClr val="E8EFF8"/>
          </a:solidFill>
        </p:spPr>
        <p:txBody>
          <a:bodyPr/>
          <a:p/>
        </p:txBody>
      </p:sp>
      <p:sp>
        <p:nvSpPr>
          <p:cNvPr id="402" name="文本框 401" descr="{&quot;isTemplate&quot;:true,&quot;type&quot;:&quot;text&quot;}"/>
          <p:cNvSpPr txBox="1"/>
          <p:nvPr/>
        </p:nvSpPr>
        <p:spPr>
          <a:xfrm>
            <a:off x="533400" y="5105400"/>
            <a:ext cx="34194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约束一</a:t>
            </a:r>
            <a:endParaRPr lang="zh-CN" sz="15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3" name="文本框 402" descr="{&quot;isTemplate&quot;:true,&quot;type&quot;:&quot;text&quot;}"/>
          <p:cNvSpPr txBox="1"/>
          <p:nvPr/>
        </p:nvSpPr>
        <p:spPr>
          <a:xfrm>
            <a:off x="533400" y="5372100"/>
            <a:ext cx="3419475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节点层不出现数据库连接，只能调仓储层暴露的方法</a:t>
            </a:r>
            <a:endParaRPr lang="zh-CN" sz="13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4" name="矩形 403"/>
          <p:cNvSpPr/>
          <p:nvPr/>
        </p:nvSpPr>
        <p:spPr>
          <a:xfrm>
            <a:off x="4238625" y="4991100"/>
            <a:ext cx="3714750" cy="1114425"/>
          </a:xfrm>
          <a:prstGeom prst="rect">
            <a:avLst/>
          </a:prstGeom>
          <a:solidFill>
            <a:srgbClr val="E8EFF8"/>
          </a:solidFill>
        </p:spPr>
        <p:txBody>
          <a:bodyPr/>
          <a:p/>
        </p:txBody>
      </p:sp>
      <p:sp>
        <p:nvSpPr>
          <p:cNvPr id="405" name="文本框 404" descr="{&quot;isTemplate&quot;:true,&quot;type&quot;:&quot;text&quot;}"/>
          <p:cNvSpPr txBox="1"/>
          <p:nvPr/>
        </p:nvSpPr>
        <p:spPr>
          <a:xfrm>
            <a:off x="4391025" y="5105400"/>
            <a:ext cx="34099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约束二</a:t>
            </a:r>
            <a:endParaRPr lang="zh-CN" sz="15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6" name="文本框 405" descr="{&quot;isTemplate&quot;:true,&quot;type&quot;:&quot;text&quot;}"/>
          <p:cNvSpPr txBox="1"/>
          <p:nvPr/>
        </p:nvSpPr>
        <p:spPr>
          <a:xfrm>
            <a:off x="4391025" y="5372100"/>
            <a:ext cx="340995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语义层不调用模型、不执行</a:t>
            </a:r>
            <a:r>
              <a:rPr 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SQL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，保持纯函数</a:t>
            </a:r>
            <a:endParaRPr lang="zh-CN" sz="13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7" name="矩形 406"/>
          <p:cNvSpPr/>
          <p:nvPr/>
        </p:nvSpPr>
        <p:spPr>
          <a:xfrm>
            <a:off x="8086725" y="4991100"/>
            <a:ext cx="3724275" cy="1114425"/>
          </a:xfrm>
          <a:prstGeom prst="rect">
            <a:avLst/>
          </a:prstGeom>
          <a:solidFill>
            <a:srgbClr val="E8EFF8"/>
          </a:solidFill>
        </p:spPr>
        <p:txBody>
          <a:bodyPr/>
          <a:p/>
        </p:txBody>
      </p:sp>
      <p:sp>
        <p:nvSpPr>
          <p:cNvPr id="408" name="文本框 407" descr="{&quot;isTemplate&quot;:true,&quot;type&quot;:&quot;text&quot;}"/>
          <p:cNvSpPr txBox="1"/>
          <p:nvPr/>
        </p:nvSpPr>
        <p:spPr>
          <a:xfrm>
            <a:off x="8239125" y="5105400"/>
            <a:ext cx="34194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约束三</a:t>
            </a:r>
            <a:endParaRPr lang="zh-CN" sz="15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9" name="文本框 408" descr="{&quot;isTemplate&quot;:true,&quot;type&quot;:&quot;text&quot;}"/>
          <p:cNvSpPr txBox="1"/>
          <p:nvPr/>
        </p:nvSpPr>
        <p:spPr>
          <a:xfrm>
            <a:off x="8239125" y="5372100"/>
            <a:ext cx="3419475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密钥只出现在环境配置，代码与配置文件中不出现字面量</a:t>
            </a:r>
            <a:endParaRPr lang="zh-CN" sz="13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0" name="文本框 409" descr="{&quot;isTemplate&quot;:true,&quot;type&quot;:&quot;text&quot;}"/>
          <p:cNvSpPr txBox="1"/>
          <p:nvPr/>
        </p:nvSpPr>
        <p:spPr>
          <a:xfrm>
            <a:off x="381000" y="6591300"/>
            <a:ext cx="17811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Text2SQL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电商数据分析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Agent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1" name="文本框 410" descr="{&quot;isTemplate&quot;:true,&quot;type&quot;:&quot;text&quot;}"/>
          <p:cNvSpPr txBox="1"/>
          <p:nvPr/>
        </p:nvSpPr>
        <p:spPr>
          <a:xfrm>
            <a:off x="11410950" y="6581775"/>
            <a:ext cx="4000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Times New Roman" panose="02020603050405020304"/>
                <a:ea typeface="Times New Roman" panose="02020603050405020304"/>
              </a:rPr>
              <a:t>05 / 16</a:t>
            </a:r>
            <a:endParaRPr lang="en-US" sz="1125">
              <a:solidFill>
                <a:srgbClr val="1E4FA8"/>
              </a:solidFill>
              <a:latin typeface="Times New Roman" panose="02020603050405020304"/>
              <a:ea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2" name="" descr="&lt;Slide style={{ background: '#FFFFFF', padding: 0, flexDirection: 'column' }}&gt;&#13;&#10;    {/* A3 页眉 */}&#13;&#10;    &lt;Box style={{&#13;&#10;        width: '100%', height: 72, background: '#0E3F8C',&#13;&#10;        flexDirection: 'row', alignItems: 'center', justifyContent: 'space-between',&#13;&#10;        padding: '0 40px',&#13;&#10;    }}&gt;&#13;&#10;        &lt;Box style={{ flexDirection: 'row', alignItems: 'center', gap: 14 }}&gt;&#13;&#10;            &lt;Box style={{ width: 5, height: 26, background: '#3D7BD9' }} /&gt;&#13;&#10;            &lt;Text style={{ fontSize: 32, fontWeight: 'bold', color: '#FFFFFF', fontFamily: '微软雅黑' }}&gt;&#13;&#10;                每个选择都有对应的约束&#13;&#10;            &lt;/Text&gt;&#13;&#10;        &lt;/Box&gt;&#13;&#10;        &lt;Text style={{ fontSize: 15, color: 'rgba(255,255,255,0.7)', fontFamily: '微软雅黑' }}&gt;&#13;&#10;            系统设计&#13;&#10;        &lt;/Text&gt;&#13;&#10;    &lt;/Box&gt;&#13;&#10;&#13;&#10;    &lt;Box style={{ flex: 1, flexDirection: 'column', padding: '24px 40px 0 40px', gap: 10 }}&gt;&#13;&#10;        &lt;Text style={{ fontSize: 21, color: '#4A5568', fontFamily: '微软雅黑' }}&gt;&#13;&#10;            选型不是按流行度排的，每一项都能指回一条必须满足的约束。版本号为本机实测，不是文档里的参考值。&#13;&#10;        &lt;/Text&gt;&#13;&#10;&#13;&#10;        {/* 表头 */}&#13;&#10;        &lt;Box style={{ flexDirection: 'row', alignItems: 'center', height: 44, background: '#0E3F8C', padding: '0 16px' }}&gt;&#13;&#10;            &lt;Text style={{ width: 300, fontSize: 19, fontWeight: 'bold', color: '#FFFFFF', fontFamily: '微软雅黑' }}&gt;技术选择&lt;/Text&gt;&#13;&#10;            &lt;Text style={{ width: 140, fontSize: 19, fontWeight: 'bold', color: '#FFFFFF', fontFamily: '微软雅黑' }}&gt;版本&lt;/Text&gt;&#13;&#10;            &lt;Text style={{ flex: 1, fontSize: 19, fontWeight: 'bold', color: '#FFFFFF', fontFamily: '微软雅黑' }}&gt;对应约束&lt;/Text&gt;&#13;&#10;        &lt;/Box&gt;&#13;&#10;&#13;&#10;        &lt;Box style={{ flexDirection: 'row', alignItems: 'center', height: 44, border: { bottom: { width: 1, color: '#E5E7EB' } }, padding: '0 16px' }}&gt;&#13;&#10;            &lt;Text style={{ width: 300, fontSize: 19, fontWeight: 'bold', color: '#1E4FA8', fontFamily: '微软雅黑' }}&gt;LangGraph&lt;/Text&gt;&#13;&#10;            &lt;Text style={{ width: 140, fontSize: 18, color: '#4A5568', fontFamily: 'Times New Roman' }}&gt;1.2.11&lt;/Text&gt;&#13;&#10;            &lt;Text style={{ flex: 1, fontSize: 19, color: '#1A2230', fontFamily: '微软雅黑' }}&gt;需要带条件分支与重试回环的编排，不是一条线性链路&lt;/Text&gt;&#13;&#10;        &lt;/Box&gt;&#13;&#10;&#13;&#10;        &lt;Box style={{ flexDirection: 'row', alignItems: 'center', height: 44, background: '#F7F9FC', border: { bottom: { width: 1, color: '#E5E7EB' } }, padding: '0 16px' }}&gt;&#13;&#10;            &lt;Text style={{ width: 300, fontSize: 19, fontWeight: 'bold', color: '#1E4FA8', fontFamily: '微软雅黑' }}&gt;sqlglot&lt;/Text&gt;&#13;&#10;            &lt;Text style={{ width: 140, fontSize: 18, color: '#4A5568', fontFamily: 'Times New Roman' }}&gt;30.18.0&lt;/Text&gt;&#13;&#10;            &lt;Text style={{ flex: 1, fontSize: 19, color: '#1A2230', fontFamily: '微软雅黑' }}&gt;需要在执行前把语句解析成语法树，才能做表字段白名单校验&lt;/Text&gt;&#13;&#10;        &lt;/Box&gt;&#13;&#10;&#13;&#10;        &lt;Box style={{ flexDirection: 'row', alignItems: 'center', height: 44, border: { bottom: { width: 1, color: '#E5E7EB' } }, padding: '0 16px' }}&gt;&#13;&#10;            &lt;Text style={{ width: 300, fontSize: 19, fontWeight: 'bold', color: '#1E4FA8', fontFamily: '微软雅黑' }}&gt;FastAPI&lt;/Text&gt;&#13;&#10;            &lt;Text style={{ width: 140, fontSize: 18, color: '#4A5568', fontFamily: 'Times New Roman' }}&gt;0.141.1&lt;/Text&gt;&#13;&#10;            &lt;Text style={{ flex: 1, fontSize: 19, color: '#1A2230', fontFamily: '微软雅黑' }}&gt;需要服务端推送与结构化请求校验，前端要看到逐节点的进度&lt;/Text&gt;&#13;&#10;        &lt;/Box&gt;&#13;&#10;&#13;&#10;        &lt;Box style={{ flexDirection: 'row', alignItems: 'center', height: 44, background: '#F7F9FC', border: { bottom: { width: 1, color: '#E5E7EB' } }, padding: '0 16px' }}&gt;&#13;&#10;            &lt;Text style={{ width: 300, fontSize: 19, fontWeight: 'bold', color: '#1E4FA8', fontFamily: '微软雅黑' }}&gt;Pydantic&lt;/Text&gt;&#13;&#10;            &lt;Text style={{ width: 140, fontSize: 18, color: '#4A5568', fontFamily: 'Times New Roman' }}&gt;2.13.5&lt;/Text&gt;&#13;&#10;            &lt;Text style={{ flex: 1, fontSize: 19, color: '#1A2230', fontFamily: '微软雅黑' }}&gt;模型返回的 JSON 必须过 schema 校验，不合格不进下一步&lt;/Text&gt;&#13;&#10;        &lt;/Box&gt;&#13;&#10;&#13;&#10;        &lt;Box style={{ flexDirection: 'row', alignItems: 'center', height: 44, border: { bottom: { width: 1, color: '#E5E7EB' } }, padding: '0 16px' }}&gt;&#13;&#10;            &lt;Text style={{ width: 300, fontSize: 19, fontWeight: 'bold', color: '#1E4FA8', fontFamily: '微软雅黑' }}&gt;SQLite + SQLAlchemy&lt;/Text&gt;&#13;&#10;            &lt;Text style={{ width: 140, fontSize: 18, color: '#4A5568', fontFamily: 'Times New Roman' }}&gt;2.0.52&lt;/Text&gt;&#13;&#10;            &lt;Text style={{ flex: 1, fontSize: 19, color: '#1A2230', fontFamily: '微软雅黑' }}&gt;演示规模在十万行级；换库触发条件已写进设计文档&lt;/Text&gt;&#13;&#10;        &lt;/Box&gt;&#13;&#10;&#13;&#10;        &lt;Box style={{ flexDirection: 'row', alignItems: 'center', height: 44, background: '#F7F9FC', border: { bottom: { width: 1, color: '#E5E7EB' } }, padding: '0 16px' }}&gt;&#13;&#10;            &lt;Text style={{ width: 300, fontSize: 19, fontWeight: 'bold', color: '#1E4FA8', fontFamily: '微软雅黑' }}&gt;React + Vite&lt;/Text&gt;&#13;&#10;            &lt;Text style={{ width: 140, fontSize: 18, color: '#4A5568', fontFamily: 'Times New Roman' }}&gt;18.3.1 / 5.4.0&lt;/Text&gt;&#13;&#10;            &lt;Text style={{ flex: 1, fontSize: 19, color: '#1A2230', fontFamily: '微软雅黑' }}&gt;需要按流式事件增量渲染，而不是等整轮结束再出结果&lt;/Text&gt;&#13;&#10;        &lt;/Box&gt;&#13;&#10;&#13;&#10;        &lt;Box style={{ flexDirection: 'row', alignItems: 'center', height: 44, border: { bottom: { width: 1, color: '#E5E7EB' } }, padding: '0 16px' }}&gt;&#13;&#10;            &lt;Text style={{ width: 300, fontSize: 19, fontWeight: 'bold', color: '#1E4FA8', fontFamily: '微软雅黑' }}&gt;ECharts&lt;/Text&gt;&#13;&#10;            &lt;Text style={{ width: 140, fontSize: 18, color: '#4A5568', fontFamily: 'Times New Roman' }}&gt;5.5.1&lt;/Text&gt;&#13;&#10;            &lt;Text style={{ flex: 1, fontSize: 19, color: '#1A2230', fontFamily: '微软雅黑' }}&gt;图表配置由后端规则生成，前端只负责渲染，保证口径一致&lt;/Text&gt;&#13;&#10;        &lt;/Box&gt;&#13;&#10;&#13;&#10;        {/* 底部结论条 */}&#13;&#10;        &lt;Box style={{ background: '#E8EFF8', padding: '12px 20px', flexDirection: 'row', alignItems: 'center', gap: 14, marginTop: 2 }}&gt;&#13;&#10;            &lt;Text style={{ fontSize: 20, fontWeight: 'bold', color: '#0E3F8C', fontFamily: '微软雅黑' }}&gt;没有引入&lt;/Text&gt;&#13;&#10;            &lt;Text style={{ fontSize: 19, color: '#4A5568', fontFamily: '微软雅黑' }}&gt;&#13;&#10;                向量数据库、Redis、消息队列、容器编排。演示规模下它们不解决问题，只会增加部署与排查成本。&#13;&#10;            &lt;/Text&gt;&#13;&#10;        &lt;/Box&gt;&#13;&#10;&#13;&#10;        &lt;Text style={{ fontSize: 14, color: '#8B97A8', fontFamily: '微软雅黑' }}&gt;&#13;&#10;            版本号取自 backend/.venv 的 importlib.metadata 与 frontend/package.json，2026-09-29 实测。&#13;&#10;        &lt;/Text&gt;&#13;&#10;    &lt;/Box&gt;&#13;&#10;&#13;&#10;    {/* D 页脚 */}&#13;&#10;    &lt;Box style={{ width: '100%', height: 40, flexDirection: 'row', alignItems: 'center', justifyContent: 'space-between', padding: '0 40px' }}&gt;&#13;&#10;        &lt;Text style={{ fontSize: 14, color: '#8B97A8', fontFamily: '微软雅黑' }}&gt;Text2SQL 电商数据分析 Agent&lt;/Text&gt;&#13;&#10;        &lt;Text style={{ fontSize: 15, color: '#1E4FA8', fontFamily: 'Times New Roman' }}&gt;06 / 16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矩形 4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414" name="矩形 413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415" name="矩形 414"/>
          <p:cNvSpPr/>
          <p:nvPr/>
        </p:nvSpPr>
        <p:spPr>
          <a:xfrm>
            <a:off x="381000" y="228600"/>
            <a:ext cx="47625" cy="247650"/>
          </a:xfrm>
          <a:prstGeom prst="rect">
            <a:avLst/>
          </a:prstGeom>
          <a:solidFill>
            <a:srgbClr val="3D7BD9"/>
          </a:solidFill>
        </p:spPr>
        <p:txBody>
          <a:bodyPr/>
          <a:p/>
        </p:txBody>
      </p:sp>
      <p:sp>
        <p:nvSpPr>
          <p:cNvPr id="416" name="文本框 415" descr="{&quot;isTemplate&quot;:true,&quot;type&quot;:&quot;text&quot;}"/>
          <p:cNvSpPr txBox="1"/>
          <p:nvPr/>
        </p:nvSpPr>
        <p:spPr>
          <a:xfrm>
            <a:off x="561975" y="161925"/>
            <a:ext cx="33528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每个选择都有对应的约束</a:t>
            </a:r>
            <a:endParaRPr lang="zh-CN"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7" name="文本框 416" descr="{&quot;isTemplate&quot;:true,&quot;type&quot;:&quot;text&quot;}"/>
          <p:cNvSpPr txBox="1"/>
          <p:nvPr/>
        </p:nvSpPr>
        <p:spPr>
          <a:xfrm>
            <a:off x="11239500" y="257175"/>
            <a:ext cx="571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系统设计</a:t>
            </a:r>
            <a:endParaRPr lang="zh-CN" sz="1125">
              <a:solidFill>
                <a:srgbClr val="FFFFFF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8" name="文本框 417" descr="{&quot;isTemplate&quot;:true,&quot;type&quot;:&quot;text&quot;}"/>
          <p:cNvSpPr txBox="1"/>
          <p:nvPr/>
        </p:nvSpPr>
        <p:spPr>
          <a:xfrm>
            <a:off x="381000" y="914400"/>
            <a:ext cx="114300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选型不是按流行度排的，每一项都能指回一条必须满足的约束。版本号为本机实测，不是文档里的参考值。</a:t>
            </a:r>
            <a:endParaRPr lang="zh-CN" sz="15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9" name="矩形 418"/>
          <p:cNvSpPr/>
          <p:nvPr/>
        </p:nvSpPr>
        <p:spPr>
          <a:xfrm>
            <a:off x="381000" y="1257300"/>
            <a:ext cx="11430000" cy="4191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420" name="文本框 419" descr="{&quot;isTemplate&quot;:true,&quot;type&quot;:&quot;text&quot;}"/>
          <p:cNvSpPr txBox="1"/>
          <p:nvPr/>
        </p:nvSpPr>
        <p:spPr>
          <a:xfrm>
            <a:off x="533400" y="1362075"/>
            <a:ext cx="28575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技术选择</a:t>
            </a:r>
            <a:endParaRPr lang="zh-CN"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1" name="文本框 420" descr="{&quot;isTemplate&quot;:true,&quot;type&quot;:&quot;text&quot;}"/>
          <p:cNvSpPr txBox="1"/>
          <p:nvPr/>
        </p:nvSpPr>
        <p:spPr>
          <a:xfrm>
            <a:off x="3390900" y="1362075"/>
            <a:ext cx="13335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版本</a:t>
            </a:r>
            <a:endParaRPr lang="zh-CN"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2" name="文本框 421" descr="{&quot;isTemplate&quot;:true,&quot;type&quot;:&quot;text&quot;}"/>
          <p:cNvSpPr txBox="1"/>
          <p:nvPr/>
        </p:nvSpPr>
        <p:spPr>
          <a:xfrm>
            <a:off x="4724400" y="1362075"/>
            <a:ext cx="69342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对应约束</a:t>
            </a:r>
            <a:endParaRPr lang="zh-CN"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3" name="文本框 422" descr="{&quot;isTemplate&quot;:true,&quot;type&quot;:&quot;text&quot;}"/>
          <p:cNvSpPr txBox="1"/>
          <p:nvPr/>
        </p:nvSpPr>
        <p:spPr>
          <a:xfrm>
            <a:off x="533400" y="1876425"/>
            <a:ext cx="28575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LangGraph</a:t>
            </a:r>
            <a:endParaRPr lang="en-US" sz="142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4" name="文本框 423" descr="{&quot;isTemplate&quot;:true,&quot;type&quot;:&quot;text&quot;}"/>
          <p:cNvSpPr txBox="1"/>
          <p:nvPr/>
        </p:nvSpPr>
        <p:spPr>
          <a:xfrm>
            <a:off x="3390900" y="1876425"/>
            <a:ext cx="1333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4A5568"/>
                </a:solidFill>
                <a:latin typeface="Times New Roman" panose="02020603050405020304"/>
                <a:ea typeface="Times New Roman" panose="02020603050405020304"/>
              </a:rPr>
              <a:t>1.2.11</a:t>
            </a:r>
            <a:endParaRPr lang="en-US" sz="1350">
              <a:solidFill>
                <a:srgbClr val="4A5568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425" name="文本框 424" descr="{&quot;isTemplate&quot;:true,&quot;type&quot;:&quot;text&quot;}"/>
          <p:cNvSpPr txBox="1"/>
          <p:nvPr/>
        </p:nvSpPr>
        <p:spPr>
          <a:xfrm>
            <a:off x="4724400" y="1876425"/>
            <a:ext cx="69342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需要带条件分支与重试回环的编排，不是一条线性链路</a:t>
            </a:r>
            <a:endParaRPr lang="zh-CN" sz="14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6" name="矩形 425"/>
          <p:cNvSpPr/>
          <p:nvPr/>
        </p:nvSpPr>
        <p:spPr>
          <a:xfrm>
            <a:off x="381000" y="2286000"/>
            <a:ext cx="11430000" cy="41910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427" name="文本框 426" descr="{&quot;isTemplate&quot;:true,&quot;type&quot;:&quot;text&quot;}"/>
          <p:cNvSpPr txBox="1"/>
          <p:nvPr/>
        </p:nvSpPr>
        <p:spPr>
          <a:xfrm>
            <a:off x="533400" y="2390775"/>
            <a:ext cx="28575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sqlglot</a:t>
            </a:r>
            <a:endParaRPr lang="en-US" sz="142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8" name="文本框 427" descr="{&quot;isTemplate&quot;:true,&quot;type&quot;:&quot;text&quot;}"/>
          <p:cNvSpPr txBox="1"/>
          <p:nvPr/>
        </p:nvSpPr>
        <p:spPr>
          <a:xfrm>
            <a:off x="3390900" y="2390775"/>
            <a:ext cx="1333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4A5568"/>
                </a:solidFill>
                <a:latin typeface="Times New Roman" panose="02020603050405020304"/>
                <a:ea typeface="Times New Roman" panose="02020603050405020304"/>
              </a:rPr>
              <a:t>30.18.0</a:t>
            </a:r>
            <a:endParaRPr lang="en-US" sz="1350">
              <a:solidFill>
                <a:srgbClr val="4A5568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429" name="文本框 428" descr="{&quot;isTemplate&quot;:true,&quot;type&quot;:&quot;text&quot;}"/>
          <p:cNvSpPr txBox="1"/>
          <p:nvPr/>
        </p:nvSpPr>
        <p:spPr>
          <a:xfrm>
            <a:off x="4724400" y="2390775"/>
            <a:ext cx="69342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需要在执行前把语句解析成语法树，才能做表字段白名单校验</a:t>
            </a:r>
            <a:endParaRPr lang="zh-CN" sz="14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0" name="文本框 429" descr="{&quot;isTemplate&quot;:true,&quot;type&quot;:&quot;text&quot;}"/>
          <p:cNvSpPr txBox="1"/>
          <p:nvPr/>
        </p:nvSpPr>
        <p:spPr>
          <a:xfrm>
            <a:off x="533400" y="2905125"/>
            <a:ext cx="28575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FastAPI</a:t>
            </a:r>
            <a:endParaRPr lang="en-US" sz="142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1" name="文本框 430" descr="{&quot;isTemplate&quot;:true,&quot;type&quot;:&quot;text&quot;}"/>
          <p:cNvSpPr txBox="1"/>
          <p:nvPr/>
        </p:nvSpPr>
        <p:spPr>
          <a:xfrm>
            <a:off x="3390900" y="2905125"/>
            <a:ext cx="1333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4A5568"/>
                </a:solidFill>
                <a:latin typeface="Times New Roman" panose="02020603050405020304"/>
                <a:ea typeface="Times New Roman" panose="02020603050405020304"/>
              </a:rPr>
              <a:t>0.141.1</a:t>
            </a:r>
            <a:endParaRPr lang="en-US" sz="1350">
              <a:solidFill>
                <a:srgbClr val="4A5568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432" name="文本框 431" descr="{&quot;isTemplate&quot;:true,&quot;type&quot;:&quot;text&quot;}"/>
          <p:cNvSpPr txBox="1"/>
          <p:nvPr/>
        </p:nvSpPr>
        <p:spPr>
          <a:xfrm>
            <a:off x="4724400" y="2905125"/>
            <a:ext cx="69342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需要服务端推送与结构化请求校验，前端要看到逐节点的进度</a:t>
            </a:r>
            <a:endParaRPr lang="zh-CN" sz="14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3" name="矩形 432"/>
          <p:cNvSpPr/>
          <p:nvPr/>
        </p:nvSpPr>
        <p:spPr>
          <a:xfrm>
            <a:off x="381000" y="3314700"/>
            <a:ext cx="11430000" cy="41910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434" name="文本框 433" descr="{&quot;isTemplate&quot;:true,&quot;type&quot;:&quot;text&quot;}"/>
          <p:cNvSpPr txBox="1"/>
          <p:nvPr/>
        </p:nvSpPr>
        <p:spPr>
          <a:xfrm>
            <a:off x="533400" y="3419475"/>
            <a:ext cx="28575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Pydantic</a:t>
            </a:r>
            <a:endParaRPr lang="en-US" sz="142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5" name="文本框 434" descr="{&quot;isTemplate&quot;:true,&quot;type&quot;:&quot;text&quot;}"/>
          <p:cNvSpPr txBox="1"/>
          <p:nvPr/>
        </p:nvSpPr>
        <p:spPr>
          <a:xfrm>
            <a:off x="3390900" y="3419475"/>
            <a:ext cx="1333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4A5568"/>
                </a:solidFill>
                <a:latin typeface="Times New Roman" panose="02020603050405020304"/>
                <a:ea typeface="Times New Roman" panose="02020603050405020304"/>
              </a:rPr>
              <a:t>2.13.5</a:t>
            </a:r>
            <a:endParaRPr lang="en-US" sz="1350">
              <a:solidFill>
                <a:srgbClr val="4A5568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436" name="文本框 435" descr="{&quot;isTemplate&quot;:true,&quot;type&quot;:&quot;text&quot;}"/>
          <p:cNvSpPr txBox="1"/>
          <p:nvPr/>
        </p:nvSpPr>
        <p:spPr>
          <a:xfrm>
            <a:off x="4724400" y="3419475"/>
            <a:ext cx="69342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模型返回的</a:t>
            </a:r>
            <a:r>
              <a:rPr lang="en-US" sz="14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JSON </a:t>
            </a:r>
            <a:r>
              <a:rPr lang="zh-CN" sz="14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必须过</a:t>
            </a:r>
            <a:r>
              <a:rPr lang="en-US" sz="14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schema </a:t>
            </a:r>
            <a:r>
              <a:rPr lang="zh-CN" sz="14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校验，不合格不进下一步</a:t>
            </a:r>
            <a:endParaRPr lang="zh-CN" sz="14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7" name="文本框 436" descr="{&quot;isTemplate&quot;:true,&quot;type&quot;:&quot;text&quot;}"/>
          <p:cNvSpPr txBox="1"/>
          <p:nvPr/>
        </p:nvSpPr>
        <p:spPr>
          <a:xfrm>
            <a:off x="533400" y="3933825"/>
            <a:ext cx="28575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SQLite + SQLAlchemy</a:t>
            </a:r>
            <a:endParaRPr lang="en-US" sz="142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8" name="文本框 437" descr="{&quot;isTemplate&quot;:true,&quot;type&quot;:&quot;text&quot;}"/>
          <p:cNvSpPr txBox="1"/>
          <p:nvPr/>
        </p:nvSpPr>
        <p:spPr>
          <a:xfrm>
            <a:off x="3390900" y="3933825"/>
            <a:ext cx="1333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4A5568"/>
                </a:solidFill>
                <a:latin typeface="Times New Roman" panose="02020603050405020304"/>
                <a:ea typeface="Times New Roman" panose="02020603050405020304"/>
              </a:rPr>
              <a:t>2.0.52</a:t>
            </a:r>
            <a:endParaRPr lang="en-US" sz="1350">
              <a:solidFill>
                <a:srgbClr val="4A5568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439" name="文本框 438" descr="{&quot;isTemplate&quot;:true,&quot;type&quot;:&quot;text&quot;}"/>
          <p:cNvSpPr txBox="1"/>
          <p:nvPr/>
        </p:nvSpPr>
        <p:spPr>
          <a:xfrm>
            <a:off x="4724400" y="3933825"/>
            <a:ext cx="69342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演示规模在十万行级；换库触发条件已写进设计文档</a:t>
            </a:r>
            <a:endParaRPr lang="zh-CN" sz="14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0" name="矩形 439"/>
          <p:cNvSpPr/>
          <p:nvPr/>
        </p:nvSpPr>
        <p:spPr>
          <a:xfrm>
            <a:off x="381000" y="4343400"/>
            <a:ext cx="11430000" cy="41910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441" name="文本框 440" descr="{&quot;isTemplate&quot;:true,&quot;type&quot;:&quot;text&quot;}"/>
          <p:cNvSpPr txBox="1"/>
          <p:nvPr/>
        </p:nvSpPr>
        <p:spPr>
          <a:xfrm>
            <a:off x="533400" y="4448175"/>
            <a:ext cx="28575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React + Vite</a:t>
            </a:r>
            <a:endParaRPr lang="en-US" sz="142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2" name="文本框 441" descr="{&quot;isTemplate&quot;:true,&quot;type&quot;:&quot;text&quot;}"/>
          <p:cNvSpPr txBox="1"/>
          <p:nvPr/>
        </p:nvSpPr>
        <p:spPr>
          <a:xfrm>
            <a:off x="3390900" y="4448175"/>
            <a:ext cx="1333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4A5568"/>
                </a:solidFill>
                <a:latin typeface="Times New Roman" panose="02020603050405020304"/>
                <a:ea typeface="Times New Roman" panose="02020603050405020304"/>
              </a:rPr>
              <a:t>18.3.1 / 5.4.0</a:t>
            </a:r>
            <a:endParaRPr lang="en-US" sz="1350">
              <a:solidFill>
                <a:srgbClr val="4A5568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443" name="文本框 442" descr="{&quot;isTemplate&quot;:true,&quot;type&quot;:&quot;text&quot;}"/>
          <p:cNvSpPr txBox="1"/>
          <p:nvPr/>
        </p:nvSpPr>
        <p:spPr>
          <a:xfrm>
            <a:off x="4724400" y="4448175"/>
            <a:ext cx="69342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需要按流式事件增量渲染，而不是等整轮结束再出结果</a:t>
            </a:r>
            <a:endParaRPr lang="zh-CN" sz="14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4" name="文本框 443" descr="{&quot;isTemplate&quot;:true,&quot;type&quot;:&quot;text&quot;}"/>
          <p:cNvSpPr txBox="1"/>
          <p:nvPr/>
        </p:nvSpPr>
        <p:spPr>
          <a:xfrm>
            <a:off x="533400" y="4962525"/>
            <a:ext cx="28575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ECharts</a:t>
            </a:r>
            <a:endParaRPr lang="en-US" sz="142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5" name="文本框 444" descr="{&quot;isTemplate&quot;:true,&quot;type&quot;:&quot;text&quot;}"/>
          <p:cNvSpPr txBox="1"/>
          <p:nvPr/>
        </p:nvSpPr>
        <p:spPr>
          <a:xfrm>
            <a:off x="3390900" y="4962525"/>
            <a:ext cx="1333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4A5568"/>
                </a:solidFill>
                <a:latin typeface="Times New Roman" panose="02020603050405020304"/>
                <a:ea typeface="Times New Roman" panose="02020603050405020304"/>
              </a:rPr>
              <a:t>5.5.1</a:t>
            </a:r>
            <a:endParaRPr lang="en-US" sz="1350">
              <a:solidFill>
                <a:srgbClr val="4A5568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446" name="文本框 445" descr="{&quot;isTemplate&quot;:true,&quot;type&quot;:&quot;text&quot;}"/>
          <p:cNvSpPr txBox="1"/>
          <p:nvPr/>
        </p:nvSpPr>
        <p:spPr>
          <a:xfrm>
            <a:off x="4724400" y="4962525"/>
            <a:ext cx="69342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图表配置由后端规则生成，前端只负责渲染，保证口径一致</a:t>
            </a:r>
            <a:endParaRPr lang="zh-CN" sz="14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7" name="矩形 446"/>
          <p:cNvSpPr/>
          <p:nvPr/>
        </p:nvSpPr>
        <p:spPr>
          <a:xfrm>
            <a:off x="381000" y="5391150"/>
            <a:ext cx="11430000" cy="457200"/>
          </a:xfrm>
          <a:prstGeom prst="rect">
            <a:avLst/>
          </a:prstGeom>
          <a:solidFill>
            <a:srgbClr val="E8EFF8"/>
          </a:solidFill>
        </p:spPr>
        <p:txBody>
          <a:bodyPr/>
          <a:p/>
        </p:txBody>
      </p:sp>
      <p:sp>
        <p:nvSpPr>
          <p:cNvPr id="448" name="文本框 447" descr="{&quot;isTemplate&quot;:true,&quot;type&quot;:&quot;text&quot;}"/>
          <p:cNvSpPr txBox="1"/>
          <p:nvPr/>
        </p:nvSpPr>
        <p:spPr>
          <a:xfrm>
            <a:off x="571500" y="5505450"/>
            <a:ext cx="762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没有引入</a:t>
            </a:r>
            <a:endParaRPr lang="zh-CN" sz="15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9" name="文本框 448" descr="{&quot;isTemplate&quot;:true,&quot;type&quot;:&quot;text&quot;}"/>
          <p:cNvSpPr txBox="1"/>
          <p:nvPr/>
        </p:nvSpPr>
        <p:spPr>
          <a:xfrm>
            <a:off x="1466850" y="5514975"/>
            <a:ext cx="802957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向量数据库、</a:t>
            </a:r>
            <a:r>
              <a:rPr lang="en-US" sz="14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Redis</a:t>
            </a:r>
            <a:r>
              <a:rPr lang="zh-CN" sz="14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、消息队列、容器编排。在规模不大的</a:t>
            </a:r>
            <a:r>
              <a:rPr lang="zh-CN" sz="14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情况下它们不解决问题，只会增加部署与排查成本。</a:t>
            </a:r>
            <a:endParaRPr lang="zh-CN" sz="14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0" name="文本框 449" descr="{&quot;isTemplate&quot;:true,&quot;type&quot;:&quot;text&quot;}"/>
          <p:cNvSpPr txBox="1"/>
          <p:nvPr/>
        </p:nvSpPr>
        <p:spPr>
          <a:xfrm>
            <a:off x="381000" y="5943600"/>
            <a:ext cx="11430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版本号取自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backend/.venv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importlib.metadata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frontend/package.json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2026-09-29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实测。</a:t>
            </a:r>
            <a:endParaRPr lang="zh-CN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1" name="文本框 450" descr="{&quot;isTemplate&quot;:true,&quot;type&quot;:&quot;text&quot;}"/>
          <p:cNvSpPr txBox="1"/>
          <p:nvPr/>
        </p:nvSpPr>
        <p:spPr>
          <a:xfrm>
            <a:off x="381000" y="6591300"/>
            <a:ext cx="17811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Text2SQL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电商数据分析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Agent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2" name="文本框 451" descr="{&quot;isTemplate&quot;:true,&quot;type&quot;:&quot;text&quot;}"/>
          <p:cNvSpPr txBox="1"/>
          <p:nvPr/>
        </p:nvSpPr>
        <p:spPr>
          <a:xfrm>
            <a:off x="11410950" y="6581775"/>
            <a:ext cx="4000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Times New Roman" panose="02020603050405020304"/>
                <a:ea typeface="Times New Roman" panose="02020603050405020304"/>
              </a:rPr>
              <a:t>06 / 16</a:t>
            </a:r>
            <a:endParaRPr lang="en-US" sz="1125">
              <a:solidFill>
                <a:srgbClr val="1E4FA8"/>
              </a:solidFill>
              <a:latin typeface="Times New Roman" panose="02020603050405020304"/>
              <a:ea typeface="Times New Roman" panose="020206030504050203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3" name="" descr="&lt;Slide style={{ background: '#FFFFFF', padding: 0, flexDirection: 'column' }}&gt;&#13;&#10;    {/* A3 页眉 */}&#13;&#10;    &lt;Box style={{&#13;&#10;        width: '100%', height: 72, background: '#0E3F8C',&#13;&#10;        flexDirection: 'row', alignItems: 'center', justifyContent: 'space-between',&#13;&#10;        padding: '0 40px',&#13;&#10;    }}&gt;&#13;&#10;        &lt;Box style={{ flexDirection: 'row', alignItems: 'center', gap: 14 }}&gt;&#13;&#10;            &lt;Box style={{ width: 5, height: 26, background: '#3D7BD9' }} /&gt;&#13;&#10;            &lt;Text style={{ fontSize: 32, fontWeight: 'bold', color: '#FFFFFF', fontFamily: '微软雅黑' }}&gt;&#13;&#10;                口径写在配置里，不在模型的猜测里&#13;&#10;            &lt;/Text&gt;&#13;&#10;        &lt;/Box&gt;&#13;&#10;        &lt;Text style={{ fontSize: 15, color: 'rgba(255,255,255,0.7)', fontFamily: '微软雅黑' }}&gt;&#13;&#10;            系统设计&#13;&#10;        &lt;/Text&gt;&#13;&#10;    &lt;/Box&gt;&#13;&#10;&#13;&#10;    &lt;Box style={{ flex: 1, flexDirection: 'column', padding: '22px 40px 0 40px', gap: 16 }}&gt;&#13;&#10;        &lt;Text style={{ fontSize: 21, color: '#4A5568', fontFamily: '微软雅黑' }}&gt;&#13;&#10;            同一个业务词在不同人口中指向不同的 SQL。把口径从对话里搬到配置文件，是结果可复现、可审计的前提。&#13;&#10;        &lt;/Text&gt;&#13;&#10;&#13;&#10;        &lt;Box style={{ flexDirection: 'row', gap: 16, alignItems: 'stretch' }}&gt;&#13;&#10;            {/* 左卡 */}&#13;&#10;            &lt;Box style={{&#13;&#10;                flex: 1, background: '#F7F9FC', border: { width: 1, color: '#D6DCE5' },&#13;&#10;                flexDirection: 'column', padding: 20, gap: 14,&#13;&#10;            }}&gt;&#13;&#10;                &lt;Box style={{ flexDirection: 'row', alignItems: 'center', gap: 10 }}&gt;&#13;&#10;                    &lt;Box style={{ width: 4, height: 22, background: '#8B97A8' }} /&gt;&#13;&#10;                    &lt;Text style={{ fontSize: 25, fontWeight: 'bold', color: '#4A5568', fontFamily: '微软雅黑' }}&gt;&#13;&#10;                        一句话，三种理解&#13;&#10;                    &lt;/Text&gt;&#13;&#10;                &lt;/Box&gt;&#13;&#10;&#13;&#10;                &lt;Box style={{ background: '#FFFFFF', padding: '10px 14px', border: { left: { width: 3, color: '#8B97A8' } } }}&gt;&#13;&#10;                    &lt;Text style={{ fontSize: 19, color: '#1A2230', fontFamily: '微软雅黑' }}&gt;「上个月卖得怎么样」&lt;/Text&gt;&#13;&#10;                &lt;/Box&gt;&#13;&#10;&#13;&#10;                &lt;Box style={{ flexDirection: 'column', gap: 12 }}&gt;&#13;&#10;                    &lt;Box style={{ flexDirection: 'column', gap: 3 }}&gt;&#13;&#10;                        &lt;Text style={{ fontSize: 18, fontWeight: 'bold', color: '#4A5568', fontFamily: '微软雅黑' }}&gt;运营听到的「卖」&lt;/Text&gt;&#13;&#10;                        &lt;Text style={{ fontSize: 19, color: '#1A2230', fontFamily: '微软雅黑' }}&gt;&#13;&#10;                            成交额　SUM(oi.quantity * oi.unit_price)&#13;&#10;                        &lt;/Text&gt;&#13;&#10;                    &lt;/Box&gt;&#13;&#10;                    &lt;Box style={{ flexDirection: 'column', gap: 3 }}&gt;&#13;&#10;                        &lt;Text style={{ fontSize: 18, fontWeight: 'bold', color: '#4A5568', fontFamily: '微软雅黑' }}&gt;仓储听到的「卖」&lt;/Text&gt;&#13;&#10;                        &lt;Text style={{ fontSize: 19, color: '#1A2230', fontFamily: '微软雅黑' }}&gt;&#13;&#10;                            销量　　SUM(oi.quantity)&#13;&#10;                        &lt;/Text&gt;&#13;&#10;                    &lt;/Box&gt;&#13;&#10;                    &lt;Box style={{ flexDirection: 'column', gap: 3 }}&gt;&#13;&#10;                        &lt;Text style={{ fontSize: 18, fontWeight: 'bold', color: '#4A5568', fontFamily: '微软雅黑' }}&gt;财务听到的「卖」&lt;/Text&gt;&#13;&#10;                        &lt;Text style={{ fontSize: 19, color: '#1A2230', fontFamily: '微软雅黑' }}&gt;&#13;&#10;                            净额　　还要先定义退款是减金额还是减订单&#13;&#10;                        &lt;/Text&gt;&#13;&#10;                    &lt;/Box&gt;&#13;&#10;                &lt;/Box&gt;&#13;&#10;&#13;&#10;                &lt;Text style={{ fontSize: 17, color: '#8B97A8', fontFamily: '微软雅黑', lineHeight: 1.6 }}&gt;&#13;&#10;                    三种理解都说得通。区别不在于谁对，而在于系统必须选一种并说清楚选的是哪种。&#13;&#10;                &lt;/Text&gt;&#13;&#10;            &lt;/Box&gt;&#13;&#10;&#13;&#10;            {/* 中间箭头 */}&#13;&#10;            &lt;Box style={{ width: 44, alignItems: 'center', justifyContent: 'center' }}&gt;&#13;&#10;                &lt;Text style={{ fontSize: 34, color: '#1E4FA8', fontFamily: 'Times New Roman' }}&gt;›&lt;/Text&gt;&#13;&#10;            &lt;/Box&gt;&#13;&#10;&#13;&#10;            {/* 右卡 */}&#13;&#10;            &lt;Box style={{&#13;&#10;                flex: 1, background: '#E8EFF8', border: { width: 1, color: '#1E4FA8' },&#13;&#10;                flexDirection: 'column', padding: 20, gap: 12,&#13;&#10;            }}&gt;&#13;&#10;                &lt;Box style={{ flexDirection: 'row', alignItems: 'center', gap: 10 }}&gt;&#13;&#10;                    &lt;Box style={{ width: 4, height: 22, background: '#1E4FA8' }} /&gt;&#13;&#10;                    &lt;Text style={{ fontSize: 25, fontWeight: 'bold', color: '#0E3F8C', fontFamily: '微软雅黑' }}&gt;&#13;&#10;                        一份配置，一个口径&#13;&#10;                    &lt;/Text&gt;&#13;&#10;                &lt;/Box&gt;&#13;&#10;&#13;&#10;                &lt;Text style={{ fontSize: 17, color: '#4A5568', fontFamily: '微软雅黑' }}&gt;&#13;&#10;                    metrics.yaml　gmv · 成交总额&#13;&#10;                &lt;/Text&gt;&#13;&#10;&#13;&#10;                &lt;Box style={{ flexDirection: 'column', gap: 9 }}&gt;&#13;&#10;                    &lt;Box style={{ flexDirection: 'row', gap: 10 }}&gt;&#13;&#10;                        &lt;Text style={{ width: 92, fontSize: 17, color: '#4A5568', fontFamily: '微软雅黑' }}&gt;别称&lt;/Text&gt;&#13;&#10;                        &lt;Text style={{ flex: 1, fontSize: 17, color: '#1A2230', fontFamily: '微软雅黑' }}&gt;销售额 / 营业额 / GMV / 流水 / 业绩&lt;/Text&gt;&#13;&#10;                    &lt;/Box&gt;&#13;&#10;                    &lt;Box style={{ flexDirection: 'row', gap: 10 }}&gt;&#13;&#10;                        &lt;Text style={{ width: 92, fontSize: 17, color: '#4A5568', fontFamily: '微软雅黑' }}&gt;表达式&lt;/Text&gt;&#13;&#10;                        &lt;Text style={{ flex: 1, fontSize: 17, fontWeight: 'bold', color: '#0E3F8C', fontFamily: '微软雅黑' }}&gt;SUM(oi.quantity * oi.unit_price)&lt;/Text&gt;&#13;&#10;                    &lt;/Box&gt;&#13;&#10;                    &lt;Box style={{ flexDirection: 'row', gap: 10 }}&gt;&#13;&#10;                        &lt;Text style={{ width: 92, fontSize: 17, color: '#4A5568', fontFamily: '微软雅黑' }}&gt;来源表&lt;/Text&gt;&#13;&#10;                        &lt;Text style={{ flex: 1, fontSize: 17, color: '#1A2230', fontFamily: '微软雅黑' }}&gt;orders、order_items&lt;/Text&gt;&#13;&#10;                    &lt;/Box&gt;&#13;&#10;                    &lt;Box style={{ flexDirection: 'row', gap: 10 }}&gt;&#13;&#10;                        &lt;Text style={{ width: 92, fontSize: 17, color: '#4A5568', fontFamily: '微软雅黑' }}&gt;必带条件&lt;/Text&gt;&#13;&#10;                        &lt;Text style={{ flex: 1, fontSize: 17, color: '#1A2230', fontFamily: '微软雅黑' }}&gt;status NOT IN ('cancelled', 'pending')&lt;/Text&gt;&#13;&#10;                    &lt;/Box&gt;&#13;&#10;                    &lt;Box style={{ flexDirection: 'row', gap: 10 }}&gt;&#13;&#10;                        &lt;Text style={{ width: 92, fontSize: 17, color: '#4A5568', fontFamily: '微软雅黑' }}&gt;口径边界&lt;/Text&gt;&#13;&#10;                        &lt;Text style={{ flex: 1, fontSize: 17, color: '#1A2230', fontFamily: '微软雅黑', lineHeight: 1.5 }}&gt;&#13;&#10;                            不含已取消与未支付订单；不扣除退款&#13;&#10;                        &lt;/Text&gt;&#13;&#10;                    &lt;/Box&gt;&#13;&#10;                &lt;/Box&gt;&#13;&#10;&#13;&#10;                &lt;Text style={{ fontSize: 17, color: '#4A5568', fontFamily: '微软雅黑', lineHeight: 1.6 }}&gt;&#13;&#10;                    字段是 SQL 片段而非自然语句，模型照抄即可，不需要它自己推断。&#13;&#10;                &lt;/Text&gt;&#13;&#10;            &lt;/Box&gt;&#13;&#10;        &lt;/Box&gt;&#13;&#10;&#13;&#10;        {/* 底部结论条 */}&#13;&#10;        &lt;Box style={{&#13;&#10;            width: '100%', height: 72, background: '#0E3F8C',&#13;&#10;            flexDirection: 'row', alignItems: 'center', padding: '0 24px', gap: 16,&#13;&#10;        }}&gt;&#13;&#10;            &lt;Text style={{ fontSize: 20, fontWeight: 'bold', color: '#FFFFFF', fontFamily: '微软雅黑' }}&gt;&#13;&#10;                同一份配置供三处消费&#13;&#10;            &lt;/Text&gt;&#13;&#10;            &lt;Text style={{ fontSize: 19, color: 'rgba(255,255,255,0.85)', fontFamily: '微软雅黑' }}&gt;&#13;&#10;                Prompt 组装时作为候选口径　·　守卫校验时作为表字段白名单　·　回答里作为口径说明展示给用户&#13;&#10;            &lt;/Text&gt;&#13;&#10;        &lt;/Box&gt;&#13;&#10;    &lt;/Box&gt;&#13;&#10;&#13;&#10;    {/* D 页脚 */}&#13;&#10;    &lt;Box style={{ width: '100%', height: 40, flexDirection: 'row', alignItems: 'center', justifyContent: 'space-between', padding: '0 40px' }}&gt;&#13;&#10;        &lt;Text style={{ fontSize: 14, color: '#8B97A8', fontFamily: '微软雅黑' }}&gt;Text2SQL 电商数据分析 Agent&lt;/Text&gt;&#13;&#10;        &lt;Text style={{ fontSize: 15, color: '#1E4FA8', fontFamily: 'Times New Roman' }}&gt;07 / 16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矩形 45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455" name="矩形 454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456" name="矩形 455"/>
          <p:cNvSpPr/>
          <p:nvPr/>
        </p:nvSpPr>
        <p:spPr>
          <a:xfrm>
            <a:off x="381000" y="228600"/>
            <a:ext cx="47625" cy="247650"/>
          </a:xfrm>
          <a:prstGeom prst="rect">
            <a:avLst/>
          </a:prstGeom>
          <a:solidFill>
            <a:srgbClr val="3D7BD9"/>
          </a:solidFill>
        </p:spPr>
        <p:txBody>
          <a:bodyPr/>
          <a:p/>
        </p:txBody>
      </p:sp>
      <p:sp>
        <p:nvSpPr>
          <p:cNvPr id="457" name="文本框 456" descr="{&quot;isTemplate&quot;:true,&quot;type&quot;:&quot;text&quot;}"/>
          <p:cNvSpPr txBox="1"/>
          <p:nvPr/>
        </p:nvSpPr>
        <p:spPr>
          <a:xfrm>
            <a:off x="561975" y="161925"/>
            <a:ext cx="48768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口径写在配置里，不在模型的猜测里</a:t>
            </a:r>
            <a:endParaRPr lang="zh-CN"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8" name="文本框 457" descr="{&quot;isTemplate&quot;:true,&quot;type&quot;:&quot;text&quot;}"/>
          <p:cNvSpPr txBox="1"/>
          <p:nvPr/>
        </p:nvSpPr>
        <p:spPr>
          <a:xfrm>
            <a:off x="11239500" y="257175"/>
            <a:ext cx="571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系统设计</a:t>
            </a:r>
            <a:endParaRPr lang="zh-CN" sz="1125">
              <a:solidFill>
                <a:srgbClr val="FFFFFF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9" name="文本框 458" descr="{&quot;isTemplate&quot;:true,&quot;type&quot;:&quot;text&quot;}"/>
          <p:cNvSpPr txBox="1"/>
          <p:nvPr/>
        </p:nvSpPr>
        <p:spPr>
          <a:xfrm>
            <a:off x="381000" y="895350"/>
            <a:ext cx="114300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同一个业务词在不同人口中指向不同的</a:t>
            </a:r>
            <a:r>
              <a:rPr lang="en-US" sz="15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SQL</a:t>
            </a:r>
            <a:r>
              <a:rPr lang="zh-CN" sz="15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。把口径从对话里搬到配置文件，是结果可复现、可审计的前提。</a:t>
            </a:r>
            <a:endParaRPr lang="zh-CN" sz="15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0" name="矩形 459"/>
          <p:cNvSpPr/>
          <p:nvPr/>
        </p:nvSpPr>
        <p:spPr>
          <a:xfrm>
            <a:off x="381000" y="1295400"/>
            <a:ext cx="5353050" cy="3705225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61" name="矩形 460"/>
          <p:cNvSpPr/>
          <p:nvPr/>
        </p:nvSpPr>
        <p:spPr>
          <a:xfrm>
            <a:off x="571500" y="1524000"/>
            <a:ext cx="38100" cy="209550"/>
          </a:xfrm>
          <a:prstGeom prst="rect">
            <a:avLst/>
          </a:prstGeom>
          <a:solidFill>
            <a:srgbClr val="8B97A8"/>
          </a:solidFill>
        </p:spPr>
        <p:txBody>
          <a:bodyPr/>
          <a:p/>
        </p:txBody>
      </p:sp>
      <p:sp>
        <p:nvSpPr>
          <p:cNvPr id="462" name="文本框 461" descr="{&quot;isTemplate&quot;:true,&quot;type&quot;:&quot;text&quot;}"/>
          <p:cNvSpPr txBox="1"/>
          <p:nvPr/>
        </p:nvSpPr>
        <p:spPr>
          <a:xfrm>
            <a:off x="704850" y="1485900"/>
            <a:ext cx="19050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一句话，三种理解</a:t>
            </a:r>
            <a:endParaRPr lang="zh-CN" sz="1875" b="1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3" name="矩形 462"/>
          <p:cNvSpPr/>
          <p:nvPr/>
        </p:nvSpPr>
        <p:spPr>
          <a:xfrm>
            <a:off x="571500" y="1905000"/>
            <a:ext cx="4972050" cy="40957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464" name="文本框 463" descr="{&quot;isTemplate&quot;:true,&quot;type&quot;:&quot;text&quot;}"/>
          <p:cNvSpPr txBox="1"/>
          <p:nvPr/>
        </p:nvSpPr>
        <p:spPr>
          <a:xfrm>
            <a:off x="704850" y="2000250"/>
            <a:ext cx="47053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「上个月卖得怎么样」</a:t>
            </a:r>
            <a:endParaRPr lang="zh-CN" sz="14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5" name="文本框 464" descr="{&quot;isTemplate&quot;:true,&quot;type&quot;:&quot;text&quot;}"/>
          <p:cNvSpPr txBox="1"/>
          <p:nvPr/>
        </p:nvSpPr>
        <p:spPr>
          <a:xfrm>
            <a:off x="571500" y="2447925"/>
            <a:ext cx="49720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运营听到的「卖」</a:t>
            </a:r>
            <a:endParaRPr lang="zh-CN" sz="1350" b="1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6" name="文本框 465" descr="{&quot;isTemplate&quot;:true,&quot;type&quot;:&quot;text&quot;}"/>
          <p:cNvSpPr txBox="1"/>
          <p:nvPr/>
        </p:nvSpPr>
        <p:spPr>
          <a:xfrm>
            <a:off x="571500" y="2686050"/>
            <a:ext cx="49720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成交额　</a:t>
            </a:r>
            <a:r>
              <a:rPr lang="en-US" sz="14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SUM(oi.quantity * oi.unit_price)</a:t>
            </a:r>
            <a:endParaRPr lang="en-US" sz="14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7" name="文本框 466" descr="{&quot;isTemplate&quot;:true,&quot;type&quot;:&quot;text&quot;}"/>
          <p:cNvSpPr txBox="1"/>
          <p:nvPr/>
        </p:nvSpPr>
        <p:spPr>
          <a:xfrm>
            <a:off x="571500" y="3019425"/>
            <a:ext cx="49720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仓储听到的「卖」</a:t>
            </a:r>
            <a:endParaRPr lang="zh-CN" sz="1350" b="1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8" name="文本框 467" descr="{&quot;isTemplate&quot;:true,&quot;type&quot;:&quot;text&quot;}"/>
          <p:cNvSpPr txBox="1"/>
          <p:nvPr/>
        </p:nvSpPr>
        <p:spPr>
          <a:xfrm>
            <a:off x="571500" y="3257550"/>
            <a:ext cx="49720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销量　　</a:t>
            </a:r>
            <a:r>
              <a:rPr lang="en-US" sz="14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SUM(oi.quantity)</a:t>
            </a:r>
            <a:endParaRPr lang="en-US" sz="14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9" name="文本框 468" descr="{&quot;isTemplate&quot;:true,&quot;type&quot;:&quot;text&quot;}"/>
          <p:cNvSpPr txBox="1"/>
          <p:nvPr/>
        </p:nvSpPr>
        <p:spPr>
          <a:xfrm>
            <a:off x="571500" y="3590925"/>
            <a:ext cx="49720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财务听到的「卖」</a:t>
            </a:r>
            <a:endParaRPr lang="zh-CN" sz="1350" b="1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0" name="文本框 469" descr="{&quot;isTemplate&quot;:true,&quot;type&quot;:&quot;text&quot;}"/>
          <p:cNvSpPr txBox="1"/>
          <p:nvPr/>
        </p:nvSpPr>
        <p:spPr>
          <a:xfrm>
            <a:off x="571500" y="3829050"/>
            <a:ext cx="49720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净额　　还要先定义退款是减金额还是减订单</a:t>
            </a:r>
            <a:endParaRPr lang="zh-CN" sz="14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1" name="文本框 470" descr="{&quot;isTemplate&quot;:true,&quot;type&quot;:&quot;text&quot;}"/>
          <p:cNvSpPr txBox="1"/>
          <p:nvPr/>
        </p:nvSpPr>
        <p:spPr>
          <a:xfrm>
            <a:off x="571500" y="4181475"/>
            <a:ext cx="497205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三种理解都说得通。区别不在于谁对，而在于系统必须选一种并说清楚选的是哪种。</a:t>
            </a:r>
            <a:endParaRPr lang="zh-CN" sz="127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2" name="文本框 471" descr="{&quot;isTemplate&quot;:true,&quot;type&quot;:&quot;text&quot;}"/>
          <p:cNvSpPr txBox="1"/>
          <p:nvPr/>
        </p:nvSpPr>
        <p:spPr>
          <a:xfrm>
            <a:off x="6038850" y="2952750"/>
            <a:ext cx="1143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550">
                <a:solidFill>
                  <a:srgbClr val="1E4FA8"/>
                </a:solidFill>
                <a:latin typeface="Times New Roman" panose="02020603050405020304"/>
                <a:ea typeface="Times New Roman" panose="02020603050405020304"/>
              </a:rPr>
              <a:t>›</a:t>
            </a:r>
            <a:endParaRPr sz="2550">
              <a:solidFill>
                <a:srgbClr val="1E4FA8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473" name="矩形 472"/>
          <p:cNvSpPr/>
          <p:nvPr/>
        </p:nvSpPr>
        <p:spPr>
          <a:xfrm>
            <a:off x="6457950" y="1295400"/>
            <a:ext cx="5353050" cy="3705225"/>
          </a:xfrm>
          <a:prstGeom prst="rect">
            <a:avLst/>
          </a:prstGeom>
          <a:solidFill>
            <a:srgbClr val="E8EFF8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474" name="矩形 473"/>
          <p:cNvSpPr/>
          <p:nvPr/>
        </p:nvSpPr>
        <p:spPr>
          <a:xfrm>
            <a:off x="6648450" y="1524000"/>
            <a:ext cx="38100" cy="20955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475" name="文本框 474" descr="{&quot;isTemplate&quot;:true,&quot;type&quot;:&quot;text&quot;}"/>
          <p:cNvSpPr txBox="1"/>
          <p:nvPr/>
        </p:nvSpPr>
        <p:spPr>
          <a:xfrm>
            <a:off x="6781800" y="1485900"/>
            <a:ext cx="2143125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一份配置，一个口径</a:t>
            </a:r>
            <a:endParaRPr lang="zh-CN" sz="187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6" name="文本框 475" descr="{&quot;isTemplate&quot;:true,&quot;type&quot;:&quot;text&quot;}"/>
          <p:cNvSpPr txBox="1"/>
          <p:nvPr/>
        </p:nvSpPr>
        <p:spPr>
          <a:xfrm>
            <a:off x="6648450" y="1885950"/>
            <a:ext cx="49720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metrics.yaml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gmv · 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成交总额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7" name="文本框 476" descr="{&quot;isTemplate&quot;:true,&quot;type&quot;:&quot;text&quot;}"/>
          <p:cNvSpPr txBox="1"/>
          <p:nvPr/>
        </p:nvSpPr>
        <p:spPr>
          <a:xfrm>
            <a:off x="6648450" y="2200275"/>
            <a:ext cx="8763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别称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8" name="文本框 477" descr="{&quot;isTemplate&quot;:true,&quot;type&quot;:&quot;text&quot;}"/>
          <p:cNvSpPr txBox="1"/>
          <p:nvPr/>
        </p:nvSpPr>
        <p:spPr>
          <a:xfrm>
            <a:off x="7620000" y="2200275"/>
            <a:ext cx="40005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销售额</a:t>
            </a:r>
            <a:r>
              <a:rPr lang="en-US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营业额</a:t>
            </a:r>
            <a:r>
              <a:rPr lang="en-US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/ GMV / </a:t>
            </a:r>
            <a:r>
              <a:rPr lang="zh-CN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流水</a:t>
            </a:r>
            <a:r>
              <a:rPr lang="en-US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业绩</a:t>
            </a:r>
            <a:endParaRPr lang="zh-CN" sz="12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9" name="文本框 478" descr="{&quot;isTemplate&quot;:true,&quot;type&quot;:&quot;text&quot;}"/>
          <p:cNvSpPr txBox="1"/>
          <p:nvPr/>
        </p:nvSpPr>
        <p:spPr>
          <a:xfrm>
            <a:off x="6648450" y="2486025"/>
            <a:ext cx="8763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表达式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0" name="文本框 479" descr="{&quot;isTemplate&quot;:true,&quot;type&quot;:&quot;text&quot;}"/>
          <p:cNvSpPr txBox="1"/>
          <p:nvPr/>
        </p:nvSpPr>
        <p:spPr>
          <a:xfrm>
            <a:off x="7620000" y="2486025"/>
            <a:ext cx="40005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SUM(oi.quantity * oi.unit_price)</a:t>
            </a:r>
            <a:endParaRPr lang="en-US" sz="127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1" name="文本框 480" descr="{&quot;isTemplate&quot;:true,&quot;type&quot;:&quot;text&quot;}"/>
          <p:cNvSpPr txBox="1"/>
          <p:nvPr/>
        </p:nvSpPr>
        <p:spPr>
          <a:xfrm>
            <a:off x="6648450" y="2771775"/>
            <a:ext cx="8763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来源表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2" name="文本框 481" descr="{&quot;isTemplate&quot;:true,&quot;type&quot;:&quot;text&quot;}"/>
          <p:cNvSpPr txBox="1"/>
          <p:nvPr/>
        </p:nvSpPr>
        <p:spPr>
          <a:xfrm>
            <a:off x="7620000" y="2771775"/>
            <a:ext cx="40005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orders</a:t>
            </a:r>
            <a:r>
              <a:rPr lang="zh-CN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order_items</a:t>
            </a:r>
            <a:endParaRPr lang="en-US" sz="12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3" name="文本框 482" descr="{&quot;isTemplate&quot;:true,&quot;type&quot;:&quot;text&quot;}"/>
          <p:cNvSpPr txBox="1"/>
          <p:nvPr/>
        </p:nvSpPr>
        <p:spPr>
          <a:xfrm>
            <a:off x="6648450" y="3057525"/>
            <a:ext cx="8763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必带条件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4" name="文本框 483" descr="{&quot;isTemplate&quot;:true,&quot;type&quot;:&quot;text&quot;}"/>
          <p:cNvSpPr txBox="1"/>
          <p:nvPr/>
        </p:nvSpPr>
        <p:spPr>
          <a:xfrm>
            <a:off x="7620000" y="3057525"/>
            <a:ext cx="40005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status NOT IN ('cancelled', 'pending')</a:t>
            </a:r>
            <a:endParaRPr lang="en-US" sz="12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5" name="文本框 484" descr="{&quot;isTemplate&quot;:true,&quot;type&quot;:&quot;text&quot;}"/>
          <p:cNvSpPr txBox="1"/>
          <p:nvPr/>
        </p:nvSpPr>
        <p:spPr>
          <a:xfrm>
            <a:off x="6648450" y="3343275"/>
            <a:ext cx="8763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口径边界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6" name="文本框 485" descr="{&quot;isTemplate&quot;:true,&quot;type&quot;:&quot;text&quot;}"/>
          <p:cNvSpPr txBox="1"/>
          <p:nvPr/>
        </p:nvSpPr>
        <p:spPr>
          <a:xfrm>
            <a:off x="7620000" y="3343275"/>
            <a:ext cx="40005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不含已取消与未支付订单；不扣除退款</a:t>
            </a:r>
            <a:endParaRPr lang="zh-CN" sz="12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7" name="文本框 486" descr="{&quot;isTemplate&quot;:true,&quot;type&quot;:&quot;text&quot;}"/>
          <p:cNvSpPr txBox="1"/>
          <p:nvPr/>
        </p:nvSpPr>
        <p:spPr>
          <a:xfrm>
            <a:off x="6648450" y="3752850"/>
            <a:ext cx="497205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字段是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SQL 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片段而非自然语句，模型照抄即可，不需要它自己推断。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8" name="矩形 487"/>
          <p:cNvSpPr/>
          <p:nvPr/>
        </p:nvSpPr>
        <p:spPr>
          <a:xfrm>
            <a:off x="381000" y="5153025"/>
            <a:ext cx="11430000" cy="6858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489" name="文本框 488" descr="{&quot;isTemplate&quot;:true,&quot;type&quot;:&quot;text&quot;}"/>
          <p:cNvSpPr txBox="1"/>
          <p:nvPr/>
        </p:nvSpPr>
        <p:spPr>
          <a:xfrm>
            <a:off x="609600" y="5381625"/>
            <a:ext cx="1905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同一份配置供三处消费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0" name="文本框 489" descr="{&quot;isTemplate&quot;:true,&quot;type&quot;:&quot;text&quot;}"/>
          <p:cNvSpPr txBox="1"/>
          <p:nvPr/>
        </p:nvSpPr>
        <p:spPr>
          <a:xfrm>
            <a:off x="2667000" y="5391150"/>
            <a:ext cx="80010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Prompt </a:t>
            </a:r>
            <a:r>
              <a:rPr lang="zh-CN" sz="1425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组装时作为候选口径　·　守卫校验时作为表字段白名单　·　回答里作为口径说明展示给用户</a:t>
            </a:r>
            <a:endParaRPr lang="zh-CN" sz="1425">
              <a:solidFill>
                <a:srgbClr val="FFFFFF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1" name="文本框 490" descr="{&quot;isTemplate&quot;:true,&quot;type&quot;:&quot;text&quot;}"/>
          <p:cNvSpPr txBox="1"/>
          <p:nvPr/>
        </p:nvSpPr>
        <p:spPr>
          <a:xfrm>
            <a:off x="381000" y="6591300"/>
            <a:ext cx="17811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Text2SQL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电商数据分析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Agent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2" name="文本框 491" descr="{&quot;isTemplate&quot;:true,&quot;type&quot;:&quot;text&quot;}"/>
          <p:cNvSpPr txBox="1"/>
          <p:nvPr/>
        </p:nvSpPr>
        <p:spPr>
          <a:xfrm>
            <a:off x="11410950" y="6581775"/>
            <a:ext cx="4000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Times New Roman" panose="02020603050405020304"/>
                <a:ea typeface="Times New Roman" panose="02020603050405020304"/>
              </a:rPr>
              <a:t>07 / 16</a:t>
            </a:r>
            <a:endParaRPr lang="en-US" sz="1125">
              <a:solidFill>
                <a:srgbClr val="1E4FA8"/>
              </a:solidFill>
              <a:latin typeface="Times New Roman" panose="02020603050405020304"/>
              <a:ea typeface="Times New Roman" panose="020206030504050203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3" name="" descr="&lt;Slide style={{ background: '#FFFFFF', padding: 0, flexDirection: 'column' }}&gt;&#13;&#10;    {/* A3 页眉 */}&#13;&#10;    &lt;Box style={{&#13;&#10;        width: '100%', height: 72, background: '#0E3F8C',&#13;&#10;        flexDirection: 'row', alignItems: 'center', justifyContent: 'space-between',&#13;&#10;        padding: '0 40px',&#13;&#10;    }}&gt;&#13;&#10;        &lt;Box style={{ flexDirection: 'row', alignItems: 'center', gap: 14 }}&gt;&#13;&#10;            &lt;Box style={{ width: 5, height: 26, background: '#3D7BD9' }} /&gt;&#13;&#10;            &lt;Text style={{ fontSize: 32, fontWeight: 'bold', color: '#FFFFFF', fontFamily: '微软雅黑' }}&gt;&#13;&#10;                十四个节点，六条出口&#13;&#10;            &lt;/Text&gt;&#13;&#10;        &lt;/Box&gt;&#13;&#10;        &lt;Text style={{ fontSize: 15, color: 'rgba(255,255,255,0.7)', fontFamily: '微软雅黑' }}&gt;&#13;&#10;            系统设计&#13;&#10;        &lt;/Text&gt;&#13;&#10;    &lt;/Box&gt;&#13;&#10;&#13;&#10;    &lt;Box style={{ flex: 1, flexDirection: 'column', padding: '18px 40px 0 40px', gap: 13 }}&gt;&#13;&#10;        &lt;Text style={{ fontSize: 20, color: '#4A5568', fontFamily: '微软雅黑' }}&gt;&#13;&#10;            上图八个是主链路节点。连同修正节点与五个分支终态节点，状态机共十四个节点、六条终态出口。&#13;&#10;        &lt;/Text&gt;&#13;&#10;&#13;&#10;        {/* 第一行节点 */}&#13;&#10;        &lt;Box style={{ flexDirection: 'row', alignItems: 'center', gap: 8 }}&gt;&#13;&#10;            &lt;Box style={{ flex: 1, height: 126, background: '#F7F9FC', border: { top: { width: 4, color: '#0E3F8C' } }, flexDirection: 'column', padding: 12, gap: 6 }}&gt;&#13;&#10;                &lt;Box style={{ flexDirection: 'row', alignItems: 'center', gap: 8 }}&gt;&#13;&#10;                    &lt;Box style={{ width: 24, height: 24, background: '#0E3F8C', alignItems: 'center', justifyContent: 'center' }}&gt;&#13;&#10;                        &lt;Text style={{ fontSize: 15, fontWeight: 'bold', color: '#FFFFFF', fontFamily: 'Times New Roman' }}&gt;1&lt;/Text&gt;&#13;&#10;                    &lt;/Box&gt;&#13;&#10;                    &lt;Text style={{ fontSize: 21, fontWeight: 'bold', color: '#0E3F8C', fontFamily: '微软雅黑' }}&gt;路由&lt;/Text&gt;&#13;&#10;                &lt;/Box&gt;&#13;&#10;                &lt;Text style={{ fontSize: 16, color: '#4A5568', fontFamily: '微软雅黑', lineHeight: 1.45 }}&gt;&#13;&#10;                    判断是取数提问、追问改写，还是与数据无关的请求&#13;&#10;                &lt;/Text&gt;&#13;&#10;            &lt;/Box&gt;&#13;&#10;            &lt;Text style={{ fontSize: 22, color: '#1E4FA8', fontFamily: 'Times New Roman' }}&gt;›&lt;/Text&gt;&#13;&#10;            &lt;Box style={{ flex: 1, height: 126, background: '#F7F9FC', border: { top: { width: 4, color: '#0E3F8C' } }, flexDirection: 'column', padding: 12, gap: 6 }}&gt;&#13;&#10;                &lt;Box style={{ flexDirection: 'row', alignItems: 'center', gap: 8 }}&gt;&#13;&#10;                    &lt;Box style={{ width: 24, height: 24, background: '#0E3F8C', alignItems: 'center', justifyContent: 'center' }}&gt;&#13;&#10;                        &lt;Text style={{ fontSize: 15, fontWeight: 'bold', color: '#FFFFFF', fontFamily: 'Times New Roman' }}&gt;2&lt;/Text&gt;&#13;&#10;                    &lt;/Box&gt;&#13;&#10;                    &lt;Text style={{ fontSize: 21, fontWeight: 'bold', color: '#0E3F8C', fontFamily: '微软雅黑' }}&gt;召回&lt;/Text&gt;&#13;&#10;                &lt;/Box&gt;&#13;&#10;                &lt;Text style={{ fontSize: 16, color: '#4A5568', fontFamily: '微软雅黑', lineHeight: 1.45 }}&gt;&#13;&#10;                    按问句匹配指标、维度与示例，未命中时显式告知&#13;&#10;                &lt;/Text&gt;&#13;&#10;            &lt;/Box&gt;&#13;&#10;            &lt;Text style={{ fontSize: 22, color: '#1E4FA8', fontFamily: 'Times New Roman' }}&gt;›&lt;/Text&gt;&#13;&#10;            &lt;Box style={{ flex: 1, height: 126, background: '#F7F9FC', border: { top: { width: 4, color: '#0E3F8C' } }, flexDirection: 'column', padding: 12, gap: 6 }}&gt;&#13;&#10;                &lt;Box style={{ flexDirection: 'row', alignItems: 'center', gap: 8 }}&gt;&#13;&#10;                    &lt;Box style={{ width: 24, height: 24, background: '#0E3F8C', alignItems: 'center', justifyContent: 'center' }}&gt;&#13;&#10;                        &lt;Text style={{ fontSize: 15, fontWeight: 'bold', color: '#FFFFFF', fontFamily: 'Times New Roman' }}&gt;3&lt;/Text&gt;&#13;&#10;                    &lt;/Box&gt;&#13;&#10;                    &lt;Text style={{ fontSize: 21, fontWeight: 'bold', color: '#0E3F8C', fontFamily: '微软雅黑' }}&gt;生成&lt;/Text&gt;&#13;&#10;                &lt;/Box&gt;&#13;&#10;                &lt;Text style={{ fontSize: 16, color: '#4A5568', fontFamily: '微软雅黑', lineHeight: 1.45 }}&gt;&#13;&#10;                    组装 Prompt，输出候选 SQL 与选用的口径说明&#13;&#10;                &lt;/Text&gt;&#13;&#10;            &lt;/Box&gt;&#13;&#10;            &lt;Text style={{ fontSize: 22, color: '#1E4FA8', fontFamily: 'Times New Roman' }}&gt;›&lt;/Text&gt;&#13;&#10;            &lt;Box style={{ flex: 1, height: 126, background: '#E8EFF8', border: { top: { width: 4, color: '#1E4FA8' } }, flexDirection: 'column', padding: 12, gap: 6 }}&gt;&#13;&#10;                &lt;Box style={{ flexDirection: 'row', alignItems: 'center', gap: 8 }}&gt;&#13;&#10;                    &lt;Box style={{ width: 24, height: 24, background: '#1E4FA8', alignItems: 'center', justifyContent: 'center' }}&gt;&#13;&#10;                        &lt;Text style={{ fontSize: 15, fontWeight: 'bold', color: '#FFFFFF', fontFamily: 'Times New Roman' }}&gt;4&lt;/Text&gt;&#13;&#10;                    &lt;/Box&gt;&#13;&#10;                    &lt;Text style={{ fontSize: 21, fontWeight: 'bold', color: '#0E3F8C', fontFamily: '微软雅黑' }}&gt;校验&lt;/Text&gt;&#13;&#10;                &lt;/Box&gt;&#13;&#10;                &lt;Text style={{ fontSize: 16, color: '#4A5568', fontFamily: '微软雅黑', lineHeight: 1.45 }}&gt;&#13;&#10;                    九条守卫加口径签名，两条都过才放行执行&#13;&#10;                &lt;/Text&gt;&#13;&#10;            &lt;/Box&gt;&#13;&#10;        &lt;/Box&gt;&#13;&#10;&#13;&#10;        {/* 第二行节点 */}&#13;&#10;        &lt;Box style={{ flexDirection: 'row', alignItems: 'center', gap: 8 }}&gt;&#13;&#10;            &lt;Box style={{ flex: 1, height: 126, background: '#F7F9FC', border: { top: { width: 4, color: '#3D7BD9' } }, flexDirection: 'column', padding: 12, gap: 6 }}&gt;&#13;&#10;                &lt;Box style={{ flexDirection: 'row', alignItems: 'center', gap: 8 }}&gt;&#13;&#10;                    &lt;Box style={{ width: 24, height: 24, background: '#3D7BD9', alignItems: 'center', justifyContent: 'center' }}&gt;&#13;&#10;                        &lt;Text style={{ fontSize: 15, fontWeight: 'bold', color: '#FFFFFF', fontFamily: 'Times New Roman' }}&gt;5&lt;/Text&gt;&#13;&#10;                    &lt;/Box&gt;&#13;&#10;                    &lt;Text style={{ fontSize: 21, fontWeight: 'bold', color: '#0E3F8C', fontFamily: '微软雅黑' }}&gt;执行&lt;/Text&gt;&#13;&#10;                &lt;/Box&gt;&#13;&#10;                &lt;Text style={{ fontSize: 16, color: '#4A5568', fontFamily: '微软雅黑', lineHeight: 1.45 }}&gt;&#13;&#10;                    只读连接执行，带超时与结果行数上限&#13;&#10;                &lt;/Text&gt;&#13;&#10;            &lt;/Box&gt;&#13;&#10;            &lt;Text style={{ fontSize: 22, color: '#1E4FA8', fontFamily: 'Times New Roman' }}&gt;›&lt;/Text&gt;&#13;&#10;            &lt;Box style={{ flex: 1, height: 126, background: '#F7F9FC', border: { top: { width: 4, color: '#3D7BD9' } }, flexDirection: 'column', padding: 12, gap: 6 }}&gt;&#13;&#10;                &lt;Box style={{ flexDirection: 'row', alignItems: 'center', gap: 8 }}&gt;&#13;&#10;                    &lt;Box style={{ width: 24, height: 24, background: '#3D7BD9', alignItems: 'center', justifyContent: 'center' }}&gt;&#13;&#10;                        &lt;Text style={{ fontSize: 15, fontWeight: 'bold', color: '#FFFFFF', fontFamily: 'Times New Roman' }}&gt;6&lt;/Text&gt;&#13;&#10;                    &lt;/Box&gt;&#13;&#10;                    &lt;Text style={{ fontSize: 21, fontWeight: 'bold', color: '#0E3F8C', fontFamily: '微软雅黑' }}&gt;选图&lt;/Text&gt;&#13;&#10;                &lt;/Box&gt;&#13;&#10;                &lt;Text style={{ fontSize: 16, color: '#4A5568', fontFamily: '微软雅黑', lineHeight: 1.45 }}&gt;&#13;&#10;                    按维度个数与结果行数选择图型，并写明依据&#13;&#10;                &lt;/Text&gt;&#13;&#10;            &lt;/Box&gt;&#13;&#10;            &lt;Text style={{ fontSize: 22, color: '#1E4FA8', fontFamily: 'Times New Roman' }}&gt;›&lt;/Text&gt;&#13;&#10;            &lt;Box style={{ flex: 1, height: 126, background: '#F7F9FC', border: { top: { width: 4, color: '#3D7BD9' } }, flexDirection: 'column', padding: 12, gap: 6 }}&gt;&#13;&#10;                &lt;Box style={{ flexDirection: 'row', alignItems: 'center', gap: 8 }}&gt;&#13;&#10;                    &lt;Box style={{ width: 24, height: 24, background: '#3D7BD9', alignItems: 'center', justifyContent: 'center' }}&gt;&#13;&#10;                        &lt;Text style={{ fontSize: 15, fontWeight: 'bold', color: '#FFFFFF', fontFamily: 'Times New Roman' }}&gt;7&lt;/Text&gt;&#13;&#10;                    &lt;/Box&gt;&#13;&#10;                    &lt;Text style={{ fontSize: 21, fontWeight: 'bold', color: '#0E3F8C', fontFamily: '微软雅黑' }}&gt;补充&lt;/Text&gt;&#13;&#10;                &lt;/Box&gt;&#13;&#10;                &lt;Text style={{ fontSize: 16, color: '#4A5568', fontFamily: '微软雅黑', lineHeight: 1.45 }}&gt;&#13;&#10;                    数据时效探针、对比基准与异常标记&#13;&#10;                &lt;/Text&gt;&#13;&#10;            &lt;/Box&gt;&#13;&#10;            &lt;Text style={{ fontSize: 22, color: '#1E4FA8', fontFamily: 'Times New Roman' }}&gt;›&lt;/Text&gt;&#13;&#10;            &lt;Box style={{ flex: 1, height: 126, background: '#F7F9FC', border: { top: { width: 4, color: '#D9534F' } }, flexDirection: 'column', padding: 12, gap: 6 }}&gt;&#13;&#10;                &lt;Box style={{ flexDirection: 'row', alignItems: 'center', gap: 8 }}&gt;&#13;&#10;                    &lt;Box style={{ width: 24, height: 24, background: '#3D7BD9', alignItems: 'center', justifyContent: 'center' }}&gt;&#13;&#10;                        &lt;Text style={{ fontSize: 15, fontWeight: 'bold', color: '#FFFFFF', fontFamily: 'Times New Roman' }}&gt;8&lt;/Text&gt;&#13;&#10;                    &lt;/Box&gt;&#13;&#10;                    &lt;Text style={{ fontSize: 21, fontWeight: 'bold', color: '#0E3F8C', fontFamily: '微软雅黑' }}&gt;总结&lt;/Text&gt;&#13;&#10;                &lt;/Box&gt;&#13;&#10;                &lt;Text style={{ fontSize: 16, color: '#4A5568', fontFamily: '微软雅黑', lineHeight: 1.45 }}&gt;&#13;&#10;                    写结论，并核对结论里的数字是否都出自结果集&#13;&#10;                &lt;/Text&gt;&#13;&#10;            &lt;/Box&gt;&#13;&#10;        &lt;/Box&gt;&#13;&#10;&#13;&#10;        {/* 修正回环 + 六条终态出口 */}&#13;&#10;        &lt;Box style={{ flexDirection: 'row', gap: 14 }}&gt;&#13;&#10;            &lt;Box style={{ flex: 1, background: '#E8EFF8', border: { left: { width: 4, color: '#D9534F' } }, padding: '14px 16px', flexDirection: 'column', gap: 3 }}&gt;&#13;&#10;                &lt;Text style={{ fontSize: 19, fontWeight: 'bold', color: '#0E3F8C', fontFamily: '微软雅黑' }}&gt;&#13;&#10;                    修正节点：回到校验，不绕过校验&#13;&#10;                &lt;/Text&gt;&#13;&#10;                &lt;Text style={{ fontSize: 16, color: '#4A5568', fontFamily: '微软雅黑', lineHeight: 1.45 }}&gt;&#13;&#10;                    校验或执行失败时进入，把数据库原始报错一并带回，修正后重走校验，上限 3 次。&#13;&#10;                &lt;/Text&gt;&#13;&#10;            &lt;/Box&gt;&#13;&#10;            &lt;Box style={{ flex: 1, background: '#F7F9FC', border: { left: { width: 4, color: '#1E4FA8' } }, padding: '14px 16px', flexDirection: 'column', gap: 3 }}&gt;&#13;&#10;                &lt;Text style={{ fontSize: 19, fontWeight: 'bold', color: '#0E3F8C', fontFamily: '微软雅黑' }}&gt;六条终态出口&lt;/Text&gt;&#13;&#10;                &lt;Text style={{ fontSize: 16, color: '#4A5568', fontFamily: '微软雅黑', lineHeight: 1.45 }}&gt;&#13;&#10;                    正常总结　·　闲聊应答　·　信息不足转澄清　·　域外请求拒答　·　归因只给拆解不给数字　·　重试超限放弃&#13;&#10;                &lt;/Text&gt;&#13;&#10;            &lt;/Box&gt;&#13;&#10;        &lt;/Box&gt;&#13;&#10;&#13;&#10;        &lt;Text style={{ fontSize: 14, color: '#8B97A8', fontFamily: '微软雅黑' }}&gt;&#13;&#10;            节点与出口取自 backend/app/agent/graph.py 的 add_node、add_conditional_edges 与 add_edge 声明，共 14 个节点、6 条终态出口。&#13;&#10;        &lt;/Text&gt;&#13;&#10;    &lt;/Box&gt;&#13;&#10;&#13;&#10;    {/* D 页脚 */}&#13;&#10;    &lt;Box style={{ width: '100%', height: 40, flexDirection: 'row', alignItems: 'center', justifyContent: 'space-between', padding: '0 40px' }}&gt;&#13;&#10;        &lt;Text style={{ fontSize: 14, color: '#8B97A8', fontFamily: '微软雅黑' }}&gt;Text2SQL 电商数据分析 Agent&lt;/Text&gt;&#13;&#10;        &lt;Text style={{ fontSize: 15, color: '#1E4FA8', fontFamily: 'Times New Roman' }}&gt;08 / 16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矩形 49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495" name="矩形 494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496" name="矩形 495"/>
          <p:cNvSpPr/>
          <p:nvPr/>
        </p:nvSpPr>
        <p:spPr>
          <a:xfrm>
            <a:off x="381000" y="228600"/>
            <a:ext cx="47625" cy="247650"/>
          </a:xfrm>
          <a:prstGeom prst="rect">
            <a:avLst/>
          </a:prstGeom>
          <a:solidFill>
            <a:srgbClr val="3D7BD9"/>
          </a:solidFill>
        </p:spPr>
        <p:txBody>
          <a:bodyPr/>
          <a:p/>
        </p:txBody>
      </p:sp>
      <p:sp>
        <p:nvSpPr>
          <p:cNvPr id="497" name="文本框 496" descr="{&quot;isTemplate&quot;:true,&quot;type&quot;:&quot;text&quot;}"/>
          <p:cNvSpPr txBox="1"/>
          <p:nvPr/>
        </p:nvSpPr>
        <p:spPr>
          <a:xfrm>
            <a:off x="561975" y="161925"/>
            <a:ext cx="30480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十四个节点，六条出口</a:t>
            </a:r>
            <a:endParaRPr lang="zh-CN"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8" name="文本框 497" descr="{&quot;isTemplate&quot;:true,&quot;type&quot;:&quot;text&quot;}"/>
          <p:cNvSpPr txBox="1"/>
          <p:nvPr/>
        </p:nvSpPr>
        <p:spPr>
          <a:xfrm>
            <a:off x="11239500" y="257175"/>
            <a:ext cx="571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系统设计</a:t>
            </a:r>
            <a:endParaRPr lang="zh-CN" sz="1125">
              <a:solidFill>
                <a:srgbClr val="FFFFFF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9" name="文本框 498" descr="{&quot;isTemplate&quot;:true,&quot;type&quot;:&quot;text&quot;}"/>
          <p:cNvSpPr txBox="1"/>
          <p:nvPr/>
        </p:nvSpPr>
        <p:spPr>
          <a:xfrm>
            <a:off x="381000" y="857250"/>
            <a:ext cx="11430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上半部分</a:t>
            </a:r>
            <a:r>
              <a:rPr lang="zh-CN" sz="15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的八个是主链路节点。连同修正节点与五个分支终态节点，状态机共十四个节点、六条终态出口。</a:t>
            </a:r>
            <a:endParaRPr lang="zh-CN" sz="15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0" name="矩形 499"/>
          <p:cNvSpPr/>
          <p:nvPr/>
        </p:nvSpPr>
        <p:spPr>
          <a:xfrm>
            <a:off x="381000" y="1209675"/>
            <a:ext cx="2686050" cy="120015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501" name="矩形 500"/>
          <p:cNvSpPr/>
          <p:nvPr/>
        </p:nvSpPr>
        <p:spPr>
          <a:xfrm>
            <a:off x="495300" y="1333500"/>
            <a:ext cx="228600" cy="2286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502" name="文本框 501" descr="{&quot;isTemplate&quot;:true,&quot;type&quot;:&quot;text&quot;}"/>
          <p:cNvSpPr txBox="1"/>
          <p:nvPr/>
        </p:nvSpPr>
        <p:spPr>
          <a:xfrm>
            <a:off x="571500" y="1362075"/>
            <a:ext cx="76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</a:rPr>
              <a:t>1</a:t>
            </a:r>
            <a:endParaRPr lang="en-US" sz="1125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503" name="文本框 502" descr="{&quot;isTemplate&quot;:true,&quot;type&quot;:&quot;text&quot;}"/>
          <p:cNvSpPr txBox="1"/>
          <p:nvPr/>
        </p:nvSpPr>
        <p:spPr>
          <a:xfrm>
            <a:off x="800100" y="1323975"/>
            <a:ext cx="4000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路由</a:t>
            </a:r>
            <a:endParaRPr lang="zh-CN" sz="157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4" name="文本框 503" descr="{&quot;isTemplate&quot;:true,&quot;type&quot;:&quot;text&quot;}"/>
          <p:cNvSpPr txBox="1"/>
          <p:nvPr/>
        </p:nvSpPr>
        <p:spPr>
          <a:xfrm>
            <a:off x="495300" y="1628775"/>
            <a:ext cx="245745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判断是取数提问、追问改写，还是与数据无关的请求</a:t>
            </a:r>
            <a:endParaRPr lang="zh-CN"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5" name="文本框 504" descr="{&quot;isTemplate&quot;:true,&quot;type&quot;:&quot;text&quot;}"/>
          <p:cNvSpPr txBox="1"/>
          <p:nvPr/>
        </p:nvSpPr>
        <p:spPr>
          <a:xfrm>
            <a:off x="3143250" y="1685925"/>
            <a:ext cx="76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1E4FA8"/>
                </a:solidFill>
                <a:latin typeface="Times New Roman" panose="02020603050405020304"/>
                <a:ea typeface="Times New Roman" panose="02020603050405020304"/>
              </a:rPr>
              <a:t>›</a:t>
            </a:r>
            <a:endParaRPr sz="1650">
              <a:solidFill>
                <a:srgbClr val="1E4FA8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506" name="矩形 505"/>
          <p:cNvSpPr/>
          <p:nvPr/>
        </p:nvSpPr>
        <p:spPr>
          <a:xfrm>
            <a:off x="3295650" y="1209675"/>
            <a:ext cx="2686050" cy="120015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507" name="矩形 506"/>
          <p:cNvSpPr/>
          <p:nvPr/>
        </p:nvSpPr>
        <p:spPr>
          <a:xfrm>
            <a:off x="3409950" y="1333500"/>
            <a:ext cx="228600" cy="2286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508" name="文本框 507" descr="{&quot;isTemplate&quot;:true,&quot;type&quot;:&quot;text&quot;}"/>
          <p:cNvSpPr txBox="1"/>
          <p:nvPr/>
        </p:nvSpPr>
        <p:spPr>
          <a:xfrm>
            <a:off x="3486150" y="1362075"/>
            <a:ext cx="76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</a:rPr>
              <a:t>2</a:t>
            </a:r>
            <a:endParaRPr lang="en-US" sz="1125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509" name="文本框 508" descr="{&quot;isTemplate&quot;:true,&quot;type&quot;:&quot;text&quot;}"/>
          <p:cNvSpPr txBox="1"/>
          <p:nvPr/>
        </p:nvSpPr>
        <p:spPr>
          <a:xfrm>
            <a:off x="3714750" y="1323975"/>
            <a:ext cx="4000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召回</a:t>
            </a:r>
            <a:endParaRPr lang="zh-CN" sz="157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0" name="文本框 509" descr="{&quot;isTemplate&quot;:true,&quot;type&quot;:&quot;text&quot;}"/>
          <p:cNvSpPr txBox="1"/>
          <p:nvPr/>
        </p:nvSpPr>
        <p:spPr>
          <a:xfrm>
            <a:off x="3409950" y="1628775"/>
            <a:ext cx="245745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按问句匹配指标、维度与示例，未命中时显式告知</a:t>
            </a:r>
            <a:endParaRPr lang="zh-CN"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1" name="文本框 510" descr="{&quot;isTemplate&quot;:true,&quot;type&quot;:&quot;text&quot;}"/>
          <p:cNvSpPr txBox="1"/>
          <p:nvPr/>
        </p:nvSpPr>
        <p:spPr>
          <a:xfrm>
            <a:off x="6057900" y="1685925"/>
            <a:ext cx="76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1E4FA8"/>
                </a:solidFill>
                <a:latin typeface="Times New Roman" panose="02020603050405020304"/>
                <a:ea typeface="Times New Roman" panose="02020603050405020304"/>
              </a:rPr>
              <a:t>›</a:t>
            </a:r>
            <a:endParaRPr sz="1650">
              <a:solidFill>
                <a:srgbClr val="1E4FA8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512" name="矩形 511"/>
          <p:cNvSpPr/>
          <p:nvPr/>
        </p:nvSpPr>
        <p:spPr>
          <a:xfrm>
            <a:off x="6210300" y="1209675"/>
            <a:ext cx="2686050" cy="120015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513" name="矩形 512"/>
          <p:cNvSpPr/>
          <p:nvPr/>
        </p:nvSpPr>
        <p:spPr>
          <a:xfrm>
            <a:off x="6324600" y="1333500"/>
            <a:ext cx="228600" cy="2286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514" name="文本框 513" descr="{&quot;isTemplate&quot;:true,&quot;type&quot;:&quot;text&quot;}"/>
          <p:cNvSpPr txBox="1"/>
          <p:nvPr/>
        </p:nvSpPr>
        <p:spPr>
          <a:xfrm>
            <a:off x="6400800" y="1362075"/>
            <a:ext cx="76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</a:rPr>
              <a:t>3</a:t>
            </a:r>
            <a:endParaRPr lang="en-US" sz="1125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515" name="文本框 514" descr="{&quot;isTemplate&quot;:true,&quot;type&quot;:&quot;text&quot;}"/>
          <p:cNvSpPr txBox="1"/>
          <p:nvPr/>
        </p:nvSpPr>
        <p:spPr>
          <a:xfrm>
            <a:off x="6629400" y="1323975"/>
            <a:ext cx="4000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生成</a:t>
            </a:r>
            <a:endParaRPr lang="zh-CN" sz="157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6" name="文本框 515" descr="{&quot;isTemplate&quot;:true,&quot;type&quot;:&quot;text&quot;}"/>
          <p:cNvSpPr txBox="1"/>
          <p:nvPr/>
        </p:nvSpPr>
        <p:spPr>
          <a:xfrm>
            <a:off x="6324600" y="1628775"/>
            <a:ext cx="245745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组装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Prompt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，输出候选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SQL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与选用的口径说明</a:t>
            </a:r>
            <a:endParaRPr lang="zh-CN"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7" name="文本框 516" descr="{&quot;isTemplate&quot;:true,&quot;type&quot;:&quot;text&quot;}"/>
          <p:cNvSpPr txBox="1"/>
          <p:nvPr/>
        </p:nvSpPr>
        <p:spPr>
          <a:xfrm>
            <a:off x="8972550" y="1685925"/>
            <a:ext cx="76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1E4FA8"/>
                </a:solidFill>
                <a:latin typeface="Times New Roman" panose="02020603050405020304"/>
                <a:ea typeface="Times New Roman" panose="02020603050405020304"/>
              </a:rPr>
              <a:t>›</a:t>
            </a:r>
            <a:endParaRPr sz="1650">
              <a:solidFill>
                <a:srgbClr val="1E4FA8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518" name="矩形 517"/>
          <p:cNvSpPr/>
          <p:nvPr/>
        </p:nvSpPr>
        <p:spPr>
          <a:xfrm>
            <a:off x="9124950" y="1209675"/>
            <a:ext cx="2686050" cy="1200150"/>
          </a:xfrm>
          <a:prstGeom prst="rect">
            <a:avLst/>
          </a:prstGeom>
          <a:solidFill>
            <a:srgbClr val="E8EFF8"/>
          </a:solidFill>
        </p:spPr>
        <p:txBody>
          <a:bodyPr/>
          <a:p/>
        </p:txBody>
      </p:sp>
      <p:sp>
        <p:nvSpPr>
          <p:cNvPr id="519" name="矩形 518"/>
          <p:cNvSpPr/>
          <p:nvPr/>
        </p:nvSpPr>
        <p:spPr>
          <a:xfrm>
            <a:off x="9239250" y="1333500"/>
            <a:ext cx="228600" cy="2286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520" name="文本框 519" descr="{&quot;isTemplate&quot;:true,&quot;type&quot;:&quot;text&quot;}"/>
          <p:cNvSpPr txBox="1"/>
          <p:nvPr/>
        </p:nvSpPr>
        <p:spPr>
          <a:xfrm>
            <a:off x="9315450" y="1362075"/>
            <a:ext cx="76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</a:rPr>
              <a:t>4</a:t>
            </a:r>
            <a:endParaRPr lang="en-US" sz="1125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521" name="文本框 520" descr="{&quot;isTemplate&quot;:true,&quot;type&quot;:&quot;text&quot;}"/>
          <p:cNvSpPr txBox="1"/>
          <p:nvPr/>
        </p:nvSpPr>
        <p:spPr>
          <a:xfrm>
            <a:off x="9544050" y="1323975"/>
            <a:ext cx="4000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校验</a:t>
            </a:r>
            <a:endParaRPr lang="zh-CN" sz="157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2" name="文本框 521" descr="{&quot;isTemplate&quot;:true,&quot;type&quot;:&quot;text&quot;}"/>
          <p:cNvSpPr txBox="1"/>
          <p:nvPr/>
        </p:nvSpPr>
        <p:spPr>
          <a:xfrm>
            <a:off x="9239250" y="1628775"/>
            <a:ext cx="245745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九条守卫加口径签名，两条都过才放行执行</a:t>
            </a:r>
            <a:endParaRPr lang="zh-CN"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3" name="矩形 522"/>
          <p:cNvSpPr/>
          <p:nvPr/>
        </p:nvSpPr>
        <p:spPr>
          <a:xfrm>
            <a:off x="381000" y="2533650"/>
            <a:ext cx="2686050" cy="120015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524" name="矩形 523"/>
          <p:cNvSpPr/>
          <p:nvPr/>
        </p:nvSpPr>
        <p:spPr>
          <a:xfrm>
            <a:off x="495300" y="2657475"/>
            <a:ext cx="228600" cy="228600"/>
          </a:xfrm>
          <a:prstGeom prst="rect">
            <a:avLst/>
          </a:prstGeom>
          <a:solidFill>
            <a:srgbClr val="3D7BD9"/>
          </a:solidFill>
        </p:spPr>
        <p:txBody>
          <a:bodyPr/>
          <a:p/>
        </p:txBody>
      </p:sp>
      <p:sp>
        <p:nvSpPr>
          <p:cNvPr id="525" name="文本框 524" descr="{&quot;isTemplate&quot;:true,&quot;type&quot;:&quot;text&quot;}"/>
          <p:cNvSpPr txBox="1"/>
          <p:nvPr/>
        </p:nvSpPr>
        <p:spPr>
          <a:xfrm>
            <a:off x="571500" y="2686050"/>
            <a:ext cx="76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</a:rPr>
              <a:t>5</a:t>
            </a:r>
            <a:endParaRPr lang="en-US" sz="1125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526" name="文本框 525" descr="{&quot;isTemplate&quot;:true,&quot;type&quot;:&quot;text&quot;}"/>
          <p:cNvSpPr txBox="1"/>
          <p:nvPr/>
        </p:nvSpPr>
        <p:spPr>
          <a:xfrm>
            <a:off x="800100" y="2647950"/>
            <a:ext cx="4000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执行</a:t>
            </a:r>
            <a:endParaRPr lang="zh-CN" sz="157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7" name="文本框 526" descr="{&quot;isTemplate&quot;:true,&quot;type&quot;:&quot;text&quot;}"/>
          <p:cNvSpPr txBox="1"/>
          <p:nvPr/>
        </p:nvSpPr>
        <p:spPr>
          <a:xfrm>
            <a:off x="495300" y="2952750"/>
            <a:ext cx="245745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只读连接执行，带超时与结果行数上限</a:t>
            </a:r>
            <a:endParaRPr lang="zh-CN"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8" name="文本框 527" descr="{&quot;isTemplate&quot;:true,&quot;type&quot;:&quot;text&quot;}"/>
          <p:cNvSpPr txBox="1"/>
          <p:nvPr/>
        </p:nvSpPr>
        <p:spPr>
          <a:xfrm>
            <a:off x="3143250" y="3009900"/>
            <a:ext cx="76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1E4FA8"/>
                </a:solidFill>
                <a:latin typeface="Times New Roman" panose="02020603050405020304"/>
                <a:ea typeface="Times New Roman" panose="02020603050405020304"/>
              </a:rPr>
              <a:t>›</a:t>
            </a:r>
            <a:endParaRPr sz="1650">
              <a:solidFill>
                <a:srgbClr val="1E4FA8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529" name="矩形 528"/>
          <p:cNvSpPr/>
          <p:nvPr/>
        </p:nvSpPr>
        <p:spPr>
          <a:xfrm>
            <a:off x="3295650" y="2533650"/>
            <a:ext cx="2686050" cy="120015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530" name="矩形 529"/>
          <p:cNvSpPr/>
          <p:nvPr/>
        </p:nvSpPr>
        <p:spPr>
          <a:xfrm>
            <a:off x="3409950" y="2657475"/>
            <a:ext cx="228600" cy="228600"/>
          </a:xfrm>
          <a:prstGeom prst="rect">
            <a:avLst/>
          </a:prstGeom>
          <a:solidFill>
            <a:srgbClr val="3D7BD9"/>
          </a:solidFill>
        </p:spPr>
        <p:txBody>
          <a:bodyPr/>
          <a:p/>
        </p:txBody>
      </p:sp>
      <p:sp>
        <p:nvSpPr>
          <p:cNvPr id="531" name="文本框 530" descr="{&quot;isTemplate&quot;:true,&quot;type&quot;:&quot;text&quot;}"/>
          <p:cNvSpPr txBox="1"/>
          <p:nvPr/>
        </p:nvSpPr>
        <p:spPr>
          <a:xfrm>
            <a:off x="3486150" y="2686050"/>
            <a:ext cx="76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</a:rPr>
              <a:t>6</a:t>
            </a:r>
            <a:endParaRPr lang="en-US" sz="1125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532" name="文本框 531" descr="{&quot;isTemplate&quot;:true,&quot;type&quot;:&quot;text&quot;}"/>
          <p:cNvSpPr txBox="1"/>
          <p:nvPr/>
        </p:nvSpPr>
        <p:spPr>
          <a:xfrm>
            <a:off x="3714750" y="2647950"/>
            <a:ext cx="4000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选图</a:t>
            </a:r>
            <a:endParaRPr lang="zh-CN" sz="157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3" name="文本框 532" descr="{&quot;isTemplate&quot;:true,&quot;type&quot;:&quot;text&quot;}"/>
          <p:cNvSpPr txBox="1"/>
          <p:nvPr/>
        </p:nvSpPr>
        <p:spPr>
          <a:xfrm>
            <a:off x="3409950" y="2952750"/>
            <a:ext cx="245745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按维度个数与结果行数选择图型，并写明依据</a:t>
            </a:r>
            <a:endParaRPr lang="zh-CN"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4" name="文本框 533" descr="{&quot;isTemplate&quot;:true,&quot;type&quot;:&quot;text&quot;}"/>
          <p:cNvSpPr txBox="1"/>
          <p:nvPr/>
        </p:nvSpPr>
        <p:spPr>
          <a:xfrm>
            <a:off x="6057900" y="3009900"/>
            <a:ext cx="76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1E4FA8"/>
                </a:solidFill>
                <a:latin typeface="Times New Roman" panose="02020603050405020304"/>
                <a:ea typeface="Times New Roman" panose="02020603050405020304"/>
              </a:rPr>
              <a:t>›</a:t>
            </a:r>
            <a:endParaRPr sz="1650">
              <a:solidFill>
                <a:srgbClr val="1E4FA8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535" name="矩形 534"/>
          <p:cNvSpPr/>
          <p:nvPr/>
        </p:nvSpPr>
        <p:spPr>
          <a:xfrm>
            <a:off x="6210300" y="2533650"/>
            <a:ext cx="2686050" cy="120015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536" name="矩形 535"/>
          <p:cNvSpPr/>
          <p:nvPr/>
        </p:nvSpPr>
        <p:spPr>
          <a:xfrm>
            <a:off x="6324600" y="2657475"/>
            <a:ext cx="228600" cy="228600"/>
          </a:xfrm>
          <a:prstGeom prst="rect">
            <a:avLst/>
          </a:prstGeom>
          <a:solidFill>
            <a:srgbClr val="3D7BD9"/>
          </a:solidFill>
        </p:spPr>
        <p:txBody>
          <a:bodyPr/>
          <a:p/>
        </p:txBody>
      </p:sp>
      <p:sp>
        <p:nvSpPr>
          <p:cNvPr id="537" name="文本框 536" descr="{&quot;isTemplate&quot;:true,&quot;type&quot;:&quot;text&quot;}"/>
          <p:cNvSpPr txBox="1"/>
          <p:nvPr/>
        </p:nvSpPr>
        <p:spPr>
          <a:xfrm>
            <a:off x="6400800" y="2686050"/>
            <a:ext cx="76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</a:rPr>
              <a:t>7</a:t>
            </a:r>
            <a:endParaRPr lang="en-US" sz="1125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538" name="文本框 537" descr="{&quot;isTemplate&quot;:true,&quot;type&quot;:&quot;text&quot;}"/>
          <p:cNvSpPr txBox="1"/>
          <p:nvPr/>
        </p:nvSpPr>
        <p:spPr>
          <a:xfrm>
            <a:off x="6629400" y="2647950"/>
            <a:ext cx="4000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补充</a:t>
            </a:r>
            <a:endParaRPr lang="zh-CN" sz="157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9" name="文本框 538" descr="{&quot;isTemplate&quot;:true,&quot;type&quot;:&quot;text&quot;}"/>
          <p:cNvSpPr txBox="1"/>
          <p:nvPr/>
        </p:nvSpPr>
        <p:spPr>
          <a:xfrm>
            <a:off x="6324600" y="2952750"/>
            <a:ext cx="245745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数据时效探针、对比基准与异常标记</a:t>
            </a:r>
            <a:endParaRPr lang="zh-CN"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0" name="文本框 539" descr="{&quot;isTemplate&quot;:true,&quot;type&quot;:&quot;text&quot;}"/>
          <p:cNvSpPr txBox="1"/>
          <p:nvPr/>
        </p:nvSpPr>
        <p:spPr>
          <a:xfrm>
            <a:off x="8972550" y="3009900"/>
            <a:ext cx="76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1E4FA8"/>
                </a:solidFill>
                <a:latin typeface="Times New Roman" panose="02020603050405020304"/>
                <a:ea typeface="Times New Roman" panose="02020603050405020304"/>
              </a:rPr>
              <a:t>›</a:t>
            </a:r>
            <a:endParaRPr sz="1650">
              <a:solidFill>
                <a:srgbClr val="1E4FA8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541" name="矩形 540"/>
          <p:cNvSpPr/>
          <p:nvPr/>
        </p:nvSpPr>
        <p:spPr>
          <a:xfrm>
            <a:off x="9124950" y="2533650"/>
            <a:ext cx="2686050" cy="120015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542" name="矩形 541"/>
          <p:cNvSpPr/>
          <p:nvPr/>
        </p:nvSpPr>
        <p:spPr>
          <a:xfrm>
            <a:off x="9239250" y="2657475"/>
            <a:ext cx="228600" cy="228600"/>
          </a:xfrm>
          <a:prstGeom prst="rect">
            <a:avLst/>
          </a:prstGeom>
          <a:solidFill>
            <a:srgbClr val="3D7BD9"/>
          </a:solidFill>
        </p:spPr>
        <p:txBody>
          <a:bodyPr/>
          <a:p/>
        </p:txBody>
      </p:sp>
      <p:sp>
        <p:nvSpPr>
          <p:cNvPr id="543" name="文本框 542" descr="{&quot;isTemplate&quot;:true,&quot;type&quot;:&quot;text&quot;}"/>
          <p:cNvSpPr txBox="1"/>
          <p:nvPr/>
        </p:nvSpPr>
        <p:spPr>
          <a:xfrm>
            <a:off x="9315450" y="2686050"/>
            <a:ext cx="76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</a:rPr>
              <a:t>8</a:t>
            </a:r>
            <a:endParaRPr lang="en-US" sz="1125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544" name="文本框 543" descr="{&quot;isTemplate&quot;:true,&quot;type&quot;:&quot;text&quot;}"/>
          <p:cNvSpPr txBox="1"/>
          <p:nvPr/>
        </p:nvSpPr>
        <p:spPr>
          <a:xfrm>
            <a:off x="9544050" y="2647950"/>
            <a:ext cx="4000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总结</a:t>
            </a:r>
            <a:endParaRPr lang="zh-CN" sz="157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5" name="文本框 544" descr="{&quot;isTemplate&quot;:true,&quot;type&quot;:&quot;text&quot;}"/>
          <p:cNvSpPr txBox="1"/>
          <p:nvPr/>
        </p:nvSpPr>
        <p:spPr>
          <a:xfrm>
            <a:off x="9239250" y="2952750"/>
            <a:ext cx="245745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写结论，并核对结论里的数字是否都出自结果集</a:t>
            </a:r>
            <a:endParaRPr lang="zh-CN"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6" name="矩形 545"/>
          <p:cNvSpPr/>
          <p:nvPr/>
        </p:nvSpPr>
        <p:spPr>
          <a:xfrm>
            <a:off x="381000" y="3857625"/>
            <a:ext cx="5648325" cy="1047750"/>
          </a:xfrm>
          <a:prstGeom prst="rect">
            <a:avLst/>
          </a:prstGeom>
          <a:solidFill>
            <a:srgbClr val="E8EFF8"/>
          </a:solidFill>
        </p:spPr>
        <p:txBody>
          <a:bodyPr/>
          <a:p/>
        </p:txBody>
      </p:sp>
      <p:sp>
        <p:nvSpPr>
          <p:cNvPr id="547" name="文本框 546" descr="{&quot;isTemplate&quot;:true,&quot;type&quot;:&quot;text&quot;}"/>
          <p:cNvSpPr txBox="1"/>
          <p:nvPr/>
        </p:nvSpPr>
        <p:spPr>
          <a:xfrm>
            <a:off x="533400" y="3990975"/>
            <a:ext cx="53435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修正节点：回到校验，不绕过校验</a:t>
            </a:r>
            <a:endParaRPr lang="zh-CN" sz="142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8" name="文本框 547" descr="{&quot;isTemplate&quot;:true,&quot;type&quot;:&quot;text&quot;}"/>
          <p:cNvSpPr txBox="1"/>
          <p:nvPr/>
        </p:nvSpPr>
        <p:spPr>
          <a:xfrm>
            <a:off x="533400" y="4238625"/>
            <a:ext cx="5343525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校验或执行失败时进入，把数据库原始报错一并带回，修正后重走校验，上限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次。</a:t>
            </a:r>
            <a:endParaRPr lang="zh-CN"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9" name="矩形 548"/>
          <p:cNvSpPr/>
          <p:nvPr/>
        </p:nvSpPr>
        <p:spPr>
          <a:xfrm>
            <a:off x="6162675" y="3857625"/>
            <a:ext cx="5648325" cy="104775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550" name="文本框 549" descr="{&quot;isTemplate&quot;:true,&quot;type&quot;:&quot;text&quot;}"/>
          <p:cNvSpPr txBox="1"/>
          <p:nvPr/>
        </p:nvSpPr>
        <p:spPr>
          <a:xfrm>
            <a:off x="6315075" y="3990975"/>
            <a:ext cx="53435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六条终态出口</a:t>
            </a:r>
            <a:endParaRPr lang="zh-CN" sz="142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1" name="文本框 550" descr="{&quot;isTemplate&quot;:true,&quot;type&quot;:&quot;text&quot;}"/>
          <p:cNvSpPr txBox="1"/>
          <p:nvPr/>
        </p:nvSpPr>
        <p:spPr>
          <a:xfrm>
            <a:off x="6315075" y="4238625"/>
            <a:ext cx="5343525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正常总结　·　闲聊应答　·　信息不足转澄清　·　域外请求拒答　·　归因只给拆解不给数字　·　重试超限放弃</a:t>
            </a:r>
            <a:endParaRPr lang="zh-CN"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2" name="文本框 551" descr="{&quot;isTemplate&quot;:true,&quot;type&quot;:&quot;text&quot;}"/>
          <p:cNvSpPr txBox="1"/>
          <p:nvPr/>
        </p:nvSpPr>
        <p:spPr>
          <a:xfrm>
            <a:off x="381000" y="5029200"/>
            <a:ext cx="11430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节点与出口取自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backend/app/agent/graph.py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add_node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add_conditional_edges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add_edge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声明，共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14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个节点、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6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条终态出口。</a:t>
            </a:r>
            <a:endParaRPr lang="zh-CN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3" name="文本框 552" descr="{&quot;isTemplate&quot;:true,&quot;type&quot;:&quot;text&quot;}"/>
          <p:cNvSpPr txBox="1"/>
          <p:nvPr/>
        </p:nvSpPr>
        <p:spPr>
          <a:xfrm>
            <a:off x="381000" y="6591300"/>
            <a:ext cx="17811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Text2SQL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电商数据分析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Agent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4" name="文本框 553" descr="{&quot;isTemplate&quot;:true,&quot;type&quot;:&quot;text&quot;}"/>
          <p:cNvSpPr txBox="1"/>
          <p:nvPr/>
        </p:nvSpPr>
        <p:spPr>
          <a:xfrm>
            <a:off x="11410950" y="6581775"/>
            <a:ext cx="4000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Times New Roman" panose="02020603050405020304"/>
                <a:ea typeface="Times New Roman" panose="02020603050405020304"/>
              </a:rPr>
              <a:t>08 / 16</a:t>
            </a:r>
            <a:endParaRPr lang="en-US" sz="1125">
              <a:solidFill>
                <a:srgbClr val="1E4FA8"/>
              </a:solidFill>
              <a:latin typeface="Times New Roman" panose="02020603050405020304"/>
              <a:ea typeface="Times New Roman" panose="020206030504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5" name="" descr="&lt;Slide style={{ background: '#FFFFFF', padding: 0, flexDirection: 'column' }}&gt;&#13;&#10;    {/* A3 页眉 */}&#13;&#10;    &lt;Box style={{&#13;&#10;        width: '100%', height: 72, background: '#0E3F8C',&#13;&#10;        flexDirection: 'row', alignItems: 'center', justifyContent: 'space-between',&#13;&#10;        padding: '0 40px',&#13;&#10;    }}&gt;&#13;&#10;        &lt;Box style={{ flexDirection: 'row', alignItems: 'center', gap: 14 }}&gt;&#13;&#10;            &lt;Box style={{ width: 5, height: 26, background: '#3D7BD9' }} /&gt;&#13;&#10;            &lt;Text style={{ fontSize: 32, fontWeight: 'bold', color: '#FFFFFF', fontFamily: '微软雅黑' }}&gt;&#13;&#10;                执行前的最后一道闸&#13;&#10;            &lt;/Text&gt;&#13;&#10;        &lt;/Box&gt;&#13;&#10;        &lt;Text style={{ fontSize: 15, color: 'rgba(255,255,255,0.7)', fontFamily: '微软雅黑' }}&gt;&#13;&#10;            系统设计&#13;&#10;        &lt;/Text&gt;&#13;&#10;    &lt;/Box&gt;&#13;&#10;&#13;&#10;    &lt;Box style={{ flex: 1, flexDirection: 'column', padding: '20px 40px 0 40px', gap: 14 }}&gt;&#13;&#10;        &lt;Text style={{ fontSize: 21, color: '#4A5568', fontFamily: '微软雅黑' }}&gt;&#13;&#10;            九条规则按固定顺序执行，任一条不通过就不进入执行环节。只有 R6 会自动改写，其余都是拒绝。&#13;&#10;        &lt;/Text&gt;&#13;&#10;&#13;&#10;        {/* 第一行 */}&#13;&#10;        &lt;Box style={{ flexDirection: 'row', gap: 12 }}&gt;&#13;&#10;            &lt;Box style={{ flex: 1, height: 140, background: '#F7F9FC', border: { left: { width: 4, color: '#1E4FA8' } }, flexDirection: 'column', padding: 14, gap: 6 }}&gt;&#13;&#10;                &lt;Box style={{ flexDirection: 'row', alignItems: 'center', gap: 9 }}&gt;&#13;&#10;                    &lt;Box style={{ width: 42, height: 24, background: '#1E4FA8', alignItems: 'center', justifyContent: 'center' }}&gt;&#13;&#10;                        &lt;Text style={{ fontSize: 16, fontWeight: 'bold', color: '#FFFFFF', fontFamily: 'Times New Roman' }}&gt;R1&lt;/Text&gt;&#13;&#10;                    &lt;/Box&gt;&#13;&#10;                    &lt;Text style={{ fontSize: 20, fontWeight: 'bold', color: '#0E3F8C', fontFamily: '微软雅黑' }}&gt;单条语句&lt;/Text&gt;&#13;&#10;                &lt;/Box&gt;&#13;&#10;                &lt;Text style={{ fontSize: 17, color: '#4A5568', fontFamily: '微软雅黑', lineHeight: 1.5 }}&gt;&#13;&#10;                    只允许一条语句，出现分号分隔的多条直接拒绝&#13;&#10;                &lt;/Text&gt;&#13;&#10;            &lt;/Box&gt;&#13;&#10;            &lt;Box style={{ flex: 1, height: 140, background: '#F7F9FC', border: { left: { width: 4, color: '#1E4FA8' } }, flexDirection: 'column', padding: 14, gap: 6 }}&gt;&#13;&#10;                &lt;Box style={{ flexDirection: 'row', alignItems: 'center', gap: 9 }}&gt;&#13;&#10;                    &lt;Box style={{ width: 42, height: 24, background: '#1E4FA8', alignItems: 'center', justifyContent: 'center' }}&gt;&#13;&#10;                        &lt;Text style={{ fontSize: 16, fontWeight: 'bold', color: '#FFFFFF', fontFamily: 'Times New Roman' }}&gt;R2&lt;/Text&gt;&#13;&#10;                    &lt;/Box&gt;&#13;&#10;                    &lt;Text style={{ fontSize: 20, fontWeight: 'bold', color: '#0E3F8C', fontFamily: '微软雅黑' }}&gt;只允许查询&lt;/Text&gt;&#13;&#10;                &lt;/Box&gt;&#13;&#10;                &lt;Text style={{ fontSize: 17, color: '#4A5568', fontFamily: '微软雅黑', lineHeight: 1.5 }}&gt;&#13;&#10;                    SELECT 与集合运算之外一律拒绝，用白名单而非黑名单&#13;&#10;                &lt;/Text&gt;&#13;&#10;            &lt;/Box&gt;&#13;&#10;            &lt;Box style={{ flex: 1, height: 140, background: '#F7F9FC', border: { left: { width: 4, color: '#1E4FA8' } }, flexDirection: 'column', padding: 14, gap: 6 }}&gt;&#13;&#10;                &lt;Box style={{ flexDirection: 'row', alignItems: 'center', gap: 9 }}&gt;&#13;&#10;                    &lt;Box style={{ width: 42, height: 24, background: '#1E4FA8', alignItems: 'center', justifyContent: 'center' }}&gt;&#13;&#10;                        &lt;Text style={{ fontSize: 16, fontWeight: 'bold', color: '#FFFFFF', fontFamily: 'Times New Roman' }}&gt;R3&lt;/Text&gt;&#13;&#10;                    &lt;/Box&gt;&#13;&#10;                    &lt;Text style={{ fontSize: 20, fontWeight: 'bold', color: '#0E3F8C', fontFamily: '微软雅黑' }}&gt;危险节点&lt;/Text&gt;&#13;&#10;                &lt;/Box&gt;&#13;&#10;                &lt;Text style={{ fontSize: 17, color: '#4A5568', fontFamily: '微软雅黑', lineHeight: 1.5 }}&gt;&#13;&#10;                    语法树中不得出现 DDL、DML 与管理类关键字&#13;&#10;                &lt;/Text&gt;&#13;&#10;            &lt;/Box&gt;&#13;&#10;        &lt;/Box&gt;&#13;&#10;&#13;&#10;        {/* 第二行 */}&#13;&#10;        &lt;Box style={{ flexDirection: 'row', gap: 12 }}&gt;&#13;&#10;            &lt;Box style={{ flex: 1, height: 140, background: '#F7F9FC', border: { left: { width: 4, color: '#1E4FA8' } }, flexDirection: 'column', padding: 14, gap: 6 }}&gt;&#13;&#10;                &lt;Box style={{ flexDirection: 'row', alignItems: 'center', gap: 9 }}&gt;&#13;&#10;                    &lt;Box style={{ width: 42, height: 24, background: '#1E4FA8', alignItems: 'center', justifyContent: 'center' }}&gt;&#13;&#10;                        &lt;Text style={{ fontSize: 16, fontWeight: 'bold', color: '#FFFFFF', fontFamily: 'Times New Roman' }}&gt;R4&lt;/Text&gt;&#13;&#10;                    &lt;/Box&gt;&#13;&#10;                    &lt;Text style={{ fontSize: 20, fontWeight: 'bold', color: '#0E3F8C', fontFamily: '微软雅黑' }}&gt;表必须登记&lt;/Text&gt;&#13;&#10;                &lt;/Box&gt;&#13;&#10;                &lt;Text style={{ fontSize: 17, color: '#4A5568', fontFamily: '微软雅黑', lineHeight: 1.5 }}&gt;&#13;&#10;                    未在语义层出现的表，按模型编造的表处理&#13;&#10;                &lt;/Text&gt;&#13;&#10;            &lt;/Box&gt;&#13;&#10;            &lt;Box style={{ flex: 1, height: 140, background: '#F7F9FC', border: { left: { width: 4, color: '#1E4FA8' } }, flexDirection: 'column', padding: 14, gap: 6 }}&gt;&#13;&#10;                &lt;Box style={{ flexDirection: 'row', alignItems: 'center', gap: 9 }}&gt;&#13;&#10;                    &lt;Box style={{ width: 42, height: 24, background: '#1E4FA8', alignItems: 'center', justifyContent: 'center' }}&gt;&#13;&#10;                        &lt;Text style={{ fontSize: 16, fontWeight: 'bold', color: '#FFFFFF', fontFamily: 'Times New Roman' }}&gt;R5&lt;/Text&gt;&#13;&#10;                    &lt;/Box&gt;&#13;&#10;                    &lt;Text style={{ fontSize: 20, fontWeight: 'bold', color: '#0E3F8C', fontFamily: '微软雅黑' }}&gt;字段必须存在&lt;/Text&gt;&#13;&#10;                &lt;/Box&gt;&#13;&#10;                &lt;Text style={{ fontSize: 17, color: '#4A5568', fontFamily: '微软雅黑', lineHeight: 1.5 }}&gt;&#13;&#10;                    字段要存在于所属表的元数据中，拼错即拦下&#13;&#10;                &lt;/Text&gt;&#13;&#10;            &lt;/Box&gt;&#13;&#10;            &lt;Box style={{ flex: 1, height: 140, background: '#E8EFF8', border: { left: { width: 4, color: '#D9534F' } }, flexDirection: 'column', padding: 14, gap: 6 }}&gt;&#13;&#10;                &lt;Box style={{ flexDirection: 'row', alignItems: 'center', gap: 9 }}&gt;&#13;&#10;                    &lt;Box style={{ width: 42, height: 24, background: '#D9534F', alignItems: 'center', justifyContent: 'center' }}&gt;&#13;&#10;                        &lt;Text style={{ fontSize: 16, fontWeight: 'bold', color: '#FFFFFF', fontFamily: 'Times New Roman' }}&gt;R6&lt;/Text&gt;&#13;&#10;                    &lt;/Box&gt;&#13;&#10;                    &lt;Text style={{ fontSize: 20, fontWeight: 'bold', color: '#0E3F8C', fontFamily: '微软雅黑' }}&gt;行数上限&lt;/Text&gt;&#13;&#10;                &lt;/Box&gt;&#13;&#10;                &lt;Text style={{ fontSize: 17, color: '#4A5568', fontFamily: '微软雅黑', lineHeight: 1.5 }}&gt;&#13;&#10;                    无 LIMIT 或超限时自动包裹，九条里唯一自动改写的规则&#13;&#10;                &lt;/Text&gt;&#13;&#10;            &lt;/Box&gt;&#13;&#10;        &lt;/Box&gt;&#13;&#10;&#13;&#10;        {/* 第三行 */}&#13;&#10;        &lt;Box style={{ flexDirection: 'row', gap: 12 }}&gt;&#13;&#10;            &lt;Box style={{ flex: 1, height: 140, background: '#F7F9FC', border: { left: { width: 4, color: '#1E4FA8' } }, flexDirection: 'column', padding: 14, gap: 6 }}&gt;&#13;&#10;                &lt;Box style={{ flexDirection: 'row', alignItems: 'center', gap: 9 }}&gt;&#13;&#10;                    &lt;Box style={{ width: 42, height: 24, background: '#1E4FA8', alignItems: 'center', justifyContent: 'center' }}&gt;&#13;&#10;                        &lt;Text style={{ fontSize: 16, fontWeight: 'bold', color: '#FFFFFF', fontFamily: 'Times New Roman' }}&gt;R7&lt;/Text&gt;&#13;&#10;                    &lt;/Box&gt;&#13;&#10;                    &lt;Text style={{ fontSize: 20, fontWeight: 'bold', color: '#0E3F8C', fontFamily: '微软雅黑' }}&gt;禁止笛卡尔积&lt;/Text&gt;&#13;&#10;                &lt;/Box&gt;&#13;&#10;                &lt;Text style={{ fontSize: 17, color: '#4A5568', fontFamily: '微软雅黑', lineHeight: 1.5 }}&gt;&#13;&#10;                    多表查询必须带连接条件，缺 ON 的 JOIN 会被拦下&#13;&#10;                &lt;/Text&gt;&#13;&#10;            &lt;/Box&gt;&#13;&#10;            &lt;Box style={{ flex: 1, height: 140, background: '#F7F9FC', border: { left: { width: 4, color: '#1E4FA8' } }, flexDirection: 'column', padding: 14, gap: 6 }}&gt;&#13;&#10;                &lt;Box style={{ flexDirection: 'row', alignItems: 'center', gap: 9 }}&gt;&#13;&#10;                    &lt;Box style={{ width: 42, height: 24, background: '#1E4FA8', alignItems: 'center', justifyContent: 'center' }}&gt;&#13;&#10;                        &lt;Text style={{ fontSize: 16, fontWeight: 'bold', color: '#FFFFFF', fontFamily: 'Times New Roman' }}&gt;R8&lt;/Text&gt;&#13;&#10;                    &lt;/Box&gt;&#13;&#10;                    &lt;Text style={{ fontSize: 20, fontWeight: 'bold', color: '#0E3F8C', fontFamily: '微软雅黑' }}&gt;执行超时&lt;/Text&gt;&#13;&#10;                &lt;/Box&gt;&#13;&#10;                &lt;Text style={{ fontSize: 17, color: '#4A5568', fontFamily: '微软雅黑', lineHeight: 1.5 }}&gt;&#13;&#10;                    由数据库层的进度回调中断跑太久的查询&#13;&#10;                &lt;/Text&gt;&#13;&#10;            &lt;/Box&gt;&#13;&#10;            &lt;Box style={{ flex: 1, height: 140, background: '#F7F9FC', border: { left: { width: 4, color: '#1E4FA8' } }, flexDirection: 'column', padding: 14, gap: 6 }}&gt;&#13;&#10;                &lt;Box style={{ flexDirection: 'row', alignItems: 'center', gap: 9 }}&gt;&#13;&#10;                    &lt;Box style={{ width: 42, height: 24, background: '#1E4FA8', alignItems: 'center', justifyContent: 'center' }}&gt;&#13;&#10;                        &lt;Text style={{ fontSize: 16, fontWeight: 'bold', color: '#FFFFFF', fontFamily: 'Times New Roman' }}&gt;R9&lt;/Text&gt;&#13;&#10;                    &lt;/Box&gt;&#13;&#10;                    &lt;Text style={{ fontSize: 20, fontWeight: 'bold', color: '#0E3F8C', fontFamily: '微软雅黑' }}&gt;函数白名单&lt;/Text&gt;&#13;&#10;                &lt;/Box&gt;&#13;&#10;                &lt;Text style={{ fontSize: 17, color: '#4A5568', fontFamily: '微软雅黑', lineHeight: 1.5 }}&gt;&#13;&#10;                    只放行白名单内的函数，读文件、加载扩展一类全部挡在门外&#13;&#10;                &lt;/Text&gt;&#13;&#10;            &lt;/Box&gt;&#13;&#10;        &lt;/Box&gt;&#13;&#10;&#13;&#10;        {/* 结论条 */}&#13;&#10;        &lt;Box style={{ width: '100%', height: 62, background: '#0E3F8C', flexDirection: 'row', alignItems: 'center', padding: '0 22px', gap: 16 }}&gt;&#13;&#10;            &lt;Text style={{ fontSize: 20, fontWeight: 'bold', color: '#FFFFFF', fontFamily: '微软雅黑' }}&gt;纵深不止一层&lt;/Text&gt;&#13;&#10;            &lt;Text style={{ fontSize: 18, color: 'rgba(255,255,255,0.85)', fontFamily: '微软雅黑' }}&gt;&#13;&#10;                守卫之前是模型输出的结构校验，守卫之后还有只读连接、执行超时与结果行数上限。&#13;&#10;            &lt;/Text&gt;&#13;&#10;        &lt;/Box&gt;&#13;&#10;    &lt;/Box&gt;&#13;&#10;&#13;&#10;    {/* D 页脚 */}&#13;&#10;    &lt;Box style={{ width: '100%', height: 40, flexDirection: 'row', alignItems: 'center', justifyContent: 'space-between', padding: '0 40px' }}&gt;&#13;&#10;        &lt;Text style={{ fontSize: 14, color: '#8B97A8', fontFamily: '微软雅黑' }}&gt;Text2SQL 电商数据分析 Agent&lt;/Text&gt;&#13;&#10;        &lt;Text style={{ fontSize: 15, color: '#1E4FA8', fontFamily: 'Times New Roman' }}&gt;09 / 16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矩形 55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557" name="矩形 556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558" name="矩形 557"/>
          <p:cNvSpPr/>
          <p:nvPr/>
        </p:nvSpPr>
        <p:spPr>
          <a:xfrm>
            <a:off x="381000" y="228600"/>
            <a:ext cx="47625" cy="247650"/>
          </a:xfrm>
          <a:prstGeom prst="rect">
            <a:avLst/>
          </a:prstGeom>
          <a:solidFill>
            <a:srgbClr val="3D7BD9"/>
          </a:solidFill>
        </p:spPr>
        <p:txBody>
          <a:bodyPr/>
          <a:p/>
        </p:txBody>
      </p:sp>
      <p:sp>
        <p:nvSpPr>
          <p:cNvPr id="559" name="文本框 558" descr="{&quot;isTemplate&quot;:true,&quot;type&quot;:&quot;text&quot;}"/>
          <p:cNvSpPr txBox="1"/>
          <p:nvPr/>
        </p:nvSpPr>
        <p:spPr>
          <a:xfrm>
            <a:off x="561975" y="161925"/>
            <a:ext cx="27432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执行前的最后一道闸</a:t>
            </a:r>
            <a:endParaRPr lang="zh-CN"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0" name="文本框 559" descr="{&quot;isTemplate&quot;:true,&quot;type&quot;:&quot;text&quot;}"/>
          <p:cNvSpPr txBox="1"/>
          <p:nvPr/>
        </p:nvSpPr>
        <p:spPr>
          <a:xfrm>
            <a:off x="11239500" y="257175"/>
            <a:ext cx="571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系统设计</a:t>
            </a:r>
            <a:endParaRPr lang="zh-CN" sz="1125">
              <a:solidFill>
                <a:srgbClr val="FFFFFF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1" name="文本框 560" descr="{&quot;isTemplate&quot;:true,&quot;type&quot;:&quot;text&quot;}"/>
          <p:cNvSpPr txBox="1"/>
          <p:nvPr/>
        </p:nvSpPr>
        <p:spPr>
          <a:xfrm>
            <a:off x="381000" y="876300"/>
            <a:ext cx="114300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九条规则按固定顺序执行，任一条不通过就不进入执行环节。只有</a:t>
            </a:r>
            <a:r>
              <a:rPr lang="en-US" sz="15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R6 </a:t>
            </a:r>
            <a:r>
              <a:rPr lang="zh-CN" sz="15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会自动改写，其余都是拒绝。</a:t>
            </a:r>
            <a:endParaRPr lang="zh-CN" sz="15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2" name="矩形 561"/>
          <p:cNvSpPr/>
          <p:nvPr/>
        </p:nvSpPr>
        <p:spPr>
          <a:xfrm>
            <a:off x="381000" y="1257300"/>
            <a:ext cx="3733800" cy="133350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563" name="矩形 562"/>
          <p:cNvSpPr/>
          <p:nvPr/>
        </p:nvSpPr>
        <p:spPr>
          <a:xfrm>
            <a:off x="514350" y="1390650"/>
            <a:ext cx="400050" cy="2286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564" name="文本框 563" descr="{&quot;isTemplate&quot;:true,&quot;type&quot;:&quot;text&quot;}"/>
          <p:cNvSpPr txBox="1"/>
          <p:nvPr/>
        </p:nvSpPr>
        <p:spPr>
          <a:xfrm>
            <a:off x="619125" y="1409700"/>
            <a:ext cx="190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</a:rPr>
              <a:t>R1</a:t>
            </a:r>
            <a:endParaRPr lang="en-US" sz="12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565" name="文本框 564" descr="{&quot;isTemplate&quot;:true,&quot;type&quot;:&quot;text&quot;}"/>
          <p:cNvSpPr txBox="1"/>
          <p:nvPr/>
        </p:nvSpPr>
        <p:spPr>
          <a:xfrm>
            <a:off x="1000125" y="1390650"/>
            <a:ext cx="762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单条语句</a:t>
            </a:r>
            <a:endParaRPr lang="zh-CN" sz="15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6" name="文本框 565" descr="{&quot;isTemplate&quot;:true,&quot;type&quot;:&quot;text&quot;}"/>
          <p:cNvSpPr txBox="1"/>
          <p:nvPr/>
        </p:nvSpPr>
        <p:spPr>
          <a:xfrm>
            <a:off x="514350" y="1676400"/>
            <a:ext cx="34671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只允许一条语句，出现分号分隔的多条直接拒绝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7" name="矩形 566"/>
          <p:cNvSpPr/>
          <p:nvPr/>
        </p:nvSpPr>
        <p:spPr>
          <a:xfrm>
            <a:off x="4229100" y="1257300"/>
            <a:ext cx="3733800" cy="133350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568" name="矩形 567"/>
          <p:cNvSpPr/>
          <p:nvPr/>
        </p:nvSpPr>
        <p:spPr>
          <a:xfrm>
            <a:off x="4362450" y="1390650"/>
            <a:ext cx="400050" cy="2286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569" name="文本框 568" descr="{&quot;isTemplate&quot;:true,&quot;type&quot;:&quot;text&quot;}"/>
          <p:cNvSpPr txBox="1"/>
          <p:nvPr/>
        </p:nvSpPr>
        <p:spPr>
          <a:xfrm>
            <a:off x="4467225" y="1409700"/>
            <a:ext cx="190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</a:rPr>
              <a:t>R2</a:t>
            </a:r>
            <a:endParaRPr lang="en-US" sz="12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570" name="文本框 569" descr="{&quot;isTemplate&quot;:true,&quot;type&quot;:&quot;text&quot;}"/>
          <p:cNvSpPr txBox="1"/>
          <p:nvPr/>
        </p:nvSpPr>
        <p:spPr>
          <a:xfrm>
            <a:off x="4848225" y="1390650"/>
            <a:ext cx="9525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只允许查询</a:t>
            </a:r>
            <a:endParaRPr lang="zh-CN" sz="15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1" name="文本框 570" descr="{&quot;isTemplate&quot;:true,&quot;type&quot;:&quot;text&quot;}"/>
          <p:cNvSpPr txBox="1"/>
          <p:nvPr/>
        </p:nvSpPr>
        <p:spPr>
          <a:xfrm>
            <a:off x="4362450" y="1676400"/>
            <a:ext cx="34671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SELECT 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与集合运算之外一律拒绝，用白名单而非黑名单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2" name="矩形 571"/>
          <p:cNvSpPr/>
          <p:nvPr/>
        </p:nvSpPr>
        <p:spPr>
          <a:xfrm>
            <a:off x="8077200" y="1257300"/>
            <a:ext cx="3733800" cy="133350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573" name="矩形 572"/>
          <p:cNvSpPr/>
          <p:nvPr/>
        </p:nvSpPr>
        <p:spPr>
          <a:xfrm>
            <a:off x="8210550" y="1390650"/>
            <a:ext cx="400050" cy="2286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574" name="文本框 573" descr="{&quot;isTemplate&quot;:true,&quot;type&quot;:&quot;text&quot;}"/>
          <p:cNvSpPr txBox="1"/>
          <p:nvPr/>
        </p:nvSpPr>
        <p:spPr>
          <a:xfrm>
            <a:off x="8315325" y="1409700"/>
            <a:ext cx="190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</a:rPr>
              <a:t>R3</a:t>
            </a:r>
            <a:endParaRPr lang="en-US" sz="12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575" name="文本框 574" descr="{&quot;isTemplate&quot;:true,&quot;type&quot;:&quot;text&quot;}"/>
          <p:cNvSpPr txBox="1"/>
          <p:nvPr/>
        </p:nvSpPr>
        <p:spPr>
          <a:xfrm>
            <a:off x="8696325" y="1390650"/>
            <a:ext cx="762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危险节点</a:t>
            </a:r>
            <a:endParaRPr lang="zh-CN" sz="15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6" name="文本框 575" descr="{&quot;isTemplate&quot;:true,&quot;type&quot;:&quot;text&quot;}"/>
          <p:cNvSpPr txBox="1"/>
          <p:nvPr/>
        </p:nvSpPr>
        <p:spPr>
          <a:xfrm>
            <a:off x="8210550" y="1676400"/>
            <a:ext cx="34671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语法树中不得出现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DDL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DML 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与管理类关键字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7" name="矩形 576"/>
          <p:cNvSpPr/>
          <p:nvPr/>
        </p:nvSpPr>
        <p:spPr>
          <a:xfrm>
            <a:off x="381000" y="2724150"/>
            <a:ext cx="3733800" cy="133350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578" name="矩形 577"/>
          <p:cNvSpPr/>
          <p:nvPr/>
        </p:nvSpPr>
        <p:spPr>
          <a:xfrm>
            <a:off x="514350" y="2857500"/>
            <a:ext cx="400050" cy="2286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579" name="文本框 578" descr="{&quot;isTemplate&quot;:true,&quot;type&quot;:&quot;text&quot;}"/>
          <p:cNvSpPr txBox="1"/>
          <p:nvPr/>
        </p:nvSpPr>
        <p:spPr>
          <a:xfrm>
            <a:off x="619125" y="2876550"/>
            <a:ext cx="190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</a:rPr>
              <a:t>R4</a:t>
            </a:r>
            <a:endParaRPr lang="en-US" sz="12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580" name="文本框 579" descr="{&quot;isTemplate&quot;:true,&quot;type&quot;:&quot;text&quot;}"/>
          <p:cNvSpPr txBox="1"/>
          <p:nvPr/>
        </p:nvSpPr>
        <p:spPr>
          <a:xfrm>
            <a:off x="1000125" y="2857500"/>
            <a:ext cx="9525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表必须登记</a:t>
            </a:r>
            <a:endParaRPr lang="zh-CN" sz="15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1" name="文本框 580" descr="{&quot;isTemplate&quot;:true,&quot;type&quot;:&quot;text&quot;}"/>
          <p:cNvSpPr txBox="1"/>
          <p:nvPr/>
        </p:nvSpPr>
        <p:spPr>
          <a:xfrm>
            <a:off x="514350" y="3143250"/>
            <a:ext cx="34671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未在语义层出现的表，按模型编造的表处理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2" name="矩形 581"/>
          <p:cNvSpPr/>
          <p:nvPr/>
        </p:nvSpPr>
        <p:spPr>
          <a:xfrm>
            <a:off x="4229100" y="2724150"/>
            <a:ext cx="3733800" cy="133350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583" name="矩形 582"/>
          <p:cNvSpPr/>
          <p:nvPr/>
        </p:nvSpPr>
        <p:spPr>
          <a:xfrm>
            <a:off x="4362450" y="2857500"/>
            <a:ext cx="400050" cy="2286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584" name="文本框 583" descr="{&quot;isTemplate&quot;:true,&quot;type&quot;:&quot;text&quot;}"/>
          <p:cNvSpPr txBox="1"/>
          <p:nvPr/>
        </p:nvSpPr>
        <p:spPr>
          <a:xfrm>
            <a:off x="4467225" y="2876550"/>
            <a:ext cx="190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</a:rPr>
              <a:t>R5</a:t>
            </a:r>
            <a:endParaRPr lang="en-US" sz="12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585" name="文本框 584" descr="{&quot;isTemplate&quot;:true,&quot;type&quot;:&quot;text&quot;}"/>
          <p:cNvSpPr txBox="1"/>
          <p:nvPr/>
        </p:nvSpPr>
        <p:spPr>
          <a:xfrm>
            <a:off x="4848225" y="2857500"/>
            <a:ext cx="1143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字段必须存在</a:t>
            </a:r>
            <a:endParaRPr lang="zh-CN" sz="15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6" name="文本框 585" descr="{&quot;isTemplate&quot;:true,&quot;type&quot;:&quot;text&quot;}"/>
          <p:cNvSpPr txBox="1"/>
          <p:nvPr/>
        </p:nvSpPr>
        <p:spPr>
          <a:xfrm>
            <a:off x="4362450" y="3143250"/>
            <a:ext cx="34671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字段要存在于所属表的元数据中，拼错即拦下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7" name="矩形 586"/>
          <p:cNvSpPr/>
          <p:nvPr/>
        </p:nvSpPr>
        <p:spPr>
          <a:xfrm>
            <a:off x="8077200" y="2724150"/>
            <a:ext cx="3733800" cy="1333500"/>
          </a:xfrm>
          <a:prstGeom prst="rect">
            <a:avLst/>
          </a:prstGeom>
          <a:solidFill>
            <a:srgbClr val="E8EFF8"/>
          </a:solidFill>
        </p:spPr>
        <p:txBody>
          <a:bodyPr/>
          <a:p/>
        </p:txBody>
      </p:sp>
      <p:sp>
        <p:nvSpPr>
          <p:cNvPr id="588" name="矩形 587"/>
          <p:cNvSpPr/>
          <p:nvPr/>
        </p:nvSpPr>
        <p:spPr>
          <a:xfrm>
            <a:off x="8210550" y="2857500"/>
            <a:ext cx="400050" cy="228600"/>
          </a:xfrm>
          <a:prstGeom prst="rect">
            <a:avLst/>
          </a:prstGeom>
          <a:solidFill>
            <a:srgbClr val="D9534F"/>
          </a:solidFill>
        </p:spPr>
        <p:txBody>
          <a:bodyPr/>
          <a:p/>
        </p:txBody>
      </p:sp>
      <p:sp>
        <p:nvSpPr>
          <p:cNvPr id="589" name="文本框 588" descr="{&quot;isTemplate&quot;:true,&quot;type&quot;:&quot;text&quot;}"/>
          <p:cNvSpPr txBox="1"/>
          <p:nvPr/>
        </p:nvSpPr>
        <p:spPr>
          <a:xfrm>
            <a:off x="8315325" y="2876550"/>
            <a:ext cx="190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</a:rPr>
              <a:t>R6</a:t>
            </a:r>
            <a:endParaRPr lang="en-US" sz="12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590" name="文本框 589" descr="{&quot;isTemplate&quot;:true,&quot;type&quot;:&quot;text&quot;}"/>
          <p:cNvSpPr txBox="1"/>
          <p:nvPr/>
        </p:nvSpPr>
        <p:spPr>
          <a:xfrm>
            <a:off x="8696325" y="2857500"/>
            <a:ext cx="762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行数上限</a:t>
            </a:r>
            <a:endParaRPr lang="zh-CN" sz="15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1" name="文本框 590" descr="{&quot;isTemplate&quot;:true,&quot;type&quot;:&quot;text&quot;}"/>
          <p:cNvSpPr txBox="1"/>
          <p:nvPr/>
        </p:nvSpPr>
        <p:spPr>
          <a:xfrm>
            <a:off x="8210550" y="3143250"/>
            <a:ext cx="34671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无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LIMIT 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或超限时自动包裹，九条里唯一自动改写的规则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2" name="矩形 591"/>
          <p:cNvSpPr/>
          <p:nvPr/>
        </p:nvSpPr>
        <p:spPr>
          <a:xfrm>
            <a:off x="381000" y="4191000"/>
            <a:ext cx="3733800" cy="133350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593" name="矩形 592"/>
          <p:cNvSpPr/>
          <p:nvPr/>
        </p:nvSpPr>
        <p:spPr>
          <a:xfrm>
            <a:off x="514350" y="4324350"/>
            <a:ext cx="400050" cy="2286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594" name="文本框 593" descr="{&quot;isTemplate&quot;:true,&quot;type&quot;:&quot;text&quot;}"/>
          <p:cNvSpPr txBox="1"/>
          <p:nvPr/>
        </p:nvSpPr>
        <p:spPr>
          <a:xfrm>
            <a:off x="619125" y="4343400"/>
            <a:ext cx="190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</a:rPr>
              <a:t>R7</a:t>
            </a:r>
            <a:endParaRPr lang="en-US" sz="12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595" name="文本框 594" descr="{&quot;isTemplate&quot;:true,&quot;type&quot;:&quot;text&quot;}"/>
          <p:cNvSpPr txBox="1"/>
          <p:nvPr/>
        </p:nvSpPr>
        <p:spPr>
          <a:xfrm>
            <a:off x="1000125" y="4324350"/>
            <a:ext cx="1143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禁止笛卡尔积</a:t>
            </a:r>
            <a:endParaRPr lang="zh-CN" sz="15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6" name="文本框 595" descr="{&quot;isTemplate&quot;:true,&quot;type&quot;:&quot;text&quot;}"/>
          <p:cNvSpPr txBox="1"/>
          <p:nvPr/>
        </p:nvSpPr>
        <p:spPr>
          <a:xfrm>
            <a:off x="514350" y="4610100"/>
            <a:ext cx="34671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多表查询必须带连接条件，缺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ON 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JOIN 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会被拦下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7" name="矩形 596"/>
          <p:cNvSpPr/>
          <p:nvPr/>
        </p:nvSpPr>
        <p:spPr>
          <a:xfrm>
            <a:off x="4229100" y="4191000"/>
            <a:ext cx="3733800" cy="133350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598" name="矩形 597"/>
          <p:cNvSpPr/>
          <p:nvPr/>
        </p:nvSpPr>
        <p:spPr>
          <a:xfrm>
            <a:off x="4362450" y="4324350"/>
            <a:ext cx="400050" cy="2286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599" name="文本框 598" descr="{&quot;isTemplate&quot;:true,&quot;type&quot;:&quot;text&quot;}"/>
          <p:cNvSpPr txBox="1"/>
          <p:nvPr/>
        </p:nvSpPr>
        <p:spPr>
          <a:xfrm>
            <a:off x="4467225" y="4343400"/>
            <a:ext cx="190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</a:rPr>
              <a:t>R8</a:t>
            </a:r>
            <a:endParaRPr lang="en-US" sz="12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600" name="文本框 599" descr="{&quot;isTemplate&quot;:true,&quot;type&quot;:&quot;text&quot;}"/>
          <p:cNvSpPr txBox="1"/>
          <p:nvPr/>
        </p:nvSpPr>
        <p:spPr>
          <a:xfrm>
            <a:off x="4848225" y="4324350"/>
            <a:ext cx="762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执行超时</a:t>
            </a:r>
            <a:endParaRPr lang="zh-CN" sz="15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1" name="文本框 600" descr="{&quot;isTemplate&quot;:true,&quot;type&quot;:&quot;text&quot;}"/>
          <p:cNvSpPr txBox="1"/>
          <p:nvPr/>
        </p:nvSpPr>
        <p:spPr>
          <a:xfrm>
            <a:off x="4362450" y="4610100"/>
            <a:ext cx="34671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由数据库层的进度回调中断跑太久的查询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2" name="矩形 601"/>
          <p:cNvSpPr/>
          <p:nvPr/>
        </p:nvSpPr>
        <p:spPr>
          <a:xfrm>
            <a:off x="8077200" y="4191000"/>
            <a:ext cx="3733800" cy="133350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603" name="矩形 602"/>
          <p:cNvSpPr/>
          <p:nvPr/>
        </p:nvSpPr>
        <p:spPr>
          <a:xfrm>
            <a:off x="8210550" y="4324350"/>
            <a:ext cx="400050" cy="2286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604" name="文本框 603" descr="{&quot;isTemplate&quot;:true,&quot;type&quot;:&quot;text&quot;}"/>
          <p:cNvSpPr txBox="1"/>
          <p:nvPr/>
        </p:nvSpPr>
        <p:spPr>
          <a:xfrm>
            <a:off x="8315325" y="4343400"/>
            <a:ext cx="190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</a:rPr>
              <a:t>R9</a:t>
            </a:r>
            <a:endParaRPr lang="en-US" sz="12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605" name="文本框 604" descr="{&quot;isTemplate&quot;:true,&quot;type&quot;:&quot;text&quot;}"/>
          <p:cNvSpPr txBox="1"/>
          <p:nvPr/>
        </p:nvSpPr>
        <p:spPr>
          <a:xfrm>
            <a:off x="8696325" y="4324350"/>
            <a:ext cx="9525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函数白名单</a:t>
            </a:r>
            <a:endParaRPr lang="zh-CN" sz="15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6" name="文本框 605" descr="{&quot;isTemplate&quot;:true,&quot;type&quot;:&quot;text&quot;}"/>
          <p:cNvSpPr txBox="1"/>
          <p:nvPr/>
        </p:nvSpPr>
        <p:spPr>
          <a:xfrm>
            <a:off x="8210550" y="4610100"/>
            <a:ext cx="34671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只放行白名单内的函数，读文件、加载扩展一类全部挡在门外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7" name="矩形 606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608" name="文本框 607" descr="{&quot;isTemplate&quot;:true,&quot;type&quot;:&quot;text&quot;}"/>
          <p:cNvSpPr txBox="1"/>
          <p:nvPr/>
        </p:nvSpPr>
        <p:spPr>
          <a:xfrm>
            <a:off x="590550" y="5838825"/>
            <a:ext cx="1143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纵深不止一层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9" name="文本框 608" descr="{&quot;isTemplate&quot;:true,&quot;type&quot;:&quot;text&quot;}"/>
          <p:cNvSpPr txBox="1"/>
          <p:nvPr/>
        </p:nvSpPr>
        <p:spPr>
          <a:xfrm>
            <a:off x="1885950" y="5848350"/>
            <a:ext cx="65151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守卫之前是模型输出的结构校验，守卫之后还有只读连接、执行超时与结果行数上限。</a:t>
            </a:r>
            <a:endParaRPr lang="zh-CN" sz="1350">
              <a:solidFill>
                <a:srgbClr val="FFFFFF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0" name="文本框 609" descr="{&quot;isTemplate&quot;:true,&quot;type&quot;:&quot;text&quot;}"/>
          <p:cNvSpPr txBox="1"/>
          <p:nvPr/>
        </p:nvSpPr>
        <p:spPr>
          <a:xfrm>
            <a:off x="381000" y="6591300"/>
            <a:ext cx="17811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Text2SQL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电商数据分析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Agent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1" name="文本框 610" descr="{&quot;isTemplate&quot;:true,&quot;type&quot;:&quot;text&quot;}"/>
          <p:cNvSpPr txBox="1"/>
          <p:nvPr/>
        </p:nvSpPr>
        <p:spPr>
          <a:xfrm>
            <a:off x="11410950" y="6581775"/>
            <a:ext cx="4000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Times New Roman" panose="02020603050405020304"/>
                <a:ea typeface="Times New Roman" panose="02020603050405020304"/>
              </a:rPr>
              <a:t>09 / 16</a:t>
            </a:r>
            <a:endParaRPr lang="en-US" sz="1125">
              <a:solidFill>
                <a:srgbClr val="1E4FA8"/>
              </a:solidFill>
              <a:latin typeface="Times New Roman" panose="02020603050405020304"/>
              <a:ea typeface="Times New Roman" panose="0202060305040502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 descr="&lt;Slide style={{ background: '#FFFFFF', padding: 0, flexDirection: 'column' }}&gt;&#13;&#10;    {/* A3 页眉 */}&#13;&#10;    &lt;Box style={{&#13;&#10;        width: '100%', height: 72, background: '#0E3F8C',&#13;&#10;        flexDirection: 'row', alignItems: 'center', justifyContent: 'space-between',&#13;&#10;        padding: '0 40px',&#13;&#10;    }}&gt;&#13;&#10;        &lt;Box style={{ flexDirection: 'row', alignItems: 'center', gap: 14 }}&gt;&#13;&#10;            &lt;Box style={{ width: 5, height: 26, background: '#3D7BD9' }} /&gt;&#13;&#10;            &lt;Text style={{ fontSize: 32, fontWeight: 'bold', color: '#FFFFFF', fontFamily: '微软雅黑' }}&gt;&#13;&#10;                怎么证明算的是对的量&#13;&#10;            &lt;/Text&gt;&#13;&#10;        &lt;/Box&gt;&#13;&#10;        &lt;Text style={{ fontSize: 15, color: 'rgba(255,255,255,0.7)', fontFamily: '微软雅黑' }}&gt;&#13;&#10;            可信性设计&#13;&#10;        &lt;/Text&gt;&#13;&#10;    &lt;/Box&gt;&#13;&#10;&#13;&#10;    &lt;Box style={{ flex: 1, flexDirection: 'column', padding: '20px 40px 0 40px', gap: 12 }}&gt;&#13;&#10;        &lt;Text style={{ fontSize: 21, color: '#4A5568', fontFamily: '微软雅黑' }}&gt;&#13;&#10;            指标命中、口径也挂对了，生成环节仍可能把聚合写歪。除守卫之外再加一层校验：语句里必须出现这个指标的必要成分。&#13;&#10;        &lt;/Text&gt;&#13;&#10;&#13;&#10;        {/* 表头 */}&#13;&#10;        &lt;Box style={{ flexDirection: 'row', alignItems: 'center', height: 42, background: '#0E3F8C', padding: '0 14px' }}&gt;&#13;&#10;            &lt;Text style={{ width: 210, fontSize: 19, fontWeight: 'bold', color: '#FFFFFF', fontFamily: '微软雅黑' }}&gt;指标&lt;/Text&gt;&#13;&#10;            &lt;Text style={{ flex: 1, fontSize: 19, fontWeight: 'bold', color: '#FFFFFF', fontFamily: '微软雅黑' }}&gt;标准表达式&lt;/Text&gt;&#13;&#10;            &lt;Text style={{ width: 340, fontSize: 19, fontWeight: 'bold', color: '#FFFFFF', fontFamily: '微软雅黑' }}&gt;签名判据&lt;/Text&gt;&#13;&#10;        &lt;/Box&gt;&#13;&#10;&#13;&#10;        &lt;Box style={{ flexDirection: 'row', alignItems: 'center', height: 44, border: { bottom: { width: 1, color: '#E5E7EB' } }, padding: '0 14px' }}&gt;&#13;&#10;            &lt;Text style={{ width: 210, fontSize: 18, fontWeight: 'bold', color: '#1E4FA8', fontFamily: '微软雅黑' }}&gt;成交总额&lt;/Text&gt;&#13;&#10;            &lt;Text style={{ flex: 1, fontSize: 17, color: '#1A2230', fontFamily: '微软雅黑' }}&gt;SUM(oi.quantity * oi.unit_price)&lt;/Text&gt;&#13;&#10;            &lt;Text style={{ width: 340, fontSize: 17, color: '#4A5568', fontFamily: '微软雅黑' }}&gt;必须含 unit_price&lt;/Text&gt;&#13;&#10;        &lt;/Box&gt;&#13;&#10;&#13;&#10;        &lt;Box style={{ flexDirection: 'row', alignItems: 'center', height: 44, background: '#F7F9FC', border: { bottom: { width: 1, color: '#E5E7EB' } }, padding: '0 14px' }}&gt;&#13;&#10;            &lt;Text style={{ width: 210, fontSize: 18, fontWeight: 'bold', color: '#1E4FA8', fontFamily: '微软雅黑' }}&gt;销量&lt;/Text&gt;&#13;&#10;            &lt;Text style={{ flex: 1, fontSize: 17, color: '#1A2230', fontFamily: '微软雅黑' }}&gt;SUM(oi.quantity)&lt;/Text&gt;&#13;&#10;            &lt;Text style={{ width: 340, fontSize: 17, color: '#4A5568', fontFamily: '微软雅黑' }}&gt;必须含 quantity，且不得含 unit_price、cost_price&lt;/Text&gt;&#13;&#10;        &lt;/Box&gt;&#13;&#10;&#13;&#10;        &lt;Box style={{ flexDirection: 'row', alignItems: 'center', height: 44, border: { bottom: { width: 1, color: '#E5E7EB' } }, padding: '0 14px' }}&gt;&#13;&#10;            &lt;Text style={{ width: 210, fontSize: 18, fontWeight: 'bold', color: '#1E4FA8', fontFamily: '微软雅黑' }}&gt;订单量&lt;/Text&gt;&#13;&#10;            &lt;Text style={{ flex: 1, fontSize: 17, color: '#1A2230', fontFamily: '微软雅黑' }}&gt;COUNT(DISTINCT orders.id)&lt;/Text&gt;&#13;&#10;            &lt;Text style={{ width: 340, fontSize: 17, color: '#4A5568', fontFamily: '微软雅黑' }}&gt;必须含 count(distinct&lt;/Text&gt;&#13;&#10;        &lt;/Box&gt;&#13;&#10;&#13;&#10;        &lt;Box style={{ flexDirection: 'row', alignItems: 'center', height: 44, background: '#F7F9FC', border: { bottom: { width: 1, color: '#E5E7EB' } }, padding: '0 14px' }}&gt;&#13;&#10;            &lt;Text style={{ width: 210, fontSize: 18, fontWeight: 'bold', color: '#1E4FA8', fontFamily: '微软雅黑' }}&gt;客单价&lt;/Text&gt;&#13;&#10;            &lt;Text style={{ flex: 1, fontSize: 17, color: '#1A2230', fontFamily: '微软雅黑' }}&gt;SUM(oi.quantity * oi.unit_price) * 1.0 / COUNT(DISTINCT orders.id)&lt;/Text&gt;&#13;&#10;            &lt;Text style={{ width: 340, fontSize: 17, color: '#4A5568', fontFamily: '微软雅黑' }}&gt;必须含 unit_price 与 count(distinct，分子分母同源&lt;/Text&gt;&#13;&#10;        &lt;/Box&gt;&#13;&#10;&#13;&#10;        &lt;Box style={{ flexDirection: 'row', alignItems: 'center', height: 44, border: { bottom: { width: 1, color: '#E5E7EB' } }, padding: '0 14px' }}&gt;&#13;&#10;            &lt;Text style={{ width: 210, fontSize: 18, fontWeight: 'bold', color: '#1E4FA8', fontFamily: '微软雅黑' }}&gt;退款率&lt;/Text&gt;&#13;&#10;            &lt;Text style={{ flex: 1, fontSize: 17, color: '#1A2230', fontFamily: '微软雅黑' }}&gt;COUNT(DISTINCT r.order_id) * 1.0 / COUNT(DISTINCT o.id)&lt;/Text&gt;&#13;&#10;            &lt;Text style={{ width: 340, fontSize: 17, color: '#4A5568', fontFamily: '微软雅黑' }}&gt;必须含 refunds 与 count(distinct，按订单口径&lt;/Text&gt;&#13;&#10;        &lt;/Box&gt;&#13;&#10;&#13;&#10;        &lt;Box style={{ flexDirection: 'row', alignItems: 'center', height: 44, background: '#F7F9FC', border: { bottom: { width: 1, color: '#E5E7EB' } }, padding: '0 14px' }}&gt;&#13;&#10;            &lt;Text style={{ width: 210, fontSize: 18, fontWeight: 'bold', color: '#1E4FA8', fontFamily: '微软雅黑' }}&gt;成交用户数&lt;/Text&gt;&#13;&#10;            &lt;Text style={{ flex: 1, fontSize: 17, color: '#1A2230', fontFamily: '微软雅黑' }}&gt;COUNT(DISTINCT orders.user_id)&lt;/Text&gt;&#13;&#10;            &lt;Text style={{ width: 340, fontSize: 17, color: '#4A5568', fontFamily: '微软雅黑' }}&gt;必须含 user_id&lt;/Text&gt;&#13;&#10;        &lt;/Box&gt;&#13;&#10;&#13;&#10;        &lt;Box style={{ flexDirection: 'row', alignItems: 'center', height: 44, border: { bottom: { width: 1, color: '#E5E7EB' } }, padding: '0 14px' }}&gt;&#13;&#10;            &lt;Text style={{ width: 210, fontSize: 18, fontWeight: 'bold', color: '#1E4FA8', fontFamily: '微软雅黑' }}&gt;毛利&lt;/Text&gt;&#13;&#10;            &lt;Text style={{ flex: 1, fontSize: 17, color: '#1A2230', fontFamily: '微软雅黑' }}&gt;SUM(oi.quantity * (oi.unit_price - p.cost_price))&lt;/Text&gt;&#13;&#10;            &lt;Text style={{ width: 340, fontSize: 17, color: '#4A5568', fontFamily: '微软雅黑' }}&gt;必须含 cost_price，否则只是把成交额改名&lt;/Text&gt;&#13;&#10;        &lt;/Box&gt;&#13;&#10;&#13;&#10;        {/* 结论条 */}&#13;&#10;        &lt;Box style={{ width: '100%', height: 66, background: '#E8EFF8', border: { left: { width: 5, color: '#1E4FA8' } }, flexDirection: 'column', justifyContent: 'center', padding: '0 22px', gap: 2 }}&gt;&#13;&#10;            &lt;Text style={{ fontSize: 19, fontWeight: 'bold', color: '#0E3F8C', fontFamily: '微软雅黑' }}&gt;&#13;&#10;                这类失败形态是唯一会让用户拿着错误数字而不自知的&#13;&#10;            &lt;/Text&gt;&#13;&#10;            &lt;Text style={{ fontSize: 17, color: '#4A5568', fontFamily: '微软雅黑' }}&gt;&#13;&#10;                语句能执行、结果有数据、图表正常、全程不报错。守卫管语句安不安全，签名管算的是不是那个量。&#13;&#10;            &lt;/Text&gt;&#13;&#10;        &lt;/Box&gt;&#13;&#10;&#13;&#10;        &lt;Text style={{ fontSize: 14, color: '#8B97A8', fontFamily: '微软雅黑' }}&gt;&#13;&#10;            签名取自 backend/app/semantic/metrics.yaml 的 expression_signature 字段；校验器为 app/semantic/expression_check.py。&#13;&#10;        &lt;/Text&gt;&#13;&#10;    &lt;/Box&gt;&#13;&#10;&#13;&#10;    {/* D 页脚 */}&#13;&#10;    &lt;Box style={{ width: '100%', height: 40, flexDirection: 'row', alignItems: 'center', justifyContent: 'space-between', padding: '0 40px' }}&gt;&#13;&#10;        &lt;Text style={{ fontSize: 14, color: '#8B97A8', fontFamily: '微软雅黑' }}&gt;Text2SQL 电商数据分析 Agent&lt;/Text&gt;&#13;&#10;        &lt;Text style={{ fontSize: 15, color: '#1E4FA8', fontFamily: 'Times New Roman' }}&gt;10 / 16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4" name="矩形 23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25" name="矩形 24"/>
          <p:cNvSpPr/>
          <p:nvPr/>
        </p:nvSpPr>
        <p:spPr>
          <a:xfrm>
            <a:off x="381000" y="228600"/>
            <a:ext cx="47625" cy="247650"/>
          </a:xfrm>
          <a:prstGeom prst="rect">
            <a:avLst/>
          </a:prstGeom>
          <a:solidFill>
            <a:srgbClr val="3D7BD9"/>
          </a:solidFill>
        </p:spPr>
        <p:txBody>
          <a:bodyPr/>
          <a:p/>
        </p:txBody>
      </p:sp>
      <p:sp>
        <p:nvSpPr>
          <p:cNvPr id="26" name="文本框 25" descr="{&quot;isTemplate&quot;:true,&quot;type&quot;:&quot;text&quot;}"/>
          <p:cNvSpPr txBox="1"/>
          <p:nvPr/>
        </p:nvSpPr>
        <p:spPr>
          <a:xfrm>
            <a:off x="561975" y="161925"/>
            <a:ext cx="30480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怎么证明算的是对的量</a:t>
            </a:r>
            <a:endParaRPr lang="zh-CN"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 descr="{&quot;isTemplate&quot;:true,&quot;type&quot;:&quot;text&quot;}"/>
          <p:cNvSpPr txBox="1"/>
          <p:nvPr/>
        </p:nvSpPr>
        <p:spPr>
          <a:xfrm>
            <a:off x="11096625" y="257175"/>
            <a:ext cx="7143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可信性设计</a:t>
            </a:r>
            <a:endParaRPr lang="zh-CN" sz="1125">
              <a:solidFill>
                <a:srgbClr val="FFFFFF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 descr="{&quot;isTemplate&quot;:true,&quot;type&quot;:&quot;text&quot;}"/>
          <p:cNvSpPr txBox="1"/>
          <p:nvPr/>
        </p:nvSpPr>
        <p:spPr>
          <a:xfrm>
            <a:off x="381000" y="876300"/>
            <a:ext cx="114300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指标命中、口径也挂对了，生成环节仍可能把聚合写歪。除守卫之外再加一层校验：语句里必须出现这个指标的必要成分。</a:t>
            </a:r>
            <a:endParaRPr lang="zh-CN" sz="15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81000" y="1238250"/>
            <a:ext cx="11430000" cy="40005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30" name="文本框 29" descr="{&quot;isTemplate&quot;:true,&quot;type&quot;:&quot;text&quot;}"/>
          <p:cNvSpPr txBox="1"/>
          <p:nvPr/>
        </p:nvSpPr>
        <p:spPr>
          <a:xfrm>
            <a:off x="514350" y="1333500"/>
            <a:ext cx="20002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指标</a:t>
            </a:r>
            <a:endParaRPr lang="zh-CN"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 descr="{&quot;isTemplate&quot;:true,&quot;type&quot;:&quot;text&quot;}"/>
          <p:cNvSpPr txBox="1"/>
          <p:nvPr/>
        </p:nvSpPr>
        <p:spPr>
          <a:xfrm>
            <a:off x="2514600" y="1333500"/>
            <a:ext cx="59245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标准表达式</a:t>
            </a:r>
            <a:endParaRPr lang="zh-CN"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 descr="{&quot;isTemplate&quot;:true,&quot;type&quot;:&quot;text&quot;}"/>
          <p:cNvSpPr txBox="1"/>
          <p:nvPr/>
        </p:nvSpPr>
        <p:spPr>
          <a:xfrm>
            <a:off x="8439150" y="1333500"/>
            <a:ext cx="32385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签名判据</a:t>
            </a:r>
            <a:endParaRPr lang="zh-CN"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514350" y="1857375"/>
            <a:ext cx="20002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成交总额</a:t>
            </a:r>
            <a:endParaRPr lang="zh-CN" sz="13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 descr="{&quot;isTemplate&quot;:true,&quot;type&quot;:&quot;text&quot;}"/>
          <p:cNvSpPr txBox="1"/>
          <p:nvPr/>
        </p:nvSpPr>
        <p:spPr>
          <a:xfrm>
            <a:off x="2514600" y="1866900"/>
            <a:ext cx="59245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SUM(oi.quantity * oi.unit_price)</a:t>
            </a:r>
            <a:endParaRPr lang="en-US" sz="12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 descr="{&quot;isTemplate&quot;:true,&quot;type&quot;:&quot;text&quot;}"/>
          <p:cNvSpPr txBox="1"/>
          <p:nvPr/>
        </p:nvSpPr>
        <p:spPr>
          <a:xfrm>
            <a:off x="8439150" y="1866900"/>
            <a:ext cx="32385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必须含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unit_price</a:t>
            </a:r>
            <a:endParaRPr lang="en-US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81000" y="2286000"/>
            <a:ext cx="11430000" cy="41910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37" name="文本框 36" descr="{&quot;isTemplate&quot;:true,&quot;type&quot;:&quot;text&quot;}"/>
          <p:cNvSpPr txBox="1"/>
          <p:nvPr/>
        </p:nvSpPr>
        <p:spPr>
          <a:xfrm>
            <a:off x="514350" y="2390775"/>
            <a:ext cx="20002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销量</a:t>
            </a:r>
            <a:endParaRPr lang="zh-CN" sz="13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2514600" y="2400300"/>
            <a:ext cx="59245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SUM(oi.quantity)</a:t>
            </a:r>
            <a:endParaRPr lang="en-US" sz="12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 descr="{&quot;isTemplate&quot;:true,&quot;type&quot;:&quot;text&quot;}"/>
          <p:cNvSpPr txBox="1"/>
          <p:nvPr/>
        </p:nvSpPr>
        <p:spPr>
          <a:xfrm>
            <a:off x="8439150" y="2305050"/>
            <a:ext cx="3238500" cy="390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必须含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quantity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，且不得含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unit_price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cost_price</a:t>
            </a:r>
            <a:endParaRPr lang="en-US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 descr="{&quot;isTemplate&quot;:true,&quot;type&quot;:&quot;text&quot;}"/>
          <p:cNvSpPr txBox="1"/>
          <p:nvPr/>
        </p:nvSpPr>
        <p:spPr>
          <a:xfrm>
            <a:off x="514350" y="2924175"/>
            <a:ext cx="20002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订单量</a:t>
            </a:r>
            <a:endParaRPr lang="zh-CN" sz="13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 descr="{&quot;isTemplate&quot;:true,&quot;type&quot;:&quot;text&quot;}"/>
          <p:cNvSpPr txBox="1"/>
          <p:nvPr/>
        </p:nvSpPr>
        <p:spPr>
          <a:xfrm>
            <a:off x="2514600" y="2933700"/>
            <a:ext cx="59245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COUNT(DISTINCT orders.id)</a:t>
            </a:r>
            <a:endParaRPr lang="en-US" sz="12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 descr="{&quot;isTemplate&quot;:true,&quot;type&quot;:&quot;text&quot;}"/>
          <p:cNvSpPr txBox="1"/>
          <p:nvPr/>
        </p:nvSpPr>
        <p:spPr>
          <a:xfrm>
            <a:off x="8439150" y="2933700"/>
            <a:ext cx="32385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必须含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count(distinct</a:t>
            </a:r>
            <a:endParaRPr lang="en-US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81000" y="3352800"/>
            <a:ext cx="11430000" cy="41910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44" name="文本框 43" descr="{&quot;isTemplate&quot;:true,&quot;type&quot;:&quot;text&quot;}"/>
          <p:cNvSpPr txBox="1"/>
          <p:nvPr/>
        </p:nvSpPr>
        <p:spPr>
          <a:xfrm>
            <a:off x="514350" y="3457575"/>
            <a:ext cx="20002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客单价</a:t>
            </a:r>
            <a:endParaRPr lang="zh-CN" sz="13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 descr="{&quot;isTemplate&quot;:true,&quot;type&quot;:&quot;text&quot;}"/>
          <p:cNvSpPr txBox="1"/>
          <p:nvPr/>
        </p:nvSpPr>
        <p:spPr>
          <a:xfrm>
            <a:off x="2514600" y="3467100"/>
            <a:ext cx="59245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SUM(oi.quantity * oi.unit_price) * 1.0 / COUNT(DISTINCT orders.id)</a:t>
            </a:r>
            <a:endParaRPr lang="en-US" sz="12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本框 45" descr="{&quot;isTemplate&quot;:true,&quot;type&quot;:&quot;text&quot;}"/>
          <p:cNvSpPr txBox="1"/>
          <p:nvPr/>
        </p:nvSpPr>
        <p:spPr>
          <a:xfrm>
            <a:off x="8439150" y="3371850"/>
            <a:ext cx="3238500" cy="390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必须含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unit_price 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count(distinct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，分子分母同源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 descr="{&quot;isTemplate&quot;:true,&quot;type&quot;:&quot;text&quot;}"/>
          <p:cNvSpPr txBox="1"/>
          <p:nvPr/>
        </p:nvSpPr>
        <p:spPr>
          <a:xfrm>
            <a:off x="514350" y="3990975"/>
            <a:ext cx="20002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退款率</a:t>
            </a:r>
            <a:endParaRPr lang="zh-CN" sz="13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 descr="{&quot;isTemplate&quot;:true,&quot;type&quot;:&quot;text&quot;}"/>
          <p:cNvSpPr txBox="1"/>
          <p:nvPr/>
        </p:nvSpPr>
        <p:spPr>
          <a:xfrm>
            <a:off x="2514600" y="4000500"/>
            <a:ext cx="59245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COUNT(DISTINCT r.order_id) * 1.0 / COUNT(DISTINCT o.id)</a:t>
            </a:r>
            <a:endParaRPr lang="en-US" sz="12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 descr="{&quot;isTemplate&quot;:true,&quot;type&quot;:&quot;text&quot;}"/>
          <p:cNvSpPr txBox="1"/>
          <p:nvPr/>
        </p:nvSpPr>
        <p:spPr>
          <a:xfrm>
            <a:off x="8439150" y="3905250"/>
            <a:ext cx="3238500" cy="390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必须含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refunds 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count(distinct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，按订单口径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381000" y="4419600"/>
            <a:ext cx="11430000" cy="41910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51" name="文本框 50" descr="{&quot;isTemplate&quot;:true,&quot;type&quot;:&quot;text&quot;}"/>
          <p:cNvSpPr txBox="1"/>
          <p:nvPr/>
        </p:nvSpPr>
        <p:spPr>
          <a:xfrm>
            <a:off x="514350" y="4524375"/>
            <a:ext cx="20002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成交用户数</a:t>
            </a:r>
            <a:endParaRPr lang="zh-CN" sz="13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 descr="{&quot;isTemplate&quot;:true,&quot;type&quot;:&quot;text&quot;}"/>
          <p:cNvSpPr txBox="1"/>
          <p:nvPr/>
        </p:nvSpPr>
        <p:spPr>
          <a:xfrm>
            <a:off x="2514600" y="4533900"/>
            <a:ext cx="59245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COUNT(DISTINCT orders.user_id)</a:t>
            </a:r>
            <a:endParaRPr lang="en-US" sz="12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 descr="{&quot;isTemplate&quot;:true,&quot;type&quot;:&quot;text&quot;}"/>
          <p:cNvSpPr txBox="1"/>
          <p:nvPr/>
        </p:nvSpPr>
        <p:spPr>
          <a:xfrm>
            <a:off x="8439150" y="4533900"/>
            <a:ext cx="32385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必须含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user_id</a:t>
            </a:r>
            <a:endParaRPr lang="en-US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文本框 53" descr="{&quot;isTemplate&quot;:true,&quot;type&quot;:&quot;text&quot;}"/>
          <p:cNvSpPr txBox="1"/>
          <p:nvPr/>
        </p:nvSpPr>
        <p:spPr>
          <a:xfrm>
            <a:off x="514350" y="5057775"/>
            <a:ext cx="20002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毛利</a:t>
            </a:r>
            <a:endParaRPr lang="zh-CN" sz="13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 descr="{&quot;isTemplate&quot;:true,&quot;type&quot;:&quot;text&quot;}"/>
          <p:cNvSpPr txBox="1"/>
          <p:nvPr/>
        </p:nvSpPr>
        <p:spPr>
          <a:xfrm>
            <a:off x="2514600" y="5067300"/>
            <a:ext cx="59245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SUM(oi.quantity * (oi.unit_price - p.cost_price))</a:t>
            </a:r>
            <a:endParaRPr lang="en-US" sz="12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 descr="{&quot;isTemplate&quot;:true,&quot;type&quot;:&quot;text&quot;}"/>
          <p:cNvSpPr txBox="1"/>
          <p:nvPr/>
        </p:nvSpPr>
        <p:spPr>
          <a:xfrm>
            <a:off x="8439150" y="5067300"/>
            <a:ext cx="32385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必须含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cost_price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，否则只是把成交额改名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381000" y="5486400"/>
            <a:ext cx="11430000" cy="628650"/>
          </a:xfrm>
          <a:prstGeom prst="rect">
            <a:avLst/>
          </a:prstGeom>
          <a:solidFill>
            <a:srgbClr val="E8EFF8"/>
          </a:solidFill>
        </p:spPr>
        <p:txBody>
          <a:bodyPr/>
          <a:p/>
        </p:txBody>
      </p:sp>
      <p:sp>
        <p:nvSpPr>
          <p:cNvPr id="58" name="文本框 57" descr="{&quot;isTemplate&quot;:true,&quot;type&quot;:&quot;text&quot;}"/>
          <p:cNvSpPr txBox="1"/>
          <p:nvPr/>
        </p:nvSpPr>
        <p:spPr>
          <a:xfrm>
            <a:off x="590550" y="5581650"/>
            <a:ext cx="110109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这类失败形态是唯一会让用户拿着错误数字而不自知的</a:t>
            </a:r>
            <a:endParaRPr lang="zh-CN" sz="142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文本框 58" descr="{&quot;isTemplate&quot;:true,&quot;type&quot;:&quot;text&quot;}"/>
          <p:cNvSpPr txBox="1"/>
          <p:nvPr/>
        </p:nvSpPr>
        <p:spPr>
          <a:xfrm>
            <a:off x="590550" y="5819775"/>
            <a:ext cx="110109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语句能执行、结果有数据、图表正常、全程不报错。守卫管语句安不安全，签名管算的是不是那个量。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文本框 59" descr="{&quot;isTemplate&quot;:true,&quot;type&quot;:&quot;text&quot;}"/>
          <p:cNvSpPr txBox="1"/>
          <p:nvPr/>
        </p:nvSpPr>
        <p:spPr>
          <a:xfrm>
            <a:off x="381000" y="6229350"/>
            <a:ext cx="11430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签名取自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backend/app/semantic/metrics.yaml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expression_signature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字段；校验器为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app/semantic/expression_check.py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文本框 60" descr="{&quot;isTemplate&quot;:true,&quot;type&quot;:&quot;text&quot;}"/>
          <p:cNvSpPr txBox="1"/>
          <p:nvPr/>
        </p:nvSpPr>
        <p:spPr>
          <a:xfrm>
            <a:off x="381000" y="6591300"/>
            <a:ext cx="17811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Text2SQL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电商数据分析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Agent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文本框 61" descr="{&quot;isTemplate&quot;:true,&quot;type&quot;:&quot;text&quot;}"/>
          <p:cNvSpPr txBox="1"/>
          <p:nvPr/>
        </p:nvSpPr>
        <p:spPr>
          <a:xfrm>
            <a:off x="11410950" y="6581775"/>
            <a:ext cx="4000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Times New Roman" panose="02020603050405020304"/>
                <a:ea typeface="Times New Roman" panose="02020603050405020304"/>
              </a:rPr>
              <a:t>10 / 16</a:t>
            </a:r>
            <a:endParaRPr lang="en-US" sz="1125">
              <a:solidFill>
                <a:srgbClr val="1E4FA8"/>
              </a:solidFill>
              <a:latin typeface="Times New Roman" panose="02020603050405020304"/>
              <a:ea typeface="Times New Roman" panose="020206030504050203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" name="" descr="&lt;Slide style={{ background: '#FFFFFF', padding: 0, flexDirection: 'column' }}&gt;&#13;&#10;    {/* A3 页眉 */}&#13;&#10;    &lt;Box style={{&#13;&#10;        width: '100%', height: 72, background: '#0E3F8C',&#13;&#10;        flexDirection: 'row', alignItems: 'center', justifyContent: 'space-between',&#13;&#10;        padding: '0 40px',&#13;&#10;    }}&gt;&#13;&#10;        &lt;Box style={{ flexDirection: 'row', alignItems: 'center', gap: 14 }}&gt;&#13;&#10;            &lt;Box style={{ width: 5, height: 26, background: '#3D7BD9' }} /&gt;&#13;&#10;            &lt;Text style={{ fontSize: 32, fontWeight: 'bold', color: '#FFFFFF', fontFamily: '微软雅黑' }}&gt;&#13;&#10;                结论里的数字是从哪来的&#13;&#10;            &lt;/Text&gt;&#13;&#10;        &lt;/Box&gt;&#13;&#10;        &lt;Text style={{ fontSize: 15, color: 'rgba(255,255,255,0.7)', fontFamily: '微软雅黑' }}&gt;&#13;&#10;            可信性设计&#13;&#10;        &lt;/Text&gt;&#13;&#10;    &lt;/Box&gt;&#13;&#10;&#13;&#10;    &lt;Box style={{ flex: 1, flexDirection: 'column', padding: '20px 40px 0 40px', gap: 14 }}&gt;&#13;&#10;        &lt;Box style={{ flexDirection: 'row', gap: 22, alignItems: 'flex-start' }}&gt;&#13;&#10;            {/* 左图 */}&#13;&#10;            &lt;Box style={{ width: 656, flexDirection: 'column', gap: 8 }}&gt;&#13;&#10;                &lt;Image&#13;&#10;                    src='assets/03_followup_check.png'&#13;&#10;                    style={{ width: 656, height: 410, objectFit: 'cover', border: { width: 1, color: '#D6DCE5' } }}&#13;&#10;                /&gt;&#13;&#10;                &lt;Text style={{ fontSize: 14, color: '#8B97A8', fontFamily: '微软雅黑' }}&gt;&#13;&#10;                    真实运行截图：多轮追问「那上个月呢」。浅蓝提示条由结论一致性校验器挂出。&#13;&#10;                &lt;/Text&gt;&#13;&#10;            &lt;/Box&gt;&#13;&#10;&#13;&#10;            {/* 右文 */}&#13;&#10;            &lt;Box style={{ flex: 1, flexDirection: 'column', gap: 14 }}&gt;&#13;&#10;                &lt;Box style={{ flexDirection: 'row', alignItems: 'center', gap: 10 }}&gt;&#13;&#10;                    &lt;Box style={{ width: 4, height: 24, background: '#1E4FA8' }} /&gt;&#13;&#10;                    &lt;Text style={{ fontSize: 25, fontWeight: 'bold', color: '#0E3F8C', fontFamily: '微软雅黑' }}&gt;&#13;&#10;                        结论写完，还要回头对一遍&#13;&#10;                    &lt;/Text&gt;&#13;&#10;                &lt;/Box&gt;&#13;&#10;&#13;&#10;                &lt;Text style={{ fontSize: 20, color: '#1A2230', lineHeight: 1.7, fontFamily: '微软雅黑' }}&gt;&#13;&#10;                    模型输出结论后，系统会抽取结论中出现的全部数字，逐个回本轮结果集比对。没有找到来源的数字单独列出，提示人工核对。&#13;&#10;                &lt;/Text&gt;&#13;&#10;&#13;&#10;                &lt;Text style={{ fontSize: 20, color: '#1A2230', lineHeight: 1.7, fontFamily: '微软雅黑' }}&gt;&#13;&#10;                    截图里的 169 是两个渠道订单量的差值，由模型自行算出。它不在结果集中——差值本身可以验证，但它不是查询返回的数据点。若不标注，读的人无从分辨哪些数是查出来的、哪些是推出来的。&#13;&#10;                &lt;/Text&gt;&#13;&#10;&#13;&#10;                &lt;Box style={{ background: '#E8EFF8', padding: '12px 16px', flexDirection: 'column', gap: 3 }}&gt;&#13;&#10;                    &lt;Text style={{ fontSize: 18, fontWeight: 'bold', color: '#0E3F8C', fontFamily: '微软雅黑' }}&gt;标注的作用不是暴露缺陷&lt;/Text&gt;&#13;&#10;                    &lt;Text style={{ fontSize: 18, color: '#4A5568', fontFamily: '微软雅黑', lineHeight: 1.55 }}&gt;&#13;&#10;                        而是划出边界：能追溯到结果集的正常给出，追溯不到的不静默略过。&#13;&#10;                    &lt;/Text&gt;&#13;&#10;                &lt;/Box&gt;&#13;&#10;            &lt;/Box&gt;&#13;&#10;        &lt;/Box&gt;&#13;&#10;&#13;&#10;        {/* 结论条 */}&#13;&#10;        &lt;Box style={{ width: '100%', height: 66, background: '#0E3F8C', flexDirection: 'row', alignItems: 'center', padding: '0 22px', gap: 16 }}&gt;&#13;&#10;            &lt;Text style={{ fontSize: 20, fontWeight: 'bold', color: '#FFFFFF', fontFamily: '微软雅黑' }}&gt;同一层还有两个机制&lt;/Text&gt;&#13;&#10;            &lt;Text style={{ fontSize: 18, color: 'rgba(255,255,255,0.85)', fontFamily: '微软雅黑' }}&gt;&#13;&#10;                数据时效探针标注「数据截至哪天」　·　围绕中位水平的异常标记逐条给出值、基准与偏离度&#13;&#10;            &lt;/Text&gt;&#13;&#10;        &lt;/Box&gt;&#13;&#10;    &lt;/Box&gt;&#13;&#10;&#13;&#10;    {/* D 页脚 */}&#13;&#10;    &lt;Box style={{ width: '100%', height: 40, flexDirection: 'row', alignItems: 'center', justifyContent: 'space-between', padding: '0 40px' }}&gt;&#13;&#10;        &lt;Text style={{ fontSize: 14, color: '#8B97A8', fontFamily: '微软雅黑' }}&gt;Text2SQL 电商数据分析 Agent&lt;/Text&gt;&#13;&#10;        &lt;Text style={{ fontSize: 15, color: '#1E4FA8', fontFamily: 'Times New Roman' }}&gt;11 / 16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矩形 6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65" name="矩形 64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66" name="矩形 65"/>
          <p:cNvSpPr/>
          <p:nvPr/>
        </p:nvSpPr>
        <p:spPr>
          <a:xfrm>
            <a:off x="381000" y="228600"/>
            <a:ext cx="47625" cy="247650"/>
          </a:xfrm>
          <a:prstGeom prst="rect">
            <a:avLst/>
          </a:prstGeom>
          <a:solidFill>
            <a:srgbClr val="3D7BD9"/>
          </a:solidFill>
        </p:spPr>
        <p:txBody>
          <a:bodyPr/>
          <a:p/>
        </p:txBody>
      </p:sp>
      <p:sp>
        <p:nvSpPr>
          <p:cNvPr id="67" name="文本框 66" descr="{&quot;isTemplate&quot;:true,&quot;type&quot;:&quot;text&quot;}"/>
          <p:cNvSpPr txBox="1"/>
          <p:nvPr/>
        </p:nvSpPr>
        <p:spPr>
          <a:xfrm>
            <a:off x="561975" y="161925"/>
            <a:ext cx="33528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结论里的数字是从哪来的</a:t>
            </a:r>
            <a:endParaRPr lang="zh-CN"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文本框 67" descr="{&quot;isTemplate&quot;:true,&quot;type&quot;:&quot;text&quot;}"/>
          <p:cNvSpPr txBox="1"/>
          <p:nvPr/>
        </p:nvSpPr>
        <p:spPr>
          <a:xfrm>
            <a:off x="11096625" y="257175"/>
            <a:ext cx="7143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可信性设计</a:t>
            </a:r>
            <a:endParaRPr lang="zh-CN" sz="1125">
              <a:solidFill>
                <a:srgbClr val="FFFFFF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381000" y="876300"/>
            <a:ext cx="6248400" cy="390525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70" name="图片 6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876300"/>
            <a:ext cx="6248400" cy="3905250"/>
          </a:xfrm>
          <a:prstGeom prst="rect">
            <a:avLst/>
          </a:prstGeom>
        </p:spPr>
      </p:pic>
      <p:sp>
        <p:nvSpPr>
          <p:cNvPr id="71" name="文本框 70" descr="{&quot;isTemplate&quot;:true,&quot;type&quot;:&quot;text&quot;}"/>
          <p:cNvSpPr txBox="1"/>
          <p:nvPr/>
        </p:nvSpPr>
        <p:spPr>
          <a:xfrm>
            <a:off x="381000" y="4857750"/>
            <a:ext cx="6248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真实运行截图：多轮追问「那上个月呢」。浅蓝提示条由结论一致性校验器挂出。</a:t>
            </a:r>
            <a:endParaRPr lang="zh-CN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6838950" y="904875"/>
            <a:ext cx="38100" cy="2286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73" name="文本框 72" descr="{&quot;isTemplate&quot;:true,&quot;type&quot;:&quot;text&quot;}"/>
          <p:cNvSpPr txBox="1"/>
          <p:nvPr/>
        </p:nvSpPr>
        <p:spPr>
          <a:xfrm>
            <a:off x="6972300" y="876300"/>
            <a:ext cx="28575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结论写完，还要回头对一遍</a:t>
            </a:r>
            <a:endParaRPr lang="zh-CN" sz="187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文本框 73" descr="{&quot;isTemplate&quot;:true,&quot;type&quot;:&quot;text&quot;}"/>
          <p:cNvSpPr txBox="1"/>
          <p:nvPr/>
        </p:nvSpPr>
        <p:spPr>
          <a:xfrm>
            <a:off x="6838950" y="1295400"/>
            <a:ext cx="4972050" cy="11715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5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模型输出结论后，系统会抽取结论中出现的全部数字，逐个回本轮结果集比对。没有找到来源的数字单独列出，提示人工核对。</a:t>
            </a:r>
            <a:endParaRPr lang="zh-CN" sz="15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文本框 74" descr="{&quot;isTemplate&quot;:true,&quot;type&quot;:&quot;text&quot;}"/>
          <p:cNvSpPr txBox="1"/>
          <p:nvPr/>
        </p:nvSpPr>
        <p:spPr>
          <a:xfrm>
            <a:off x="6838950" y="2600325"/>
            <a:ext cx="4972050" cy="1562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5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截图里的</a:t>
            </a:r>
            <a:r>
              <a:rPr lang="en-US" sz="15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169 </a:t>
            </a:r>
            <a:r>
              <a:rPr lang="zh-CN" sz="15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是两个渠道订单量的差值，由模型自行算出。它不在结果集中——差值本身可以验证，但它不是查询返回的数据点。若不标注，读的人无从分辨哪些数是查出来的、哪些是推出来的。</a:t>
            </a:r>
            <a:endParaRPr lang="zh-CN" sz="15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6838950" y="4295775"/>
            <a:ext cx="4972050" cy="1104900"/>
          </a:xfrm>
          <a:prstGeom prst="rect">
            <a:avLst/>
          </a:prstGeom>
          <a:solidFill>
            <a:srgbClr val="E8EFF8"/>
          </a:solidFill>
        </p:spPr>
        <p:txBody>
          <a:bodyPr/>
          <a:p/>
        </p:txBody>
      </p:sp>
      <p:sp>
        <p:nvSpPr>
          <p:cNvPr id="77" name="文本框 76" descr="{&quot;isTemplate&quot;:true,&quot;type&quot;:&quot;text&quot;}"/>
          <p:cNvSpPr txBox="1"/>
          <p:nvPr/>
        </p:nvSpPr>
        <p:spPr>
          <a:xfrm>
            <a:off x="6991350" y="4410075"/>
            <a:ext cx="46672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标注的作用不是暴露缺陷</a:t>
            </a:r>
            <a:endParaRPr lang="zh-CN" sz="13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文本框 77" descr="{&quot;isTemplate&quot;:true,&quot;type&quot;:&quot;text&quot;}"/>
          <p:cNvSpPr txBox="1"/>
          <p:nvPr/>
        </p:nvSpPr>
        <p:spPr>
          <a:xfrm>
            <a:off x="6991350" y="4648200"/>
            <a:ext cx="4667250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而是划出边界：能追溯到结果集的正常给出，追溯不到的不静默略过。</a:t>
            </a:r>
            <a:endParaRPr lang="zh-CN" sz="13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381000" y="5534025"/>
            <a:ext cx="11430000" cy="62865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80" name="文本框 79" descr="{&quot;isTemplate&quot;:true,&quot;type&quot;:&quot;text&quot;}"/>
          <p:cNvSpPr txBox="1"/>
          <p:nvPr/>
        </p:nvSpPr>
        <p:spPr>
          <a:xfrm>
            <a:off x="590550" y="5734050"/>
            <a:ext cx="17145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同一层还有两个机制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文本框 80" descr="{&quot;isTemplate&quot;:true,&quot;type&quot;:&quot;text&quot;}"/>
          <p:cNvSpPr txBox="1"/>
          <p:nvPr/>
        </p:nvSpPr>
        <p:spPr>
          <a:xfrm>
            <a:off x="2457450" y="5743575"/>
            <a:ext cx="70961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数据时效探针标注「数据截至哪天」　·　围绕中位水平的异常标记逐条给出值、基准与偏离度</a:t>
            </a:r>
            <a:endParaRPr lang="zh-CN" sz="1350">
              <a:solidFill>
                <a:srgbClr val="FFFFFF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文本框 81" descr="{&quot;isTemplate&quot;:true,&quot;type&quot;:&quot;text&quot;}"/>
          <p:cNvSpPr txBox="1"/>
          <p:nvPr/>
        </p:nvSpPr>
        <p:spPr>
          <a:xfrm>
            <a:off x="381000" y="6591300"/>
            <a:ext cx="17811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Text2SQL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电商数据分析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Agent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文本框 82" descr="{&quot;isTemplate&quot;:true,&quot;type&quot;:&quot;text&quot;}"/>
          <p:cNvSpPr txBox="1"/>
          <p:nvPr/>
        </p:nvSpPr>
        <p:spPr>
          <a:xfrm>
            <a:off x="11410950" y="6581775"/>
            <a:ext cx="4000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Times New Roman" panose="02020603050405020304"/>
                <a:ea typeface="Times New Roman" panose="02020603050405020304"/>
              </a:rPr>
              <a:t>11 / 16</a:t>
            </a:r>
            <a:endParaRPr lang="en-US" sz="1125">
              <a:solidFill>
                <a:srgbClr val="1E4FA8"/>
              </a:solidFill>
              <a:latin typeface="Times New Roman" panose="02020603050405020304"/>
              <a:ea typeface="Times New Roman" panose="020206030504050203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4" name="" descr="&lt;Slide style={{ background: '#FFFFFF', padding: 0, flexDirection: 'column' }}&gt;&#13;&#10;    {/* A3 页眉 */}&#13;&#10;    &lt;Box style={{&#13;&#10;        width: '100%', height: 72, background: '#0E3F8C',&#13;&#10;        flexDirection: 'row', alignItems: 'center', justifyContent: 'space-between',&#13;&#10;        padding: '0 40px',&#13;&#10;    }}&gt;&#13;&#10;        &lt;Box style={{ flexDirection: 'row', alignItems: 'center', gap: 14 }}&gt;&#13;&#10;            &lt;Box style={{ width: 5, height: 26, background: '#3D7BD9' }} /&gt;&#13;&#10;            &lt;Text style={{ fontSize: 32, fontWeight: 'bold', color: '#FFFFFF', fontFamily: '微软雅黑' }}&gt;&#13;&#10;                它知道自己不知道什么&#13;&#10;            &lt;/Text&gt;&#13;&#10;        &lt;/Box&gt;&#13;&#10;        &lt;Text style={{ fontSize: 15, color: 'rgba(255,255,255,0.7)', fontFamily: '微软雅黑' }}&gt;&#13;&#10;            可信性设计&#13;&#10;        &lt;/Text&gt;&#13;&#10;    &lt;/Box&gt;&#13;&#10;&#13;&#10;    &lt;Box style={{ flex: 1, flexDirection: 'column', padding: '20px 40px 0 40px', gap: 14 }}&gt;&#13;&#10;        &lt;Box style={{ flexDirection: 'row', gap: 22, alignItems: 'flex-start' }}&gt;&#13;&#10;            {/* 左文 */}&#13;&#10;            &lt;Box style={{ flex: 1, flexDirection: 'column', gap: 14 }}&gt;&#13;&#10;                &lt;Box style={{ flexDirection: 'row', alignItems: 'center', gap: 10 }}&gt;&#13;&#10;                    &lt;Box style={{ width: 4, height: 24, background: '#1E4FA8' }} /&gt;&#13;&#10;                    &lt;Text style={{ fontSize: 25, fontWeight: 'bold', color: '#0E3F8C', fontFamily: '微软雅黑' }}&gt;&#13;&#10;                        未命中不装命中&#13;&#10;                    &lt;/Text&gt;&#13;&#10;                &lt;/Box&gt;&#13;&#10;&#13;&#10;                &lt;Text style={{ fontSize: 20, color: '#1A2230', lineHeight: 1.7, fontFamily: '微软雅黑' }}&gt;&#13;&#10;                    语义层只登记了七个指标。问题落在登记范围之外时，系统照样会把语句写出来，但会在最前面挂一条提示：本次未命中已登记指标，结论与数字仅来自生成式总结。&#13;&#10;                &lt;/Text&gt;&#13;&#10;&#13;&#10;                &lt;Box style={{ flexDirection: 'column', gap: 10 }}&gt;&#13;&#10;                    &lt;Box style={{ background: '#F7F9FC', border: { left: { width: 3, color: '#1E4FA8' } }, padding: '10px 14px', flexDirection: 'column', gap: 2 }}&gt;&#13;&#10;                        &lt;Text style={{ fontSize: 19, fontWeight: 'bold', color: '#0E3F8C', fontFamily: '微软雅黑' }}&gt;指标未命中&lt;/Text&gt;&#13;&#10;                        &lt;Text style={{ fontSize: 17, color: '#4A5568', fontFamily: '微软雅黑', lineHeight: 1.5 }}&gt;&#13;&#10;                            按最接近的口径继续算，但提示用户结果未经口径背书&#13;&#10;                        &lt;/Text&gt;&#13;&#10;                    &lt;/Box&gt;&#13;&#10;                    &lt;Box style={{ background: '#F7F9FC', border: { left: { width: 3, color: '#1E4FA8' } }, padding: '10px 14px', flexDirection: 'column', gap: 2 }}&gt;&#13;&#10;                        &lt;Text style={{ fontSize: 19, fontWeight: 'bold', color: '#0E3F8C', fontFamily: '微软雅黑' }}&gt;维度未命中&lt;/Text&gt;&#13;&#10;                        &lt;Text style={{ fontSize: 17, color: '#4A5568', fontFamily: '微软雅黑', lineHeight: 1.5 }}&gt;&#13;&#10;                            问句里的切片维度不在指标声明的范围内时单独提示&#13;&#10;                        &lt;/Text&gt;&#13;&#10;                    &lt;/Box&gt;&#13;&#10;                    &lt;Box style={{ background: '#F7F9FC', border: { left: { width: 3, color: '#1E4FA8' } }, padding: '10px 14px', flexDirection: 'column', gap: 2 }}&gt;&#13;&#10;                        &lt;Text style={{ fontSize: 19, fontWeight: 'bold', color: '#0E3F8C', fontFamily: '微软雅黑' }}&gt;时间口径不一致&lt;/Text&gt;&#13;&#10;                        &lt;Text style={{ fontSize: 17, color: '#4A5568', fontFamily: '微软雅黑', lineHeight: 1.5 }}&gt;&#13;&#10;                            问句提到的区间与语句里的时间谓词对不上时提示核对&#13;&#10;                        &lt;/Text&gt;&#13;&#10;                    &lt;/Box&gt;&#13;&#10;                &lt;/Box&gt;&#13;&#10;            &lt;/Box&gt;&#13;&#10;&#13;&#10;            {/* 右图 */}&#13;&#10;            &lt;Box style={{ width: 656, flexDirection: 'column', gap: 8 }}&gt;&#13;&#10;                &lt;Image&#13;&#10;                    src='assets/06_metric_miss.png'&#13;&#10;                    style={{ width: 656, height: 410, objectFit: 'cover', border: { width: 1, color: '#D6DCE5' } }}&#13;&#10;                /&gt;&#13;&#10;                &lt;Text style={{ fontSize: 14, color: '#8B97A8', fontFamily: '微软雅黑' }}&gt;&#13;&#10;                    真实运行截图：问「各区域的复购率」。该指标未登记，系统照常出图，但挂出未命中提示。&#13;&#10;                &lt;/Text&gt;&#13;&#10;            &lt;/Box&gt;&#13;&#10;        &lt;/Box&gt;&#13;&#10;&#13;&#10;        {/* 结论条 */}&#13;&#10;        &lt;Box style={{ width: '100%', height: 62, background: '#E8EFF8', border: { left: { width: 5, color: '#1E4FA8' } }, flexDirection: 'row', alignItems: 'center', padding: '0 22px' }}&gt;&#13;&#10;            &lt;Text style={{ fontSize: 19, color: '#1A2230', fontFamily: '微软雅黑' }}&gt;&#13;&#10;                边界提示属于产品设计的一部分，不是错误处理。系统能回答什么、不能背书什么，用户需要知道。&#13;&#10;            &lt;/Text&gt;&#13;&#10;        &lt;/Box&gt;&#13;&#10;    &lt;/Box&gt;&#13;&#10;&#13;&#10;    {/* D 页脚 */}&#13;&#10;    &lt;Box style={{ width: '100%', height: 40, flexDirection: 'row', alignItems: 'center', justifyContent: 'space-between', padding: '0 40px' }}&gt;&#13;&#10;        &lt;Text style={{ fontSize: 14, color: '#8B97A8', fontFamily: '微软雅黑' }}&gt;Text2SQL 电商数据分析 Agent&lt;/Text&gt;&#13;&#10;        &lt;Text style={{ fontSize: 15, color: '#1E4FA8', fontFamily: 'Times New Roman' }}&gt;12 / 16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矩形 8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86" name="矩形 85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87" name="矩形 86"/>
          <p:cNvSpPr/>
          <p:nvPr/>
        </p:nvSpPr>
        <p:spPr>
          <a:xfrm>
            <a:off x="381000" y="228600"/>
            <a:ext cx="47625" cy="247650"/>
          </a:xfrm>
          <a:prstGeom prst="rect">
            <a:avLst/>
          </a:prstGeom>
          <a:solidFill>
            <a:srgbClr val="3D7BD9"/>
          </a:solidFill>
        </p:spPr>
        <p:txBody>
          <a:bodyPr/>
          <a:p/>
        </p:txBody>
      </p:sp>
      <p:sp>
        <p:nvSpPr>
          <p:cNvPr id="88" name="文本框 87" descr="{&quot;isTemplate&quot;:true,&quot;type&quot;:&quot;text&quot;}"/>
          <p:cNvSpPr txBox="1"/>
          <p:nvPr/>
        </p:nvSpPr>
        <p:spPr>
          <a:xfrm>
            <a:off x="561975" y="161925"/>
            <a:ext cx="30480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它知道自己不知道什么</a:t>
            </a:r>
            <a:endParaRPr lang="zh-CN"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文本框 88" descr="{&quot;isTemplate&quot;:true,&quot;type&quot;:&quot;text&quot;}"/>
          <p:cNvSpPr txBox="1"/>
          <p:nvPr/>
        </p:nvSpPr>
        <p:spPr>
          <a:xfrm>
            <a:off x="11096625" y="257175"/>
            <a:ext cx="7143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可信性设计</a:t>
            </a:r>
            <a:endParaRPr lang="zh-CN" sz="1125">
              <a:solidFill>
                <a:srgbClr val="FFFFFF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381000" y="904875"/>
            <a:ext cx="38100" cy="2286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91" name="文本框 90" descr="{&quot;isTemplate&quot;:true,&quot;type&quot;:&quot;text&quot;}"/>
          <p:cNvSpPr txBox="1"/>
          <p:nvPr/>
        </p:nvSpPr>
        <p:spPr>
          <a:xfrm>
            <a:off x="514350" y="876300"/>
            <a:ext cx="1666875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未命中不装命中</a:t>
            </a:r>
            <a:endParaRPr lang="zh-CN" sz="187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文本框 91" descr="{&quot;isTemplate&quot;:true,&quot;type&quot;:&quot;text&quot;}"/>
          <p:cNvSpPr txBox="1"/>
          <p:nvPr/>
        </p:nvSpPr>
        <p:spPr>
          <a:xfrm>
            <a:off x="381000" y="1295400"/>
            <a:ext cx="4972050" cy="11715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5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语义层只登记了七个指标。问题落在登记范围之外时，系统照样会把语句写出来，但会在最前面挂一条提示：本次未命中已登记指标，结论与数字仅来自生成式总结。</a:t>
            </a:r>
            <a:endParaRPr lang="zh-CN" sz="15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381000" y="2600325"/>
            <a:ext cx="4972050" cy="72390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94" name="文本框 93" descr="{&quot;isTemplate&quot;:true,&quot;type&quot;:&quot;text&quot;}"/>
          <p:cNvSpPr txBox="1"/>
          <p:nvPr/>
        </p:nvSpPr>
        <p:spPr>
          <a:xfrm>
            <a:off x="514350" y="2695575"/>
            <a:ext cx="47053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指标未命中</a:t>
            </a:r>
            <a:endParaRPr lang="zh-CN" sz="142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文本框 94" descr="{&quot;isTemplate&quot;:true,&quot;type&quot;:&quot;text&quot;}"/>
          <p:cNvSpPr txBox="1"/>
          <p:nvPr/>
        </p:nvSpPr>
        <p:spPr>
          <a:xfrm>
            <a:off x="514350" y="2933700"/>
            <a:ext cx="47053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按最接近的口径继续算，但提示用户结果未经口径背书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381000" y="3419475"/>
            <a:ext cx="4972050" cy="72390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97" name="文本框 96" descr="{&quot;isTemplate&quot;:true,&quot;type&quot;:&quot;text&quot;}"/>
          <p:cNvSpPr txBox="1"/>
          <p:nvPr/>
        </p:nvSpPr>
        <p:spPr>
          <a:xfrm>
            <a:off x="514350" y="3514725"/>
            <a:ext cx="47053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维度未命中</a:t>
            </a:r>
            <a:endParaRPr lang="zh-CN" sz="142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文本框 97" descr="{&quot;isTemplate&quot;:true,&quot;type&quot;:&quot;text&quot;}"/>
          <p:cNvSpPr txBox="1"/>
          <p:nvPr/>
        </p:nvSpPr>
        <p:spPr>
          <a:xfrm>
            <a:off x="514350" y="3752850"/>
            <a:ext cx="47053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问句里的切片维度不在指标声明的范围内时单独提示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381000" y="4238625"/>
            <a:ext cx="4972050" cy="72390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100" name="文本框 99" descr="{&quot;isTemplate&quot;:true,&quot;type&quot;:&quot;text&quot;}"/>
          <p:cNvSpPr txBox="1"/>
          <p:nvPr/>
        </p:nvSpPr>
        <p:spPr>
          <a:xfrm>
            <a:off x="514350" y="4333875"/>
            <a:ext cx="47053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时间口径不一致</a:t>
            </a:r>
            <a:endParaRPr lang="zh-CN" sz="142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文本框 100" descr="{&quot;isTemplate&quot;:true,&quot;type&quot;:&quot;text&quot;}"/>
          <p:cNvSpPr txBox="1"/>
          <p:nvPr/>
        </p:nvSpPr>
        <p:spPr>
          <a:xfrm>
            <a:off x="514350" y="4572000"/>
            <a:ext cx="47053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问句提到的区间与语句里的时间谓词对不上时提示核对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5562600" y="876300"/>
            <a:ext cx="6248400" cy="390525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103" name="图片 1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2600" y="876300"/>
            <a:ext cx="6248400" cy="3905250"/>
          </a:xfrm>
          <a:prstGeom prst="rect">
            <a:avLst/>
          </a:prstGeom>
        </p:spPr>
      </p:pic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5562600" y="4857750"/>
            <a:ext cx="6248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真实运行截图：问「各区域的复购率」。该指标未登记，系统照常出图，但挂出未命中提示。</a:t>
            </a:r>
            <a:endParaRPr lang="zh-CN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381000" y="5153025"/>
            <a:ext cx="11430000" cy="590550"/>
          </a:xfrm>
          <a:prstGeom prst="rect">
            <a:avLst/>
          </a:prstGeom>
          <a:solidFill>
            <a:srgbClr val="E8EFF8"/>
          </a:solidFill>
        </p:spPr>
        <p:txBody>
          <a:bodyPr/>
          <a:p/>
        </p:txBody>
      </p:sp>
      <p:sp>
        <p:nvSpPr>
          <p:cNvPr id="106" name="文本框 105" descr="{&quot;isTemplate&quot;:true,&quot;type&quot;:&quot;text&quot;}"/>
          <p:cNvSpPr txBox="1"/>
          <p:nvPr/>
        </p:nvSpPr>
        <p:spPr>
          <a:xfrm>
            <a:off x="590550" y="5343525"/>
            <a:ext cx="79629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边界提示属于产品设计的一部分，不是错误处理。系统能回答什么、不能背书什么，用户需要知道。</a:t>
            </a:r>
            <a:endParaRPr lang="zh-CN" sz="14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文本框 106" descr="{&quot;isTemplate&quot;:true,&quot;type&quot;:&quot;text&quot;}"/>
          <p:cNvSpPr txBox="1"/>
          <p:nvPr/>
        </p:nvSpPr>
        <p:spPr>
          <a:xfrm>
            <a:off x="381000" y="6591300"/>
            <a:ext cx="17811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Text2SQL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电商数据分析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Agent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文本框 107" descr="{&quot;isTemplate&quot;:true,&quot;type&quot;:&quot;text&quot;}"/>
          <p:cNvSpPr txBox="1"/>
          <p:nvPr/>
        </p:nvSpPr>
        <p:spPr>
          <a:xfrm>
            <a:off x="11410950" y="6581775"/>
            <a:ext cx="4000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Times New Roman" panose="02020603050405020304"/>
                <a:ea typeface="Times New Roman" panose="02020603050405020304"/>
              </a:rPr>
              <a:t>12 / 16</a:t>
            </a:r>
            <a:endParaRPr lang="en-US" sz="1125">
              <a:solidFill>
                <a:srgbClr val="1E4FA8"/>
              </a:solidFill>
              <a:latin typeface="Times New Roman" panose="02020603050405020304"/>
              <a:ea typeface="Times New Roman" panose="020206030504050203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9" name="" descr="&lt;Slide style={{ background: '#FFFFFF', padding: 0, flexDirection: 'column' }}&gt;&#13;&#10;    {/* A3 页眉 */}&#13;&#10;    &lt;Box style={{&#13;&#10;        width: '100%', height: 72, background: '#0E3F8C',&#13;&#10;        flexDirection: 'row', alignItems: 'center', justifyContent: 'space-between',&#13;&#10;        padding: '0 40px',&#13;&#10;    }}&gt;&#13;&#10;        &lt;Box style={{ flexDirection: 'row', alignItems: 'center', gap: 14 }}&gt;&#13;&#10;            &lt;Box style={{ width: 5, height: 26, background: '#3D7BD9' }} /&gt;&#13;&#10;            &lt;Text style={{ fontSize: 32, fontWeight: 'bold', color: '#FFFFFF', fontFamily: '微软雅黑' }}&gt;&#13;&#10;                一个会让结论反向的缺陷&#13;&#10;            &lt;/Text&gt;&#13;&#10;        &lt;/Box&gt;&#13;&#10;        &lt;Text style={{ fontSize: 15, color: 'rgba(255,255,255,0.7)', fontFamily: '微软雅黑' }}&gt;&#13;&#10;            可信性设计&#13;&#10;        &lt;/Text&gt;&#13;&#10;    &lt;/Box&gt;&#13;&#10;&#13;&#10;    &lt;Box style={{ flex: 1, flexDirection: 'column', padding: '20px 40px 0 40px', gap: 14 }}&gt;&#13;&#10;        &lt;Text style={{ fontSize: 21, color: '#4A5568', fontFamily: '微软雅黑' }}&gt;&#13;&#10;            评测全绿之后回头翻代码，发现环比基准的窗口计算在非自然月区间上走了一条错误分支。同一个问句，结论方向是反的。&#13;&#10;        &lt;/Text&gt;&#13;&#10;&#13;&#10;        {/* 上方本期说明 */}&#13;&#10;        &lt;Box style={{ width: '100%', height: 62, background: '#F7F9FC', border: { left: { width: 4, color: '#1E4FA8' } }, flexDirection: 'row', alignItems: 'center', padding: '0 20px', gap: 20 }}&gt;&#13;&#10;            &lt;Text style={{ fontSize: 19, fontWeight: 'bold', color: '#0E3F8C', fontFamily: '微软雅黑' }}&gt;本期窗口&lt;/Text&gt;&#13;&#10;            &lt;Text style={{ fontSize: 19, color: '#1A2230', fontFamily: '微软雅黑' }}&gt;2026-08-15 → 2026-09-15　本期成交总额 3,563,928.35 元&lt;/Text&gt;&#13;&#10;            &lt;Text style={{ fontSize: 17, color: '#8B97A8', fontFamily: '微软雅黑' }}&gt;不是自然月，这是触发缺陷的前提&lt;/Text&gt;&#13;&#10;        &lt;/Box&gt;&#13;&#10;&#13;&#10;        {/* 双栏对照 */}&#13;&#10;        &lt;Box style={{ flexDirection: 'row', gap: 18 }}&gt;&#13;&#10;            {/* 修复前 */}&#13;&#10;            &lt;Box style={{ flex: 1, background: '#FDF3F2', border: { width: 1, color: '#D9534F' }, flexDirection: 'column', padding: 18, gap: 10 }}&gt;&#13;&#10;                &lt;Box style={{ flexDirection: 'row', alignItems: 'center', gap: 9 }}&gt;&#13;&#10;                    &lt;Box style={{ width: 66, height: 26, background: '#D9534F', alignItems: 'center', justifyContent: 'center' }}&gt;&#13;&#10;                        &lt;Text style={{ fontSize: 16, fontWeight: 'bold', color: '#FFFFFF', fontFamily: '微软雅黑' }}&gt;修复前&lt;/Text&gt;&#13;&#10;                    &lt;/Box&gt;&#13;&#10;                    &lt;Text style={{ fontSize: 22, fontWeight: 'bold', color: '#0E3F8C', fontFamily: '微软雅黑' }}&gt;按整月对齐&lt;/Text&gt;&#13;&#10;                &lt;/Box&gt;&#13;&#10;                &lt;Text style={{ fontSize: 19, color: '#4A5568', fontFamily: '微软雅黑', lineHeight: 1.55 }}&gt;&#13;&#10;                    环比窗口取到 2026-07-01 → 2026-08-01。区间与本期不相邻，中间 08-01 至 08-15 半月无人覆盖。&#13;&#10;                &lt;/Text&gt;&#13;&#10;                &lt;Text style={{ fontSize: 64, fontWeight: 'bold', color: '#D9534F', fontFamily: 'Times New Roman', lineHeight: 1 }}&gt;-10.19%&lt;/Text&gt;&#13;&#10;                &lt;Text style={{ fontSize: 18, color: '#4A5568', fontFamily: '微软雅黑' }}&gt;&#13;&#10;                    结论写成「较上月回落约一成」，方向与事实相反。&#13;&#10;                &lt;/Text&gt;&#13;&#10;            &lt;/Box&gt;&#13;&#10;&#13;&#10;            {/* 修复后 */}&#13;&#10;            &lt;Box style={{ flex: 1, background: '#F0F5FC', border: { width: 1, color: '#1E4FA8' }, flexDirection: 'column', padding: 18, gap: 10 }}&gt;&#13;&#10;                &lt;Box style={{ flexDirection: 'row', alignItems: 'center', gap: 9 }}&gt;&#13;&#10;                    &lt;Box style={{ width: 66, height: 26, background: '#1E4FA8', alignItems: 'center', justifyContent: 'center' }}&gt;&#13;&#10;                        &lt;Text style={{ fontSize: 16, fontWeight: 'bold', color: '#FFFFFF', fontFamily: '微软雅黑' }}&gt;修复后&lt;/Text&gt;&#13;&#10;                    &lt;/Box&gt;&#13;&#10;                    &lt;Text style={{ fontSize: 22, fontWeight: 'bold', color: '#0E3F8C', fontFamily: '微软雅黑' }}&gt;紧邻等长平移&lt;/Text&gt;&#13;&#10;                &lt;/Box&gt;&#13;&#10;                &lt;Text style={{ fontSize: 19, color: '#4A5568', fontFamily: '微软雅黑', lineHeight: 1.55 }}&gt;&#13;&#10;                    环比窗口取到 2026-07-15 → 2026-08-15。紧邻本期且长度一致，两条时间轴严格可比。&#13;&#10;                &lt;/Text&gt;&#13;&#10;                &lt;Text style={{ fontSize: 64, fontWeight: 'bold', color: '#1E4FA8', fontFamily: 'Times New Roman', lineHeight: 1 }}&gt;+8.59%&lt;/Text&gt;&#13;&#10;                &lt;Text style={{ fontSize: 18, color: '#4A5568', fontFamily: '微软雅黑' }}&gt;&#13;&#10;                    结论改成「较上月增长约 8.6%」，本期值未变。&#13;&#10;                &lt;/Text&gt;&#13;&#10;            &lt;/Box&gt;&#13;&#10;        &lt;/Box&gt;&#13;&#10;&#13;&#10;        {/* 根因与修法 */}&#13;&#10;        &lt;Box style={{ flexDirection: 'row', gap: 14 }}&gt;&#13;&#10;            &lt;Box style={{ flex: 1, background: '#E8EFF8', padding: '12px 18px', flexDirection: 'column', gap: 3 }}&gt;&#13;&#10;                &lt;Text style={{ fontSize: 19, fontWeight: 'bold', color: '#0E3F8C', fontFamily: '微软雅黑' }}&gt;根因&lt;/Text&gt;&#13;&#10;                &lt;Text style={{ fontSize: 17, color: '#4A5568', fontFamily: '微软雅黑', lineHeight: 1.5 }}&gt;&#13;&#10;                    基准取值同时支持按月对齐与等长平移，两条路径在非自然月窗口下给出不同结果。&#13;&#10;                &lt;/Text&gt;&#13;&#10;            &lt;/Box&gt;&#13;&#10;            &lt;Box style={{ flex: 1, background: '#E8EFF8', padding: '12px 18px', flexDirection: 'column', gap: 3 }}&gt;&#13;&#10;                &lt;Text style={{ fontSize: 19, fontWeight: 'bold', color: '#0E3F8C', fontFamily: '微软雅黑' }}&gt;修法&lt;/Text&gt;&#13;&#10;                &lt;Text style={{ fontSize: 17, color: '#4A5568', fontFamily: '微软雅黑', lineHeight: 1.5 }}&gt;&#13;&#10;                    先判定窗口是否为自然月，是才走月对齐，否则退回等长平移；自然月语义不变。&#13;&#10;                &lt;/Text&gt;&#13;&#10;            &lt;/Box&gt;&#13;&#10;            &lt;Box style={{ flex: 1, background: '#E8EFF8', padding: '12px 18px', flexDirection: 'column', gap: 3 }}&gt;&#13;&#10;                &lt;Text style={{ fontSize: 19, fontWeight: 'bold', color: '#0E3F8C', fontFamily: '微软雅黑' }}&gt;防线&lt;/Text&gt;&#13;&#10;                &lt;Text style={{ fontSize: 17, color: '#4A5568', fontFamily: '微软雅黑', lineHeight: 1.5 }}&gt;&#13;&#10;                    补一条性质断言：任意窗口下环比必须紧邻且等长，新增粒度同样受约束。&#13;&#10;                &lt;/Text&gt;&#13;&#10;            &lt;/Box&gt;&#13;&#10;        &lt;/Box&gt;&#13;&#10;&#13;&#10;        &lt;Text style={{ fontSize: 14, color: '#8B97A8', fontFamily: '微软雅黑' }}&gt;&#13;&#10;            数据与窗口取自 CHANGELOG.md T44 节的端到端记录；单元测试 544 条通过，2026-09-29 本机实跑。&#13;&#10;        &lt;/Text&gt;&#13;&#10;    &lt;/Box&gt;&#13;&#10;&#13;&#10;    {/* D 页脚 */}&#13;&#10;    &lt;Box style={{ width: '100%', height: 40, flexDirection: 'row', alignItems: 'center', justifyContent: 'space-between', padding: '0 40px' }}&gt;&#13;&#10;        &lt;Text style={{ fontSize: 14, color: '#8B97A8', fontFamily: '微软雅黑' }}&gt;Text2SQL 电商数据分析 Agent&lt;/Text&gt;&#13;&#10;        &lt;Text style={{ fontSize: 15, color: '#1E4FA8', fontFamily: 'Times New Roman' }}&gt;13 / 16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矩形 10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11" name="矩形 11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112" name="矩形 111"/>
          <p:cNvSpPr/>
          <p:nvPr/>
        </p:nvSpPr>
        <p:spPr>
          <a:xfrm>
            <a:off x="381000" y="228600"/>
            <a:ext cx="47625" cy="247650"/>
          </a:xfrm>
          <a:prstGeom prst="rect">
            <a:avLst/>
          </a:prstGeom>
          <a:solidFill>
            <a:srgbClr val="3D7BD9"/>
          </a:solidFill>
        </p:spPr>
        <p:txBody>
          <a:bodyPr/>
          <a:p/>
        </p:txBody>
      </p:sp>
      <p:sp>
        <p:nvSpPr>
          <p:cNvPr id="113" name="文本框 112" descr="{&quot;isTemplate&quot;:true,&quot;type&quot;:&quot;text&quot;}"/>
          <p:cNvSpPr txBox="1"/>
          <p:nvPr/>
        </p:nvSpPr>
        <p:spPr>
          <a:xfrm>
            <a:off x="561975" y="161925"/>
            <a:ext cx="33528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一个会让结论反向的缺陷</a:t>
            </a:r>
            <a:endParaRPr lang="zh-CN"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文本框 113" descr="{&quot;isTemplate&quot;:true,&quot;type&quot;:&quot;text&quot;}"/>
          <p:cNvSpPr txBox="1"/>
          <p:nvPr/>
        </p:nvSpPr>
        <p:spPr>
          <a:xfrm>
            <a:off x="11096625" y="257175"/>
            <a:ext cx="7143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可信性设计</a:t>
            </a:r>
            <a:endParaRPr lang="zh-CN" sz="1125">
              <a:solidFill>
                <a:srgbClr val="FFFFFF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381000" y="876300"/>
            <a:ext cx="114300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评测全绿之后回头翻代码，发现环比基准的窗口计算在非自然月区间上走了一条错误分支。同一个问句，结论方向是反的。</a:t>
            </a:r>
            <a:endParaRPr lang="zh-CN" sz="15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381000" y="1257300"/>
            <a:ext cx="11430000" cy="59055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117" name="文本框 116" descr="{&quot;isTemplate&quot;:true,&quot;type&quot;:&quot;text&quot;}"/>
          <p:cNvSpPr txBox="1"/>
          <p:nvPr/>
        </p:nvSpPr>
        <p:spPr>
          <a:xfrm>
            <a:off x="571500" y="1447800"/>
            <a:ext cx="7239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本期窗口</a:t>
            </a:r>
            <a:endParaRPr lang="zh-CN" sz="142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" name="文本框 117" descr="{&quot;isTemplate&quot;:true,&quot;type&quot;:&quot;text&quot;}"/>
          <p:cNvSpPr txBox="1"/>
          <p:nvPr/>
        </p:nvSpPr>
        <p:spPr>
          <a:xfrm>
            <a:off x="1485900" y="1447800"/>
            <a:ext cx="475297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2026-08-15 → 2026-09-15</a:t>
            </a:r>
            <a:r>
              <a:rPr lang="zh-CN" sz="14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　本期成交总额</a:t>
            </a:r>
            <a:r>
              <a:rPr lang="en-US" sz="14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3,563,928.35 </a:t>
            </a:r>
            <a:r>
              <a:rPr lang="zh-CN" sz="14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元</a:t>
            </a:r>
            <a:endParaRPr lang="zh-CN" sz="14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" name="文本框 118" descr="{&quot;isTemplate&quot;:true,&quot;type&quot;:&quot;text&quot;}"/>
          <p:cNvSpPr txBox="1"/>
          <p:nvPr/>
        </p:nvSpPr>
        <p:spPr>
          <a:xfrm>
            <a:off x="6429375" y="1457325"/>
            <a:ext cx="24288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不是自然月，这是触发缺陷的前提</a:t>
            </a:r>
            <a:endParaRPr lang="zh-CN" sz="127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381000" y="1981200"/>
            <a:ext cx="5629275" cy="2505075"/>
          </a:xfrm>
          <a:prstGeom prst="rect">
            <a:avLst/>
          </a:prstGeom>
          <a:solidFill>
            <a:srgbClr val="FDF3F2"/>
          </a:solidFill>
          <a:ln w="12700">
            <a:solidFill>
              <a:srgbClr val="D9534F"/>
            </a:solidFill>
            <a:prstDash val="solid"/>
          </a:ln>
        </p:spPr>
        <p:txBody>
          <a:bodyPr/>
          <a:p/>
        </p:txBody>
      </p:sp>
      <p:sp>
        <p:nvSpPr>
          <p:cNvPr id="121" name="矩形 120"/>
          <p:cNvSpPr/>
          <p:nvPr/>
        </p:nvSpPr>
        <p:spPr>
          <a:xfrm>
            <a:off x="552450" y="2162175"/>
            <a:ext cx="628650" cy="247650"/>
          </a:xfrm>
          <a:prstGeom prst="rect">
            <a:avLst/>
          </a:prstGeom>
          <a:solidFill>
            <a:srgbClr val="D9534F"/>
          </a:solidFill>
        </p:spPr>
        <p:txBody>
          <a:bodyPr/>
          <a:p/>
        </p:txBody>
      </p:sp>
      <p:sp>
        <p:nvSpPr>
          <p:cNvPr id="122" name="文本框 121" descr="{&quot;isTemplate&quot;:true,&quot;type&quot;:&quot;text&quot;}"/>
          <p:cNvSpPr txBox="1"/>
          <p:nvPr/>
        </p:nvSpPr>
        <p:spPr>
          <a:xfrm>
            <a:off x="638175" y="2190750"/>
            <a:ext cx="4572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修复前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" name="文本框 122" descr="{&quot;isTemplate&quot;:true,&quot;type&quot;:&quot;text&quot;}"/>
          <p:cNvSpPr txBox="1"/>
          <p:nvPr/>
        </p:nvSpPr>
        <p:spPr>
          <a:xfrm>
            <a:off x="1266825" y="2152650"/>
            <a:ext cx="10477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按整月对齐</a:t>
            </a:r>
            <a:endParaRPr lang="zh-CN" sz="16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" name="文本框 123" descr="{&quot;isTemplate&quot;:true,&quot;type&quot;:&quot;text&quot;}"/>
          <p:cNvSpPr txBox="1"/>
          <p:nvPr/>
        </p:nvSpPr>
        <p:spPr>
          <a:xfrm>
            <a:off x="552450" y="2505075"/>
            <a:ext cx="5286375" cy="6762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环比窗口取到</a:t>
            </a:r>
            <a:r>
              <a:rPr lang="en-US" sz="14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2026-07-01 → 2026-08-01</a:t>
            </a:r>
            <a:r>
              <a:rPr lang="zh-CN" sz="14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。区间与本期不相邻，中间</a:t>
            </a:r>
            <a:r>
              <a:rPr lang="en-US" sz="14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08-01 </a:t>
            </a:r>
            <a:r>
              <a:rPr lang="zh-CN" sz="14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至</a:t>
            </a:r>
            <a:r>
              <a:rPr lang="en-US" sz="14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08-15 </a:t>
            </a:r>
            <a:r>
              <a:rPr lang="zh-CN" sz="14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半月无人覆盖。</a:t>
            </a:r>
            <a:endParaRPr lang="zh-CN" sz="14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5" name="文本框 124" descr="{&quot;isTemplate&quot;:true,&quot;type&quot;:&quot;text&quot;}"/>
          <p:cNvSpPr txBox="1"/>
          <p:nvPr/>
        </p:nvSpPr>
        <p:spPr>
          <a:xfrm>
            <a:off x="552450" y="3276600"/>
            <a:ext cx="5286375" cy="7334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D9534F"/>
                </a:solidFill>
                <a:latin typeface="Times New Roman" panose="02020603050405020304"/>
                <a:ea typeface="Times New Roman" panose="02020603050405020304"/>
              </a:rPr>
              <a:t>-10.19%</a:t>
            </a:r>
            <a:endParaRPr lang="en-US" sz="4800" b="1">
              <a:solidFill>
                <a:srgbClr val="D9534F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26" name="文本框 125" descr="{&quot;isTemplate&quot;:true,&quot;type&quot;:&quot;text&quot;}"/>
          <p:cNvSpPr txBox="1"/>
          <p:nvPr/>
        </p:nvSpPr>
        <p:spPr>
          <a:xfrm>
            <a:off x="552450" y="4105275"/>
            <a:ext cx="52863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结论写成「较上月回落约一成」，方向与事实相反。</a:t>
            </a:r>
            <a:endParaRPr lang="zh-CN" sz="13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6181725" y="1981200"/>
            <a:ext cx="5629275" cy="2505075"/>
          </a:xfrm>
          <a:prstGeom prst="rect">
            <a:avLst/>
          </a:prstGeom>
          <a:solidFill>
            <a:srgbClr val="F0F5FC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128" name="矩形 127"/>
          <p:cNvSpPr/>
          <p:nvPr/>
        </p:nvSpPr>
        <p:spPr>
          <a:xfrm>
            <a:off x="6353175" y="2162175"/>
            <a:ext cx="628650" cy="24765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129" name="文本框 128" descr="{&quot;isTemplate&quot;:true,&quot;type&quot;:&quot;text&quot;}"/>
          <p:cNvSpPr txBox="1"/>
          <p:nvPr/>
        </p:nvSpPr>
        <p:spPr>
          <a:xfrm>
            <a:off x="6438900" y="2190750"/>
            <a:ext cx="4572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修复后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" name="文本框 129" descr="{&quot;isTemplate&quot;:true,&quot;type&quot;:&quot;text&quot;}"/>
          <p:cNvSpPr txBox="1"/>
          <p:nvPr/>
        </p:nvSpPr>
        <p:spPr>
          <a:xfrm>
            <a:off x="7067550" y="2152650"/>
            <a:ext cx="1257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紧邻等长平移</a:t>
            </a:r>
            <a:endParaRPr lang="zh-CN" sz="16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1" name="文本框 130" descr="{&quot;isTemplate&quot;:true,&quot;type&quot;:&quot;text&quot;}"/>
          <p:cNvSpPr txBox="1"/>
          <p:nvPr/>
        </p:nvSpPr>
        <p:spPr>
          <a:xfrm>
            <a:off x="6353175" y="2505075"/>
            <a:ext cx="5286375" cy="6762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环比窗口取到</a:t>
            </a:r>
            <a:r>
              <a:rPr lang="en-US" sz="14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2026-07-15 → 2026-08-15</a:t>
            </a:r>
            <a:r>
              <a:rPr lang="zh-CN" sz="14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。紧邻本期且长度一致，两条时间轴严格可比。</a:t>
            </a:r>
            <a:endParaRPr lang="zh-CN" sz="14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" name="文本框 131" descr="{&quot;isTemplate&quot;:true,&quot;type&quot;:&quot;text&quot;}"/>
          <p:cNvSpPr txBox="1"/>
          <p:nvPr/>
        </p:nvSpPr>
        <p:spPr>
          <a:xfrm>
            <a:off x="6353175" y="3276600"/>
            <a:ext cx="5286375" cy="7334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1E4FA8"/>
                </a:solidFill>
                <a:latin typeface="Times New Roman" panose="02020603050405020304"/>
                <a:ea typeface="Times New Roman" panose="02020603050405020304"/>
              </a:rPr>
              <a:t>+8.59%</a:t>
            </a:r>
            <a:endParaRPr lang="en-US" sz="4800" b="1">
              <a:solidFill>
                <a:srgbClr val="1E4FA8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33" name="文本框 132" descr="{&quot;isTemplate&quot;:true,&quot;type&quot;:&quot;text&quot;}"/>
          <p:cNvSpPr txBox="1"/>
          <p:nvPr/>
        </p:nvSpPr>
        <p:spPr>
          <a:xfrm>
            <a:off x="6353175" y="4105275"/>
            <a:ext cx="52863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结论改成「较上月增长约</a:t>
            </a:r>
            <a:r>
              <a:rPr 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8.6%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」，本期值未变。</a:t>
            </a:r>
            <a:endParaRPr lang="zh-CN" sz="13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" name="矩形 133"/>
          <p:cNvSpPr/>
          <p:nvPr/>
        </p:nvSpPr>
        <p:spPr>
          <a:xfrm>
            <a:off x="381000" y="4619625"/>
            <a:ext cx="3724275" cy="1066800"/>
          </a:xfrm>
          <a:prstGeom prst="rect">
            <a:avLst/>
          </a:prstGeom>
          <a:solidFill>
            <a:srgbClr val="E8EFF8"/>
          </a:solidFill>
        </p:spPr>
        <p:txBody>
          <a:bodyPr/>
          <a:p/>
        </p:txBody>
      </p:sp>
      <p:sp>
        <p:nvSpPr>
          <p:cNvPr id="135" name="文本框 134" descr="{&quot;isTemplate&quot;:true,&quot;type&quot;:&quot;text&quot;}"/>
          <p:cNvSpPr txBox="1"/>
          <p:nvPr/>
        </p:nvSpPr>
        <p:spPr>
          <a:xfrm>
            <a:off x="552450" y="4733925"/>
            <a:ext cx="338137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根因</a:t>
            </a:r>
            <a:endParaRPr lang="zh-CN" sz="142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" name="文本框 135" descr="{&quot;isTemplate&quot;:true,&quot;type&quot;:&quot;text&quot;}"/>
          <p:cNvSpPr txBox="1"/>
          <p:nvPr/>
        </p:nvSpPr>
        <p:spPr>
          <a:xfrm>
            <a:off x="552450" y="4981575"/>
            <a:ext cx="338137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基准取值同时支持按月对齐与等长平移，两条路径在非自然月窗口下给出不同结果。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" name="矩形 136"/>
          <p:cNvSpPr/>
          <p:nvPr/>
        </p:nvSpPr>
        <p:spPr>
          <a:xfrm>
            <a:off x="4238625" y="4619625"/>
            <a:ext cx="3714750" cy="1066800"/>
          </a:xfrm>
          <a:prstGeom prst="rect">
            <a:avLst/>
          </a:prstGeom>
          <a:solidFill>
            <a:srgbClr val="E8EFF8"/>
          </a:solidFill>
        </p:spPr>
        <p:txBody>
          <a:bodyPr/>
          <a:p/>
        </p:txBody>
      </p:sp>
      <p:sp>
        <p:nvSpPr>
          <p:cNvPr id="138" name="文本框 137" descr="{&quot;isTemplate&quot;:true,&quot;type&quot;:&quot;text&quot;}"/>
          <p:cNvSpPr txBox="1"/>
          <p:nvPr/>
        </p:nvSpPr>
        <p:spPr>
          <a:xfrm>
            <a:off x="4410075" y="4733925"/>
            <a:ext cx="33718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修法</a:t>
            </a:r>
            <a:endParaRPr lang="zh-CN" sz="142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9" name="文本框 138" descr="{&quot;isTemplate&quot;:true,&quot;type&quot;:&quot;text&quot;}"/>
          <p:cNvSpPr txBox="1"/>
          <p:nvPr/>
        </p:nvSpPr>
        <p:spPr>
          <a:xfrm>
            <a:off x="4410075" y="4981575"/>
            <a:ext cx="337185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先判定窗口是否为自然月，是才走月对齐，否则退回等长平移；自然月语义不变。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8086725" y="4619625"/>
            <a:ext cx="3724275" cy="1066800"/>
          </a:xfrm>
          <a:prstGeom prst="rect">
            <a:avLst/>
          </a:prstGeom>
          <a:solidFill>
            <a:srgbClr val="E8EFF8"/>
          </a:solidFill>
        </p:spPr>
        <p:txBody>
          <a:bodyPr/>
          <a:p/>
        </p:txBody>
      </p:sp>
      <p:sp>
        <p:nvSpPr>
          <p:cNvPr id="141" name="文本框 140" descr="{&quot;isTemplate&quot;:true,&quot;type&quot;:&quot;text&quot;}"/>
          <p:cNvSpPr txBox="1"/>
          <p:nvPr/>
        </p:nvSpPr>
        <p:spPr>
          <a:xfrm>
            <a:off x="8258175" y="4733925"/>
            <a:ext cx="338137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防线</a:t>
            </a:r>
            <a:endParaRPr lang="zh-CN" sz="142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2" name="文本框 141" descr="{&quot;isTemplate&quot;:true,&quot;type&quot;:&quot;text&quot;}"/>
          <p:cNvSpPr txBox="1"/>
          <p:nvPr/>
        </p:nvSpPr>
        <p:spPr>
          <a:xfrm>
            <a:off x="8258175" y="4981575"/>
            <a:ext cx="338137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补一条性质断言：任意窗口下环比必须紧邻且等长，新增粒度同样受约束。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" name="文本框 142" descr="{&quot;isTemplate&quot;:true,&quot;type&quot;:&quot;text&quot;}"/>
          <p:cNvSpPr txBox="1"/>
          <p:nvPr/>
        </p:nvSpPr>
        <p:spPr>
          <a:xfrm>
            <a:off x="381000" y="5819775"/>
            <a:ext cx="11430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数据与窗口取自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CHANGELOG.md T44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节的端到端记录；单元测试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544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条通过，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2026-09-29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本机实跑。</a:t>
            </a:r>
            <a:endParaRPr lang="zh-CN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" name="文本框 143" descr="{&quot;isTemplate&quot;:true,&quot;type&quot;:&quot;text&quot;}"/>
          <p:cNvSpPr txBox="1"/>
          <p:nvPr/>
        </p:nvSpPr>
        <p:spPr>
          <a:xfrm>
            <a:off x="381000" y="6591300"/>
            <a:ext cx="17811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Text2SQL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电商数据分析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Agent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5" name="文本框 144" descr="{&quot;isTemplate&quot;:true,&quot;type&quot;:&quot;text&quot;}"/>
          <p:cNvSpPr txBox="1"/>
          <p:nvPr/>
        </p:nvSpPr>
        <p:spPr>
          <a:xfrm>
            <a:off x="11410950" y="6581775"/>
            <a:ext cx="4000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Times New Roman" panose="02020603050405020304"/>
                <a:ea typeface="Times New Roman" panose="02020603050405020304"/>
              </a:rPr>
              <a:t>13 / 16</a:t>
            </a:r>
            <a:endParaRPr lang="en-US" sz="1125">
              <a:solidFill>
                <a:srgbClr val="1E4FA8"/>
              </a:solidFill>
              <a:latin typeface="Times New Roman" panose="02020603050405020304"/>
              <a:ea typeface="Times New Roman" panose="020206030504050203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6" name="" descr="&lt;Slide style={{ background: '#FFFFFF', padding: 0, flexDirection: 'column' }}&gt;&#13;&#10;    {/* A3 页眉 */}&#13;&#10;    &lt;Box style={{&#13;&#10;        width: '100%', height: 72, background: '#0E3F8C',&#13;&#10;        flexDirection: 'row', alignItems: 'center', justifyContent: 'space-between',&#13;&#10;        padding: '0 40px',&#13;&#10;    }}&gt;&#13;&#10;        &lt;Box style={{ flexDirection: 'row', alignItems: 'center', gap: 14 }}&gt;&#13;&#10;            &lt;Box style={{ width: 5, height: 26, background: '#3D7BD9' }} /&gt;&#13;&#10;            &lt;Text style={{ fontSize: 32, fontWeight: 'bold', color: '#FFFFFF', fontFamily: '微软雅黑' }}&gt;&#13;&#10;                真实运行演示&#13;&#10;            &lt;/Text&gt;&#13;&#10;        &lt;/Box&gt;&#13;&#10;        &lt;Text style={{ fontSize: 15, color: 'rgba(255,255,255,0.7)', fontFamily: '微软雅黑' }}&gt;&#13;&#10;            验证与演示&#13;&#10;        &lt;/Text&gt;&#13;&#10;    &lt;/Box&gt;&#13;&#10;&#13;&#10;    &lt;Box style={{ flex: 1, flexDirection: 'column', padding: '18px 40px 0 40px', gap: 12 }}&gt;&#13;&#10;        {/* 第一行 */}&#13;&#10;        &lt;Box style={{ flexDirection: 'row', gap: 14 }}&gt;&#13;&#10;            &lt;Box style={{ flex: 1, flexDirection: 'column', gap: 6 }}&gt;&#13;&#10;                &lt;Image src='assets/01_basic_pipeline.png' style={{ width: '100%', height: 200, objectFit: 'contain', border: { width: 1, color: '#D6DCE5' } }} /&gt;&#13;&#10;                &lt;Text style={{ fontSize: 17, fontWeight: 'bold', color: '#1E4FA8', fontFamily: '微软雅黑' }}&gt;基础链路&lt;/Text&gt;&#13;&#10;                &lt;Text style={{ fontSize: 15, color: '#8B97A8', fontFamily: '微软雅黑' }}&gt;结论、时效标注、异常标记、图表与结果表&lt;/Text&gt;&#13;&#10;            &lt;/Box&gt;&#13;&#10;            &lt;Box style={{ flex: 1, flexDirection: 'column', gap: 6 }}&gt;&#13;&#10;                &lt;Image src='assets/02_trend.png' style={{ width: '100%', height: 200, objectFit: 'contain', border: { width: 1, color: '#D6DCE5' } }} /&gt;&#13;&#10;                &lt;Text style={{ fontSize: 17, fontWeight: 'bold', color: '#1E4FA8', fontFamily: '微软雅黑' }}&gt;趋势问题&lt;/Text&gt;&#13;&#10;                &lt;Text style={{ fontSize: 15, color: '#8B97A8', fontFamily: '微软雅黑' }}&gt;横轴为时间且行数大于 3，选折线并写明依据&lt;/Text&gt;&#13;&#10;            &lt;/Box&gt;&#13;&#10;            &lt;Box style={{ flex: 1, flexDirection: 'column', gap: 6 }}&gt;&#13;&#10;                &lt;Image src='assets/03_followup_check.png' style={{ width: '100%', height: 200, objectFit: 'contain', border: { width: 1, color: '#D6DCE5' } }} /&gt;&#13;&#10;                &lt;Text style={{ fontSize: 17, fontWeight: 'bold', color: '#1E4FA8', fontFamily: '微软雅黑' }}&gt;多轮追问&lt;/Text&gt;&#13;&#10;                &lt;Text style={{ fontSize: 15, color: '#8B97A8', fontFamily: '微软雅黑' }}&gt;「那上个月呢」被改写为完整问句，并校验结论数字&lt;/Text&gt;&#13;&#10;            &lt;/Box&gt;&#13;&#10;        &lt;/Box&gt;&#13;&#10;&#13;&#10;        {/* 第二行 */}&#13;&#10;        &lt;Box style={{ flexDirection: 'row', gap: 14 }}&gt;&#13;&#10;            &lt;Box style={{ flex: 1, flexDirection: 'column', gap: 6 }}&gt;&#13;&#10;                &lt;Image src='assets/04_guard_block.png' style={{ width: '100%', height: 200, objectFit: 'contain', border: { width: 1, color: '#D6DCE5' } }} /&gt;&#13;&#10;                &lt;Text style={{ fontSize: 17, fontWeight: 'bold', color: '#1E4FA8', fontFamily: '微软雅黑' }}&gt;越权请求&lt;/Text&gt;&#13;&#10;                &lt;Text style={{ fontSize: 15, color: '#8B97A8', fontFamily: '微软雅黑' }}&gt;「清理一批无效订单」被挡回，全程只走两个阶段&lt;/Text&gt;&#13;&#10;            &lt;/Box&gt;&#13;&#10;            &lt;Box style={{ flex: 1, flexDirection: 'column', gap: 6 }}&gt;&#13;&#10;                &lt;Image src='assets/05_sql_panel.png' style={{ width: '100%', height: 200, objectFit: 'contain', border: { width: 1, color: '#D6DCE5' } }} /&gt;&#13;&#10;                &lt;Text style={{ fontSize: 17, fontWeight: 'bold', color: '#1E4FA8', fontFamily: '微软雅黑' }}&gt;技术细节&lt;/Text&gt;&#13;&#10;                &lt;Text style={{ fontSize: 15, color: '#8B97A8', fontFamily: '微软雅黑' }}&gt;执行的 SQL、阶段时序、问题槽位与安全沙箱告警&lt;/Text&gt;&#13;&#10;            &lt;/Box&gt;&#13;&#10;            &lt;Box style={{ flex: 1, flexDirection: 'column', gap: 6 }}&gt;&#13;&#10;                &lt;Image src='assets/06_metric_miss.png' style={{ width: '100%', height: 200, objectFit: 'contain', border: { width: 1, color: '#D6DCE5' } }} /&gt;&#13;&#10;                &lt;Text style={{ fontSize: 17, fontWeight: 'bold', color: '#1E4FA8', fontFamily: '微软雅黑' }}&gt;边界提示&lt;/Text&gt;&#13;&#10;                &lt;Text style={{ fontSize: 15, color: '#8B97A8', fontFamily: '微软雅黑' }}&gt;未命中已登记指标时挂出提示，不静默照常回答&lt;/Text&gt;&#13;&#10;            &lt;/Box&gt;&#13;&#10;        &lt;/Box&gt;&#13;&#10;&#13;&#10;        &lt;Text style={{ fontSize: 14, color: '#8B97A8', fontFamily: '微软雅黑' }}&gt;&#13;&#10;            六张截图均于 2026-09-29 在本机采集，模型为 qwen-plus（LLM_MOCK=false），未做任何界面修饰。&#13;&#10;        &lt;/Text&gt;&#13;&#10;    &lt;/Box&gt;&#13;&#10;&#13;&#10;    {/* D 页脚 */}&#13;&#10;    &lt;Box style={{ width: '100%', height: 40, flexDirection: 'row', alignItems: 'center', justifyContent: 'space-between', padding: '0 40px' }}&gt;&#13;&#10;        &lt;Text style={{ fontSize: 14, color: '#8B97A8', fontFamily: '微软雅黑' }}&gt;Text2SQL 电商数据分析 Agent&lt;/Text&gt;&#13;&#10;        &lt;Text style={{ fontSize: 15, color: '#1E4FA8', fontFamily: 'Times New Roman' }}&gt;14 / 16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矩形 14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48" name="矩形 147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149" name="矩形 148"/>
          <p:cNvSpPr/>
          <p:nvPr/>
        </p:nvSpPr>
        <p:spPr>
          <a:xfrm>
            <a:off x="381000" y="228600"/>
            <a:ext cx="47625" cy="247650"/>
          </a:xfrm>
          <a:prstGeom prst="rect">
            <a:avLst/>
          </a:prstGeom>
          <a:solidFill>
            <a:srgbClr val="3D7BD9"/>
          </a:solidFill>
        </p:spPr>
        <p:txBody>
          <a:bodyPr/>
          <a:p/>
        </p:txBody>
      </p:sp>
      <p:sp>
        <p:nvSpPr>
          <p:cNvPr id="150" name="文本框 149" descr="{&quot;isTemplate&quot;:true,&quot;type&quot;:&quot;text&quot;}"/>
          <p:cNvSpPr txBox="1"/>
          <p:nvPr/>
        </p:nvSpPr>
        <p:spPr>
          <a:xfrm>
            <a:off x="561975" y="161925"/>
            <a:ext cx="18288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真实运行演示</a:t>
            </a:r>
            <a:endParaRPr lang="zh-CN"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1" name="文本框 150" descr="{&quot;isTemplate&quot;:true,&quot;type&quot;:&quot;text&quot;}"/>
          <p:cNvSpPr txBox="1"/>
          <p:nvPr/>
        </p:nvSpPr>
        <p:spPr>
          <a:xfrm>
            <a:off x="11096625" y="257175"/>
            <a:ext cx="7143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验证与演示</a:t>
            </a:r>
            <a:endParaRPr lang="zh-CN" sz="1125">
              <a:solidFill>
                <a:srgbClr val="FFFFFF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" name="矩形 151"/>
          <p:cNvSpPr/>
          <p:nvPr>
            <p:custDataLst>
              <p:tags r:id="rId1"/>
            </p:custDataLst>
          </p:nvPr>
        </p:nvSpPr>
        <p:spPr>
          <a:xfrm>
            <a:off x="381000" y="857250"/>
            <a:ext cx="3724275" cy="19050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153" name="图片 15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9079" b="9079"/>
          <a:stretch>
            <a:fillRect/>
          </a:stretch>
        </p:blipFill>
        <p:spPr>
          <a:xfrm>
            <a:off x="381000" y="857250"/>
            <a:ext cx="3724275" cy="1905000"/>
          </a:xfrm>
          <a:prstGeom prst="rect">
            <a:avLst/>
          </a:prstGeom>
        </p:spPr>
      </p:pic>
      <p:sp>
        <p:nvSpPr>
          <p:cNvPr id="154" name="文本框 153" descr="{&quot;isTemplate&quot;:true,&quot;type&quot;:&quot;text&quot;}"/>
          <p:cNvSpPr txBox="1"/>
          <p:nvPr>
            <p:custDataLst>
              <p:tags r:id="rId4"/>
            </p:custDataLst>
          </p:nvPr>
        </p:nvSpPr>
        <p:spPr>
          <a:xfrm>
            <a:off x="381000" y="2819400"/>
            <a:ext cx="37242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基础链路</a:t>
            </a:r>
            <a:endParaRPr lang="zh-CN" sz="127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" name="文本框 154" descr="{&quot;isTemplate&quot;:true,&quot;type&quot;:&quot;text&quot;}"/>
          <p:cNvSpPr txBox="1"/>
          <p:nvPr>
            <p:custDataLst>
              <p:tags r:id="rId5"/>
            </p:custDataLst>
          </p:nvPr>
        </p:nvSpPr>
        <p:spPr>
          <a:xfrm>
            <a:off x="381000" y="3076575"/>
            <a:ext cx="37242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结论、时效标注、异常标记、图表与结果表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" name="矩形 155"/>
          <p:cNvSpPr/>
          <p:nvPr>
            <p:custDataLst>
              <p:tags r:id="rId6"/>
            </p:custDataLst>
          </p:nvPr>
        </p:nvSpPr>
        <p:spPr>
          <a:xfrm>
            <a:off x="4238625" y="857250"/>
            <a:ext cx="3714750" cy="19050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157" name="图片 15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t="8974" b="8974"/>
          <a:stretch>
            <a:fillRect/>
          </a:stretch>
        </p:blipFill>
        <p:spPr>
          <a:xfrm>
            <a:off x="4238625" y="857250"/>
            <a:ext cx="3714750" cy="1905000"/>
          </a:xfrm>
          <a:prstGeom prst="rect">
            <a:avLst/>
          </a:prstGeom>
        </p:spPr>
      </p:pic>
      <p:sp>
        <p:nvSpPr>
          <p:cNvPr id="158" name="文本框 157" descr="{&quot;isTemplate&quot;:true,&quot;type&quot;:&quot;text&quot;}"/>
          <p:cNvSpPr txBox="1"/>
          <p:nvPr>
            <p:custDataLst>
              <p:tags r:id="rId9"/>
            </p:custDataLst>
          </p:nvPr>
        </p:nvSpPr>
        <p:spPr>
          <a:xfrm>
            <a:off x="4238625" y="2819400"/>
            <a:ext cx="37147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趋势问题</a:t>
            </a:r>
            <a:endParaRPr lang="zh-CN" sz="127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" name="文本框 158" descr="{&quot;isTemplate&quot;:true,&quot;type&quot;:&quot;text&quot;}"/>
          <p:cNvSpPr txBox="1"/>
          <p:nvPr>
            <p:custDataLst>
              <p:tags r:id="rId10"/>
            </p:custDataLst>
          </p:nvPr>
        </p:nvSpPr>
        <p:spPr>
          <a:xfrm>
            <a:off x="4238625" y="3076575"/>
            <a:ext cx="3714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横轴为时间且行数大于</a:t>
            </a: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3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，选折线并写明依据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0" name="矩形 159"/>
          <p:cNvSpPr/>
          <p:nvPr>
            <p:custDataLst>
              <p:tags r:id="rId11"/>
            </p:custDataLst>
          </p:nvPr>
        </p:nvSpPr>
        <p:spPr>
          <a:xfrm>
            <a:off x="8086725" y="857250"/>
            <a:ext cx="3724275" cy="19050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161" name="图片 160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rcRect t="9079" b="9079"/>
          <a:stretch>
            <a:fillRect/>
          </a:stretch>
        </p:blipFill>
        <p:spPr>
          <a:xfrm>
            <a:off x="8086725" y="857250"/>
            <a:ext cx="3724275" cy="1905000"/>
          </a:xfrm>
          <a:prstGeom prst="rect">
            <a:avLst/>
          </a:prstGeom>
        </p:spPr>
      </p:pic>
      <p:sp>
        <p:nvSpPr>
          <p:cNvPr id="162" name="文本框 161" descr="{&quot;isTemplate&quot;:true,&quot;type&quot;:&quot;text&quot;}"/>
          <p:cNvSpPr txBox="1"/>
          <p:nvPr>
            <p:custDataLst>
              <p:tags r:id="rId14"/>
            </p:custDataLst>
          </p:nvPr>
        </p:nvSpPr>
        <p:spPr>
          <a:xfrm>
            <a:off x="8086725" y="2819400"/>
            <a:ext cx="37242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多轮追问</a:t>
            </a:r>
            <a:endParaRPr lang="zh-CN" sz="127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3" name="文本框 162" descr="{&quot;isTemplate&quot;:true,&quot;type&quot;:&quot;text&quot;}"/>
          <p:cNvSpPr txBox="1"/>
          <p:nvPr>
            <p:custDataLst>
              <p:tags r:id="rId15"/>
            </p:custDataLst>
          </p:nvPr>
        </p:nvSpPr>
        <p:spPr>
          <a:xfrm>
            <a:off x="8086725" y="3076575"/>
            <a:ext cx="37242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「那上个月呢」被改写为完整问句，并校验结论数字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4" name="矩形 163"/>
          <p:cNvSpPr/>
          <p:nvPr>
            <p:custDataLst>
              <p:tags r:id="rId16"/>
            </p:custDataLst>
          </p:nvPr>
        </p:nvSpPr>
        <p:spPr>
          <a:xfrm>
            <a:off x="381000" y="3362325"/>
            <a:ext cx="3724275" cy="19050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165" name="图片 164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rcRect t="9079" b="9079"/>
          <a:stretch>
            <a:fillRect/>
          </a:stretch>
        </p:blipFill>
        <p:spPr>
          <a:xfrm>
            <a:off x="381000" y="3362325"/>
            <a:ext cx="3724275" cy="1905000"/>
          </a:xfrm>
          <a:prstGeom prst="rect">
            <a:avLst/>
          </a:prstGeom>
        </p:spPr>
      </p:pic>
      <p:sp>
        <p:nvSpPr>
          <p:cNvPr id="166" name="文本框 165" descr="{&quot;isTemplate&quot;:true,&quot;type&quot;:&quot;text&quot;}"/>
          <p:cNvSpPr txBox="1"/>
          <p:nvPr>
            <p:custDataLst>
              <p:tags r:id="rId19"/>
            </p:custDataLst>
          </p:nvPr>
        </p:nvSpPr>
        <p:spPr>
          <a:xfrm>
            <a:off x="381000" y="5324475"/>
            <a:ext cx="37242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越权请求</a:t>
            </a:r>
            <a:endParaRPr lang="zh-CN" sz="127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7" name="文本框 166" descr="{&quot;isTemplate&quot;:true,&quot;type&quot;:&quot;text&quot;}"/>
          <p:cNvSpPr txBox="1"/>
          <p:nvPr>
            <p:custDataLst>
              <p:tags r:id="rId20"/>
            </p:custDataLst>
          </p:nvPr>
        </p:nvSpPr>
        <p:spPr>
          <a:xfrm>
            <a:off x="381000" y="5581650"/>
            <a:ext cx="37242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「清理一批无效订单」被挡回，全程只走两个阶段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8" name="矩形 167"/>
          <p:cNvSpPr/>
          <p:nvPr>
            <p:custDataLst>
              <p:tags r:id="rId21"/>
            </p:custDataLst>
          </p:nvPr>
        </p:nvSpPr>
        <p:spPr>
          <a:xfrm>
            <a:off x="4238625" y="3362325"/>
            <a:ext cx="3714750" cy="19050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169" name="图片 168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/>
          <a:srcRect t="8974" b="8974"/>
          <a:stretch>
            <a:fillRect/>
          </a:stretch>
        </p:blipFill>
        <p:spPr>
          <a:xfrm>
            <a:off x="4238625" y="3362325"/>
            <a:ext cx="3714750" cy="1905000"/>
          </a:xfrm>
          <a:prstGeom prst="rect">
            <a:avLst/>
          </a:prstGeom>
        </p:spPr>
      </p:pic>
      <p:sp>
        <p:nvSpPr>
          <p:cNvPr id="170" name="文本框 169" descr="{&quot;isTemplate&quot;:true,&quot;type&quot;:&quot;text&quot;}"/>
          <p:cNvSpPr txBox="1"/>
          <p:nvPr>
            <p:custDataLst>
              <p:tags r:id="rId24"/>
            </p:custDataLst>
          </p:nvPr>
        </p:nvSpPr>
        <p:spPr>
          <a:xfrm>
            <a:off x="4238625" y="5324475"/>
            <a:ext cx="37147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技术细节</a:t>
            </a:r>
            <a:endParaRPr lang="zh-CN" sz="127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" name="文本框 170" descr="{&quot;isTemplate&quot;:true,&quot;type&quot;:&quot;text&quot;}"/>
          <p:cNvSpPr txBox="1"/>
          <p:nvPr>
            <p:custDataLst>
              <p:tags r:id="rId25"/>
            </p:custDataLst>
          </p:nvPr>
        </p:nvSpPr>
        <p:spPr>
          <a:xfrm>
            <a:off x="4238625" y="5581650"/>
            <a:ext cx="3714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执行的</a:t>
            </a: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SQL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、阶段时序、问题槽位与安全沙箱告警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2" name="矩形 171"/>
          <p:cNvSpPr/>
          <p:nvPr>
            <p:custDataLst>
              <p:tags r:id="rId26"/>
            </p:custDataLst>
          </p:nvPr>
        </p:nvSpPr>
        <p:spPr>
          <a:xfrm>
            <a:off x="8086725" y="3362325"/>
            <a:ext cx="3724275" cy="19050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173" name="图片 172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/>
          <a:srcRect t="9079" b="9079"/>
          <a:stretch>
            <a:fillRect/>
          </a:stretch>
        </p:blipFill>
        <p:spPr>
          <a:xfrm>
            <a:off x="8086725" y="3362325"/>
            <a:ext cx="3724275" cy="1905000"/>
          </a:xfrm>
          <a:prstGeom prst="rect">
            <a:avLst/>
          </a:prstGeom>
        </p:spPr>
      </p:pic>
      <p:sp>
        <p:nvSpPr>
          <p:cNvPr id="174" name="文本框 173" descr="{&quot;isTemplate&quot;:true,&quot;type&quot;:&quot;text&quot;}"/>
          <p:cNvSpPr txBox="1"/>
          <p:nvPr>
            <p:custDataLst>
              <p:tags r:id="rId29"/>
            </p:custDataLst>
          </p:nvPr>
        </p:nvSpPr>
        <p:spPr>
          <a:xfrm>
            <a:off x="8086725" y="5324475"/>
            <a:ext cx="37242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边界提示</a:t>
            </a:r>
            <a:endParaRPr lang="zh-CN" sz="127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5" name="文本框 174" descr="{&quot;isTemplate&quot;:true,&quot;type&quot;:&quot;text&quot;}"/>
          <p:cNvSpPr txBox="1"/>
          <p:nvPr>
            <p:custDataLst>
              <p:tags r:id="rId30"/>
            </p:custDataLst>
          </p:nvPr>
        </p:nvSpPr>
        <p:spPr>
          <a:xfrm>
            <a:off x="8086725" y="5581650"/>
            <a:ext cx="37242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未命中已登记指标时挂出提示，不静默照常回答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381000" y="5867400"/>
            <a:ext cx="11430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六张截图均于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2026-09-29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在本机采集，模型为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qwen-plus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LLM_MOCK=false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），未做任何界面修饰。</a:t>
            </a:r>
            <a:endParaRPr lang="zh-CN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381000" y="6591300"/>
            <a:ext cx="17811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Text2SQL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电商数据分析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Agent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11410950" y="6581775"/>
            <a:ext cx="4000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Times New Roman" panose="02020603050405020304"/>
                <a:ea typeface="Times New Roman" panose="02020603050405020304"/>
              </a:rPr>
              <a:t>14 / 16</a:t>
            </a:r>
            <a:endParaRPr lang="en-US" sz="1125">
              <a:solidFill>
                <a:srgbClr val="1E4FA8"/>
              </a:solidFill>
              <a:latin typeface="Times New Roman" panose="02020603050405020304"/>
              <a:ea typeface="Times New Roman" panose="020206030504050203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9" name="" descr="&lt;Slide style={{ background: '#FFFFFF', padding: 0, flexDirection: 'column' }}&gt;&#13;&#10;    {/* A3 页眉 */}&#13;&#10;    &lt;Box style={{&#13;&#10;        width: '100%', height: 72, background: '#0E3F8C',&#13;&#10;        flexDirection: 'row', alignItems: 'center', justifyContent: 'space-between',&#13;&#10;        padding: '0 40px',&#13;&#10;    }}&gt;&#13;&#10;        &lt;Box style={{ flexDirection: 'row', alignItems: 'center', gap: 14 }}&gt;&#13;&#10;            &lt;Box style={{ width: 5, height: 26, background: '#3D7BD9' }} /&gt;&#13;&#10;            &lt;Text style={{ fontSize: 32, fontWeight: 'bold', color: '#FFFFFF', fontFamily: '微软雅黑' }}&gt;&#13;&#10;                评测结果，两套口径&#13;&#10;            &lt;/Text&gt;&#13;&#10;        &lt;/Box&gt;&#13;&#10;        &lt;Text style={{ fontSize: 15, color: 'rgba(255,255,255,0.7)', fontFamily: '微软雅黑' }}&gt;&#13;&#10;            验证与演示&#13;&#10;        &lt;/Text&gt;&#13;&#10;    &lt;/Box&gt;&#13;&#10;&#13;&#10;    &lt;Box style={{ flex: 1, flexDirection: 'column', padding: '16px 40px 0 40px', gap: 10 }}&gt;&#13;&#10;        &lt;Text style={{ fontSize: 20, color: '#4A5568', fontFamily: '微软雅黑' }}&gt;&#13;&#10;            评测分两套跑。桩模式验链路是否完整，真实模型验端到端是否可用。两组数字不混用，也不互相替代。&#13;&#10;        &lt;/Text&gt;&#13;&#10;&#13;&#10;        &lt;Box style={{ flexDirection: 'row', gap: 18, alignItems: 'flex-start' }}&gt;&#13;&#10;            {/* 左：十二组表格 */}&#13;&#10;            &lt;Box style={{ flex: 1.15, flexDirection: 'column' }}&gt;&#13;&#10;                &lt;Box style={{ flexDirection: 'row', alignItems: 'center', height: 34, background: '#0E3F8C', padding: '0 12px' }}&gt;&#13;&#10;                    &lt;Text style={{ width: 186, fontSize: 16, fontWeight: 'bold', color: '#FFFFFF', fontFamily: '微软雅黑' }}&gt;评测组&lt;/Text&gt;&#13;&#10;                    &lt;Text style={{ flex: 1, fontSize: 16, fontWeight: 'bold', color: '#FFFFFF', fontFamily: '微软雅黑', textAlign: 'center' }}&gt;用例&lt;/Text&gt;&#13;&#10;                    &lt;Text style={{ flex: 1, fontSize: 16, fontWeight: 'bold', color: '#FFFFFF', fontFamily: '微软雅黑', textAlign: 'center' }}&gt;通过&lt;/Text&gt;&#13;&#10;                    &lt;Text style={{ flex: 1, fontSize: 16, fontWeight: 'bold', color: '#FFFFFF', fontFamily: '微软雅黑', textAlign: 'center' }}&gt;跳过&lt;/Text&gt;&#13;&#10;                &lt;/Box&gt;&#13;&#10;                &lt;Box style={{ flexDirection: 'row', alignItems: 'center', height: 28, border: { bottom: { width: 1, color: '#E5E7EB' } }, padding: '0 12px' }}&gt;&#13;&#10;                    &lt;Text style={{ width: 186, fontSize: 15, color: '#1A2230', fontFamily: '微软雅黑' }}&gt;召回命中 recall&lt;/Text&gt;&#13;&#10;                    &lt;Text style={{ flex: 1, fontSize: 15, color: '#4A5568', fontFamily: '微软雅黑', textAlign: 'center' }}&gt;45&lt;/Text&gt;&#13;&#10;                    &lt;Text style={{ flex: 1, fontSize: 15, fontWeight: 'bold', color: '#1E4FA8', fontFamily: '微软雅黑', textAlign: 'center' }}&gt;45&lt;/Text&gt;&#13;&#10;                    &lt;Text style={{ flex: 1, fontSize: 15, color: '#8B97A8', fontFamily: '微软雅黑', textAlign: 'center' }}&gt;0&lt;/Text&gt;&#13;&#10;                &lt;/Box&gt;&#13;&#10;                &lt;Box style={{ flexDirection: 'row', alignItems: 'center', height: 28, background: '#F7F9FC', border: { bottom: { width: 1, color: '#E5E7EB' } }, padding: '0 12px' }}&gt;&#13;&#10;                    &lt;Text style={{ width: 186, fontSize: 15, color: '#1A2230', fontFamily: '微软雅黑' }}&gt;主链路 pipeline&lt;/Text&gt;&#13;&#10;                    &lt;Text style={{ flex: 1, fontSize: 15, color: '#4A5568', fontFamily: '微软雅黑', textAlign: 'center' }}&gt;10&lt;/Text&gt;&#13;&#10;                    &lt;Text style={{ flex: 1, fontSize: 15, fontWeight: 'bold', color: '#1E4FA8', fontFamily: '微软雅黑', textAlign: 'center' }}&gt;9&lt;/Text&gt;&#13;&#10;                    &lt;Text style={{ flex: 1, fontSize: 15, color: '#8B97A8', fontFamily: '微软雅黑', textAlign: 'center' }}&gt;1&lt;/Text&gt;&#13;&#10;                &lt;/Box&gt;&#13;&#10;                &lt;Box style={{ flexDirection: 'row', alignItems: 'center', height: 28, border: { bottom: { width: 1, color: '#E5E7EB' } }, padding: '0 12px' }}&gt;&#13;&#10;                    &lt;Text style={{ width: 186, fontSize: 15, color: '#1A2230', fontFamily: '微软雅黑' }}&gt;安全沙箱 safety&lt;/Text&gt;&#13;&#10;                    &lt;Text style={{ flex: 1, fontSize: 15, color: '#4A5568', fontFamily: '微软雅黑', textAlign: 'center' }}&gt;8&lt;/Text&gt;&#13;&#10;                    &lt;Text style={{ flex: 1, fontSize: 15, fontWeight: 'bold', color: '#1E4FA8', fontFamily: '微软雅黑', textAlign: 'center' }}&gt;8&lt;/Text&gt;&#13;&#10;                    &lt;Text style={{ flex: 1, fontSize: 15, color: '#8B97A8', fontFamily: '微软雅黑', textAlign: 'center' }}&gt;0&lt;/Text&gt;&#13;&#10;                &lt;/Box&gt;&#13;&#10;                &lt;Box style={{ flexDirection: 'row', alignItems: 'center', height: 28, background: '#F7F9FC', border: { bottom: { width: 1, color: '#E5E7EB' } }, padding: '0 12px' }}&gt;&#13;&#10;                    &lt;Text style={{ width: 186, fontSize: 15, color: '#1A2230', fontFamily: '微软雅黑' }}&gt;数据血缘 datalineage&lt;/Text&gt;&#13;&#10;                    &lt;Text style={{ flex: 1, fontSize: 15, color: '#4A5568', fontFamily: '微软雅黑', textAlign: 'center' }}&gt;5&lt;/Text&gt;&#13;&#10;                    &lt;Text style={{ flex: 1, fontSize: 15, fontWeight: 'bold', color: '#1E4FA8', fontFamily: '微软雅黑', textAlign: 'center' }}&gt;5&lt;/Text&gt;&#13;&#10;                    &lt;Text style={{ flex: 1, fontSize: 15, color: '#8B97A8', fontFamily: '微软雅黑', textAlign: 'center' }}&gt;0&lt;/Text&gt;&#13;&#10;                &lt;/Box&gt;&#13;&#10;                &lt;Box style={{ flexDirection: 'row', alignItems: 'center', height: 28, border: { bottom: { width: 1, color: '#E5E7EB' } }, padding: '0 12px' }}&gt;&#13;&#10;                    &lt;Text style={{ width: 186, fontSize: 15, color: '#1A2230', fontFamily: '微软雅黑' }}&gt;对比基准 baseline&lt;/Text&gt;&#13;&#10;                    &lt;Text style={{ flex: 1, fontSize: 15, color: '#4A5568', fontFamily: '微软雅黑', textAlign: 'center' }}&gt;6&lt;/Text&gt;&#13;&#10;                    &lt;Text style={{ flex: 1, fontSize: 15, fontWeight: 'bold', color: '#1E4FA8', fontFamily: '微软雅黑', textAlign: 'center' }}&gt;6&lt;/Text&gt;&#13;&#10;                    &lt;Text style={{ flex: 1, fontSize: 15, color: '#8B97A8', fontFamily: '微软雅黑', textAlign: 'center' }}&gt;0&lt;/Text&gt;&#13;&#10;                &lt;/Box&gt;&#13;&#10;                &lt;Box style={{ flexDirection: 'row', alignItems: 'center', height: 28, background: '#F7F9FC', border: { bottom: { width: 1, color: '#E5E7EB' } }, padding: '0 12px' }}&gt;&#13;&#10;                    &lt;Text style={{ width: 186, fontSize: 15, color: '#1A2230', fontFamily: '微软雅黑' }}&gt;下钻 drilldown&lt;/Text&gt;&#13;&#10;                    &lt;Text style={{ flex: 1, fontSize: 15, color: '#4A5568', fontFamily: '微软雅黑', textAlign: 'center' }}&gt;7&lt;/Text&gt;&#13;&#10;                    &lt;Text style={{ flex: 1, fontSize: 15, fontWeight: 'bold', color: '#1E4FA8', fontFamily: '微软雅黑', textAlign: 'center' }}&gt;7&lt;/Text&gt;&#13;&#10;                    &lt;Text style={{ flex: 1, fontSize: 15, color: '#8B97A8', fontFamily: '微软雅黑', textAlign: 'center' }}&gt;0&lt;/Text&gt;&#13;&#10;                &lt;/Box&gt;&#13;&#10;                &lt;Box style={{ flexDirection: 'row', alignItems: 'center', height: 28, border: { bottom: { width: 1, color: '#E5E7EB' } }, padding: '0 12px' }}&gt;&#13;&#10;                    &lt;Text style={{ width: 186, fontSize: 15, color: '#1A2230', fontFamily: '微软雅黑' }}&gt;健壮性 robust&lt;/Text&gt;&#13;&#10;                    &lt;Text style={{ flex: 1, fontSize: 15, color: '#4A5568', fontFamily: '微软雅黑', textAlign: 'center' }}&gt;2&lt;/Text&gt;&#13;&#10;                    &lt;Text style={{ flex: 1, fontSize: 15, fontWeight: 'bold', color: '#1E4FA8', fontFamily: '微软雅黑', textAlign: 'center' }}&gt;2&lt;/Text&gt;&#13;&#10;                    &lt;Text style={{ flex: 1, fontSize: 15, color: '#8B97A8', fontFamily: '微软雅黑', textAlign: 'center' }}&gt;0&lt;/Text&gt;&#13;&#10;                &lt;/Box&gt;&#13;&#10;                &lt;Box style={{ flexDirection: 'row', alignItems: 'center', height: 28, background: '#F7F9FC', border: { bottom: { width: 1, color: '#E5E7EB' } }, padding: '0 12px' }}&gt;&#13;&#10;                    &lt;Text style={{ width: 186, fontSize: 15, color: '#1A2230', fontFamily: '微软雅黑' }}&gt;告警订阅 alert&lt;/Text&gt;&#13;&#10;                    &lt;Text style={{ flex: 1, fontSize: 15, color: '#4A5568', fontFamily: '微软雅黑', textAlign: 'center' }}&gt;4&lt;/Text&gt;&#13;&#10;                    &lt;Text style={{ flex: 1, fontSize: 15, fontWeight: 'bold', color: '#1E4FA8', fontFamily: '微软雅黑', textAlign: 'center' }}&gt;4&lt;/Text&gt;&#13;&#10;                    &lt;Text style={{ flex: 1, fontSize: 15, color: '#8B97A8', fontFamily: '微软雅黑', textAlign: 'center' }}&gt;0&lt;/Text&gt;&#13;&#10;                &lt;/Box&gt;&#13;&#10;                &lt;Box style={{ flexDirection: 'row', alignItems: 'center', height: 28, border: { bottom: { width: 1, color: '#E5E7EB' } }, padding: '0 12px' }}&gt;&#13;&#10;                    &lt;Text style={{ width: 186, fontSize: 15, color: '#1A2230', fontFamily: '微软雅黑' }}&gt;多轮追问 multiturn&lt;/Text&gt;&#13;&#10;                    &lt;Text style={{ flex: 1, fontSize: 15, color: '#4A5568', fontFamily: '微软雅黑', textAlign: 'center' }}&gt;6&lt;/Text&gt;&#13;&#10;                    &lt;Text style={{ flex: 1, fontSize: 15, fontWeight: 'bold', color: '#1E4FA8', fontFamily: '微软雅黑', textAlign: 'center' }}&gt;5&lt;/Text&gt;&#13;&#10;                    &lt;Text style={{ flex: 1, fontSize: 15, color: '#8B97A8', fontFamily: '微软雅黑', textAlign: 'center' }}&gt;1&lt;/Text&gt;&#13;&#10;                &lt;/Box&gt;&#13;&#10;                &lt;Box style={{ flexDirection: 'row', alignItems: 'center', height: 28, background: '#F7F9FC', border: { bottom: { width: 1, color: '#E5E7EB' } }, padding: '0 12px' }}&gt;&#13;&#10;                    &lt;Text style={{ width: 186, fontSize: 15, color: '#1A2230', fontFamily: '微软雅黑' }}&gt;进阶语法 advanced&lt;/Text&gt;&#13;&#10;                    &lt;Text style={{ flex: 1, fontSize: 15, color: '#4A5568', fontFamily: '微软雅黑', textAlign: 'center' }}&gt;3&lt;/Text&gt;&#13;&#10;                    &lt;Text style={{ flex: 1, fontSize: 15, color: '#8B97A8', fontFamily: '微软雅黑', textAlign: 'center' }}&gt;0&lt;/Text&gt;&#13;&#10;                    &lt;Text style={{ flex: 1, fontSize: 15, color: '#8B97A8', fontFamily: '微软雅黑', textAlign: 'center' }}&gt;3&lt;/Text&gt;&#13;&#10;                &lt;/Box&gt;&#13;&#10;                &lt;Box style={{ flexDirection: 'row', alignItems: 'center', height: 28, border: { bottom: { width: 1, color: '#E5E7EB' } }, padding: '0 12px' }}&gt;&#13;&#10;                    &lt;Text style={{ width: 186, fontSize: 15, color: '#1A2230', fontFamily: '微软雅黑' }}&gt;域外拒答 outofscope&lt;/Text&gt;&#13;&#10;                    &lt;Text style={{ flex: 1, fontSize: 15, color: '#4A5568', fontFamily: '微软雅黑', textAlign: 'center' }}&gt;8&lt;/Text&gt;&#13;&#10;                    &lt;Text style={{ flex: 1, fontSize: 15, fontWeight: 'bold', color: '#1E4FA8', fontFamily: '微软雅黑', textAlign: 'center' }}&gt;8&lt;/Text&gt;&#13;&#10;                    &lt;Text style={{ flex: 1, fontSize: 15, color: '#8B97A8', fontFamily: '微软雅黑', textAlign: 'center' }}&gt;0&lt;/Text&gt;&#13;&#10;                &lt;/Box&gt;&#13;&#10;                &lt;Box style={{ flexDirection: 'row', alignItems: 'center', height: 28, background: '#F7F9FC', border: { bottom: { width: 1, color: '#E5E7EB' } }, padding: '0 12px' }}&gt;&#13;&#10;                    &lt;Text style={{ width: 186, fontSize: 15, color: '#1A2230', fontFamily: '微软雅黑' }}&gt;槽位覆盖 slotcoverage&lt;/Text&gt;&#13;&#10;                    &lt;Text style={{ flex: 1, fontSize: 15, color: '#4A5568', fontFamily: '微软雅黑', textAlign: 'center' }}&gt;4&lt;/Text&gt;&#13;&#10;                    &lt;Text style={{ flex: 1, fontSize: 15, fontWeight: 'bold', color: '#1E4FA8', fontFamily: '微软雅黑', textAlign: 'center' }}&gt;4&lt;/Text&gt;&#13;&#10;                    &lt;Text style={{ flex: 1, fontSize: 15, color: '#8B97A8', fontFamily: '微软雅黑', textAlign: 'center' }}&gt;0&lt;/Text&gt;&#13;&#10;                &lt;/Box&gt;&#13;&#10;                &lt;Box style={{ flexDirection: 'row', alignItems: 'center', height: 30, background: '#0E3F8C', padding: '0 12px' }}&gt;&#13;&#10;                    &lt;Text style={{ width: 186, fontSize: 15, fontWeight: 'bold', color: '#FFFFFF', fontFamily: '微软雅黑' }}&gt;合计&lt;/Text&gt;&#13;&#10;                    &lt;Text style={{ flex: 1, fontSize: 15, fontWeight: 'bold', color: '#FFFFFF', fontFamily: '微软雅黑', textAlign: 'center' }}&gt;108&lt;/Text&gt;&#13;&#10;                    &lt;Text style={{ flex: 1, fontSize: 15, fontWeight: 'bold', color: '#FFFFFF', fontFamily: '微软雅黑', textAlign: 'center' }}&gt;103&lt;/Text&gt;&#13;&#10;                    &lt;Text style={{ flex: 1, fontSize: 15, fontWeight: 'bold', color: '#FFFFFF', fontFamily: '微软雅黑', textAlign: 'center' }}&gt;5&lt;/Text&gt;&#13;&#10;                &lt;/Box&gt;&#13;&#10;            &lt;/Box&gt;&#13;&#10;&#13;&#10;            {/* 右：两套口径 + 性能 */}&#13;&#10;            &lt;Box style={{ flex: 1, flexDirection: 'column', gap: 11 }}&gt;&#13;&#10;                &lt;Box style={{ background: '#E8EFF8', padding: '12px 16px', flexDirection: 'column', gap: 4 }}&gt;&#13;&#10;                    &lt;Text style={{ fontSize: 19, fontWeight: 'bold', color: '#0E3F8C', fontFamily: '微软雅黑' }}&gt;&#13;&#10;                        桩模式　十二组 108 条，未通过 0 条&#13;&#10;                    &lt;/Text&gt;&#13;&#10;                    &lt;Text style={{ fontSize: 16, color: '#4A5568', fontFamily: '微软雅黑', lineHeight: 1.5 }}&gt;&#13;&#10;                        验证链路完整性：节点是否都走到、断言是否都能过。它不证明模型能力，advanced 组因桩实现不支持而整体跳过。&#13;&#10;                    &lt;/Text&gt;&#13;&#10;                &lt;/Box&gt;&#13;&#10;                &lt;Box style={{ background: '#F7F9FC', border: { left: { width: 4, color: '#1E4FA8' } }, padding: '12px 16px', flexDirection: 'column', gap: 4 }}&gt;&#13;&#10;                    &lt;Text style={{ fontSize: 19, fontWeight: 'bold', color: '#0E3F8C', fontFamily: '微软雅黑' }}&gt;&#13;&#10;                        真实模型　主链路 8 / 10&#13;&#10;                    &lt;/Text&gt;&#13;&#10;                    &lt;Text style={{ fontSize: 16, color: '#4A5568', fontFamily: '微软雅黑', lineHeight: 1.5 }}&gt;&#13;&#10;                        qwen-plus 端到端跑通，两条失败为口径漂移。这一组的断言覆盖正是随后补入口径签名校验的直接起因。&#13;&#10;                    &lt;/Text&gt;&#13;&#10;                &lt;/Box&gt;&#13;&#10;                &lt;Box style={{ background: '#F7F9FC', border: { left: { width: 4, color: '#3D7BD9' } }, padding: '12px 16px', flexDirection: 'column', gap: 4 }}&gt;&#13;&#10;                    &lt;Text style={{ fontSize: 19, fontWeight: 'bold', color: '#0E3F8C', fontFamily: '微软雅黑' }}&gt;单元测试与查询延迟&lt;/Text&gt;&#13;&#10;                    &lt;Text style={{ fontSize: 16, color: '#4A5568', fontFamily: '微软雅黑', lineHeight: 1.5 }}&gt;&#13;&#10;                        pytest 544 条通过，2026-09-29 本机实跑。单轮 SQL 延迟 p50 8.7 毫秒、p95 19.0 毫秒，36 次采样。&#13;&#10;                    &lt;/Text&gt;&#13;&#10;                &lt;/Box&gt;&#13;&#10;            &lt;/Box&gt;&#13;&#10;        &lt;/Box&gt;&#13;&#10;&#13;&#10;        &lt;Text style={{ fontSize: 14, color: '#8B97A8', fontFamily: '微软雅黑' }}&gt;&#13;&#10;            桩模式数据取自 backend/eval/report.json（2026-09-29 11:11，LLM_MOCK=true）；真实模型数据取自 report-real-2026-09-22.json。跳过 5 条中，3 条为 advanced 组桩实现不支持，2 条依赖真实模型。&#13;&#10;        &lt;/Text&gt;&#13;&#10;    &lt;/Box&gt;&#13;&#10;&#13;&#10;    {/* D 页脚 */}&#13;&#10;    &lt;Box style={{ width: '100%', height: 40, flexDirection: 'row', alignItems: 'center', justifyContent: 'space-between', padding: '0 40px' }}&gt;&#13;&#10;        &lt;Text style={{ fontSize: 14, color: '#8B97A8', fontFamily: '微软雅黑' }}&gt;Text2SQL 电商数据分析 Agent&lt;/Text&gt;&#13;&#10;        &lt;Text style={{ fontSize: 15, color: '#1E4FA8', fontFamily: 'Times New Roman' }}&gt;15 / 16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81" name="矩形 18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182" name="矩形 181"/>
          <p:cNvSpPr/>
          <p:nvPr/>
        </p:nvSpPr>
        <p:spPr>
          <a:xfrm>
            <a:off x="381000" y="228600"/>
            <a:ext cx="47625" cy="247650"/>
          </a:xfrm>
          <a:prstGeom prst="rect">
            <a:avLst/>
          </a:prstGeom>
          <a:solidFill>
            <a:srgbClr val="3D7BD9"/>
          </a:solidFill>
        </p:spPr>
        <p:txBody>
          <a:bodyPr/>
          <a:p/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561975" y="161925"/>
            <a:ext cx="27432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评测结果，两套口径</a:t>
            </a:r>
            <a:endParaRPr lang="zh-CN"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" name="文本框 183" descr="{&quot;isTemplate&quot;:true,&quot;type&quot;:&quot;text&quot;}"/>
          <p:cNvSpPr txBox="1"/>
          <p:nvPr/>
        </p:nvSpPr>
        <p:spPr>
          <a:xfrm>
            <a:off x="11096625" y="257175"/>
            <a:ext cx="7143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验证与演示</a:t>
            </a:r>
            <a:endParaRPr lang="zh-CN" sz="1125">
              <a:solidFill>
                <a:srgbClr val="FFFFFF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381000" y="838200"/>
            <a:ext cx="11430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评测分两套跑。桩模式验链路是否完整，真实模型验端到端是否可用。两组数字不混用，也不互相替代。</a:t>
            </a:r>
            <a:endParaRPr lang="zh-CN" sz="15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6" name="矩形 185"/>
          <p:cNvSpPr/>
          <p:nvPr/>
        </p:nvSpPr>
        <p:spPr>
          <a:xfrm>
            <a:off x="381000" y="1162050"/>
            <a:ext cx="6019800" cy="32385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187" name="文本框 186" descr="{&quot;isTemplate&quot;:true,&quot;type&quot;:&quot;text&quot;}"/>
          <p:cNvSpPr txBox="1"/>
          <p:nvPr/>
        </p:nvSpPr>
        <p:spPr>
          <a:xfrm>
            <a:off x="495300" y="1228725"/>
            <a:ext cx="17716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评测组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8" name="文本框 187" descr="{&quot;isTemplate&quot;:true,&quot;type&quot;:&quot;text&quot;}"/>
          <p:cNvSpPr txBox="1"/>
          <p:nvPr/>
        </p:nvSpPr>
        <p:spPr>
          <a:xfrm>
            <a:off x="2266950" y="1228725"/>
            <a:ext cx="1343025" cy="19050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用例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9" name="文本框 188" descr="{&quot;isTemplate&quot;:true,&quot;type&quot;:&quot;text&quot;}"/>
          <p:cNvSpPr txBox="1"/>
          <p:nvPr/>
        </p:nvSpPr>
        <p:spPr>
          <a:xfrm>
            <a:off x="3609975" y="1228725"/>
            <a:ext cx="1333500" cy="19050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通过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4943475" y="1228725"/>
            <a:ext cx="1343025" cy="19050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跳过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1" name="文本框 190" descr="{&quot;isTemplate&quot;:true,&quot;type&quot;:&quot;text&quot;}"/>
          <p:cNvSpPr txBox="1"/>
          <p:nvPr/>
        </p:nvSpPr>
        <p:spPr>
          <a:xfrm>
            <a:off x="495300" y="1533525"/>
            <a:ext cx="17716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召回命中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recall</a:t>
            </a:r>
            <a:endParaRPr lang="en-US" sz="11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" name="文本框 191" descr="{&quot;isTemplate&quot;:true,&quot;type&quot;:&quot;text&quot;}"/>
          <p:cNvSpPr txBox="1"/>
          <p:nvPr/>
        </p:nvSpPr>
        <p:spPr>
          <a:xfrm>
            <a:off x="2266950" y="1533525"/>
            <a:ext cx="1343025" cy="171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45</a:t>
            </a:r>
            <a:endParaRPr lang="en-US" sz="11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3" name="文本框 192" descr="{&quot;isTemplate&quot;:true,&quot;type&quot;:&quot;text&quot;}"/>
          <p:cNvSpPr txBox="1"/>
          <p:nvPr/>
        </p:nvSpPr>
        <p:spPr>
          <a:xfrm>
            <a:off x="3609975" y="1533525"/>
            <a:ext cx="1333500" cy="171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45</a:t>
            </a:r>
            <a:endParaRPr lang="en-US" sz="112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" name="文本框 193" descr="{&quot;isTemplate&quot;:true,&quot;type&quot;:&quot;text&quot;}"/>
          <p:cNvSpPr txBox="1"/>
          <p:nvPr/>
        </p:nvSpPr>
        <p:spPr>
          <a:xfrm>
            <a:off x="4943475" y="1533525"/>
            <a:ext cx="1343025" cy="171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5" name="矩形 194"/>
          <p:cNvSpPr/>
          <p:nvPr/>
        </p:nvSpPr>
        <p:spPr>
          <a:xfrm>
            <a:off x="381000" y="1752600"/>
            <a:ext cx="6019800" cy="26670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196" name="文本框 195" descr="{&quot;isTemplate&quot;:true,&quot;type&quot;:&quot;text&quot;}"/>
          <p:cNvSpPr txBox="1"/>
          <p:nvPr/>
        </p:nvSpPr>
        <p:spPr>
          <a:xfrm>
            <a:off x="495300" y="1800225"/>
            <a:ext cx="17716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主链路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pipeline</a:t>
            </a:r>
            <a:endParaRPr lang="en-US" sz="11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7" name="文本框 196" descr="{&quot;isTemplate&quot;:true,&quot;type&quot;:&quot;text&quot;}"/>
          <p:cNvSpPr txBox="1"/>
          <p:nvPr/>
        </p:nvSpPr>
        <p:spPr>
          <a:xfrm>
            <a:off x="2266950" y="1800225"/>
            <a:ext cx="1343025" cy="171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lang="en-US" sz="11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8" name="文本框 197" descr="{&quot;isTemplate&quot;:true,&quot;type&quot;:&quot;text&quot;}"/>
          <p:cNvSpPr txBox="1"/>
          <p:nvPr/>
        </p:nvSpPr>
        <p:spPr>
          <a:xfrm>
            <a:off x="3609975" y="1800225"/>
            <a:ext cx="1333500" cy="171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 lang="en-US" sz="112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9" name="文本框 198" descr="{&quot;isTemplate&quot;:true,&quot;type&quot;:&quot;text&quot;}"/>
          <p:cNvSpPr txBox="1"/>
          <p:nvPr/>
        </p:nvSpPr>
        <p:spPr>
          <a:xfrm>
            <a:off x="4943475" y="1800225"/>
            <a:ext cx="1343025" cy="171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495300" y="2066925"/>
            <a:ext cx="17716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安全沙箱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safety</a:t>
            </a:r>
            <a:endParaRPr lang="en-US" sz="11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1" name="文本框 200" descr="{&quot;isTemplate&quot;:true,&quot;type&quot;:&quot;text&quot;}"/>
          <p:cNvSpPr txBox="1"/>
          <p:nvPr/>
        </p:nvSpPr>
        <p:spPr>
          <a:xfrm>
            <a:off x="2266950" y="2066925"/>
            <a:ext cx="1343025" cy="171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lang="en-US" sz="11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2" name="文本框 201" descr="{&quot;isTemplate&quot;:true,&quot;type&quot;:&quot;text&quot;}"/>
          <p:cNvSpPr txBox="1"/>
          <p:nvPr/>
        </p:nvSpPr>
        <p:spPr>
          <a:xfrm>
            <a:off x="3609975" y="2066925"/>
            <a:ext cx="1333500" cy="171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lang="en-US" sz="112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3" name="文本框 202" descr="{&quot;isTemplate&quot;:true,&quot;type&quot;:&quot;text&quot;}"/>
          <p:cNvSpPr txBox="1"/>
          <p:nvPr/>
        </p:nvSpPr>
        <p:spPr>
          <a:xfrm>
            <a:off x="4943475" y="2066925"/>
            <a:ext cx="1343025" cy="171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4" name="矩形 203"/>
          <p:cNvSpPr/>
          <p:nvPr/>
        </p:nvSpPr>
        <p:spPr>
          <a:xfrm>
            <a:off x="381000" y="2286000"/>
            <a:ext cx="6019800" cy="26670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205" name="文本框 204" descr="{&quot;isTemplate&quot;:true,&quot;type&quot;:&quot;text&quot;}"/>
          <p:cNvSpPr txBox="1"/>
          <p:nvPr/>
        </p:nvSpPr>
        <p:spPr>
          <a:xfrm>
            <a:off x="495300" y="2333625"/>
            <a:ext cx="17716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数据血缘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datalineage</a:t>
            </a:r>
            <a:endParaRPr lang="en-US" sz="11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6" name="文本框 205" descr="{&quot;isTemplate&quot;:true,&quot;type&quot;:&quot;text&quot;}"/>
          <p:cNvSpPr txBox="1"/>
          <p:nvPr/>
        </p:nvSpPr>
        <p:spPr>
          <a:xfrm>
            <a:off x="2266950" y="2333625"/>
            <a:ext cx="1343025" cy="171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sz="11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" name="文本框 206" descr="{&quot;isTemplate&quot;:true,&quot;type&quot;:&quot;text&quot;}"/>
          <p:cNvSpPr txBox="1"/>
          <p:nvPr/>
        </p:nvSpPr>
        <p:spPr>
          <a:xfrm>
            <a:off x="3609975" y="2333625"/>
            <a:ext cx="1333500" cy="171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sz="112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8" name="文本框 207" descr="{&quot;isTemplate&quot;:true,&quot;type&quot;:&quot;text&quot;}"/>
          <p:cNvSpPr txBox="1"/>
          <p:nvPr/>
        </p:nvSpPr>
        <p:spPr>
          <a:xfrm>
            <a:off x="4943475" y="2333625"/>
            <a:ext cx="1343025" cy="171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9" name="文本框 208" descr="{&quot;isTemplate&quot;:true,&quot;type&quot;:&quot;text&quot;}"/>
          <p:cNvSpPr txBox="1"/>
          <p:nvPr/>
        </p:nvSpPr>
        <p:spPr>
          <a:xfrm>
            <a:off x="495300" y="2600325"/>
            <a:ext cx="17716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对比基准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baseline</a:t>
            </a:r>
            <a:endParaRPr lang="en-US" sz="11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0" name="文本框 209" descr="{&quot;isTemplate&quot;:true,&quot;type&quot;:&quot;text&quot;}"/>
          <p:cNvSpPr txBox="1"/>
          <p:nvPr/>
        </p:nvSpPr>
        <p:spPr>
          <a:xfrm>
            <a:off x="2266950" y="2600325"/>
            <a:ext cx="1343025" cy="171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sz="11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1" name="文本框 210" descr="{&quot;isTemplate&quot;:true,&quot;type&quot;:&quot;text&quot;}"/>
          <p:cNvSpPr txBox="1"/>
          <p:nvPr/>
        </p:nvSpPr>
        <p:spPr>
          <a:xfrm>
            <a:off x="3609975" y="2600325"/>
            <a:ext cx="1333500" cy="171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sz="112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2" name="文本框 211" descr="{&quot;isTemplate&quot;:true,&quot;type&quot;:&quot;text&quot;}"/>
          <p:cNvSpPr txBox="1"/>
          <p:nvPr/>
        </p:nvSpPr>
        <p:spPr>
          <a:xfrm>
            <a:off x="4943475" y="2600325"/>
            <a:ext cx="1343025" cy="171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3" name="矩形 212"/>
          <p:cNvSpPr/>
          <p:nvPr/>
        </p:nvSpPr>
        <p:spPr>
          <a:xfrm>
            <a:off x="381000" y="2819400"/>
            <a:ext cx="6019800" cy="26670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495300" y="2867025"/>
            <a:ext cx="17716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下钻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drilldown</a:t>
            </a:r>
            <a:endParaRPr lang="en-US" sz="11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" name="文本框 214" descr="{&quot;isTemplate&quot;:true,&quot;type&quot;:&quot;text&quot;}"/>
          <p:cNvSpPr txBox="1"/>
          <p:nvPr/>
        </p:nvSpPr>
        <p:spPr>
          <a:xfrm>
            <a:off x="2266950" y="2867025"/>
            <a:ext cx="1343025" cy="171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sz="11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6" name="文本框 215" descr="{&quot;isTemplate&quot;:true,&quot;type&quot;:&quot;text&quot;}"/>
          <p:cNvSpPr txBox="1"/>
          <p:nvPr/>
        </p:nvSpPr>
        <p:spPr>
          <a:xfrm>
            <a:off x="3609975" y="2867025"/>
            <a:ext cx="1333500" cy="171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sz="112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7" name="文本框 216" descr="{&quot;isTemplate&quot;:true,&quot;type&quot;:&quot;text&quot;}"/>
          <p:cNvSpPr txBox="1"/>
          <p:nvPr/>
        </p:nvSpPr>
        <p:spPr>
          <a:xfrm>
            <a:off x="4943475" y="2867025"/>
            <a:ext cx="1343025" cy="171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8" name="文本框 217" descr="{&quot;isTemplate&quot;:true,&quot;type&quot;:&quot;text&quot;}"/>
          <p:cNvSpPr txBox="1"/>
          <p:nvPr/>
        </p:nvSpPr>
        <p:spPr>
          <a:xfrm>
            <a:off x="495300" y="3133725"/>
            <a:ext cx="17716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健壮性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robust</a:t>
            </a:r>
            <a:endParaRPr lang="en-US" sz="11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9" name="文本框 218" descr="{&quot;isTemplate&quot;:true,&quot;type&quot;:&quot;text&quot;}"/>
          <p:cNvSpPr txBox="1"/>
          <p:nvPr/>
        </p:nvSpPr>
        <p:spPr>
          <a:xfrm>
            <a:off x="2266950" y="3133725"/>
            <a:ext cx="1343025" cy="171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11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3609975" y="3133725"/>
            <a:ext cx="1333500" cy="171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112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1" name="文本框 220" descr="{&quot;isTemplate&quot;:true,&quot;type&quot;:&quot;text&quot;}"/>
          <p:cNvSpPr txBox="1"/>
          <p:nvPr/>
        </p:nvSpPr>
        <p:spPr>
          <a:xfrm>
            <a:off x="4943475" y="3133725"/>
            <a:ext cx="1343025" cy="171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2" name="矩形 221"/>
          <p:cNvSpPr/>
          <p:nvPr/>
        </p:nvSpPr>
        <p:spPr>
          <a:xfrm>
            <a:off x="381000" y="3352800"/>
            <a:ext cx="6019800" cy="26670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223" name="文本框 222" descr="{&quot;isTemplate&quot;:true,&quot;type&quot;:&quot;text&quot;}"/>
          <p:cNvSpPr txBox="1"/>
          <p:nvPr/>
        </p:nvSpPr>
        <p:spPr>
          <a:xfrm>
            <a:off x="495300" y="3400425"/>
            <a:ext cx="17716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告警订阅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alert</a:t>
            </a:r>
            <a:endParaRPr lang="en-US" sz="11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2266950" y="3400425"/>
            <a:ext cx="1343025" cy="171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11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" name="文本框 224" descr="{&quot;isTemplate&quot;:true,&quot;type&quot;:&quot;text&quot;}"/>
          <p:cNvSpPr txBox="1"/>
          <p:nvPr/>
        </p:nvSpPr>
        <p:spPr>
          <a:xfrm>
            <a:off x="3609975" y="3400425"/>
            <a:ext cx="1333500" cy="171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112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6" name="文本框 225" descr="{&quot;isTemplate&quot;:true,&quot;type&quot;:&quot;text&quot;}"/>
          <p:cNvSpPr txBox="1"/>
          <p:nvPr/>
        </p:nvSpPr>
        <p:spPr>
          <a:xfrm>
            <a:off x="4943475" y="3400425"/>
            <a:ext cx="1343025" cy="171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7" name="文本框 226" descr="{&quot;isTemplate&quot;:true,&quot;type&quot;:&quot;text&quot;}"/>
          <p:cNvSpPr txBox="1"/>
          <p:nvPr/>
        </p:nvSpPr>
        <p:spPr>
          <a:xfrm>
            <a:off x="495300" y="3667125"/>
            <a:ext cx="17716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多轮追问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multiturn</a:t>
            </a:r>
            <a:endParaRPr lang="en-US" sz="11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8" name="文本框 227" descr="{&quot;isTemplate&quot;:true,&quot;type&quot;:&quot;text&quot;}"/>
          <p:cNvSpPr txBox="1"/>
          <p:nvPr/>
        </p:nvSpPr>
        <p:spPr>
          <a:xfrm>
            <a:off x="2266950" y="3667125"/>
            <a:ext cx="1343025" cy="171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sz="11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9" name="文本框 228" descr="{&quot;isTemplate&quot;:true,&quot;type&quot;:&quot;text&quot;}"/>
          <p:cNvSpPr txBox="1"/>
          <p:nvPr/>
        </p:nvSpPr>
        <p:spPr>
          <a:xfrm>
            <a:off x="3609975" y="3667125"/>
            <a:ext cx="1333500" cy="171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sz="112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4943475" y="3667125"/>
            <a:ext cx="1343025" cy="171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1" name="矩形 230"/>
          <p:cNvSpPr/>
          <p:nvPr/>
        </p:nvSpPr>
        <p:spPr>
          <a:xfrm>
            <a:off x="381000" y="3886200"/>
            <a:ext cx="6019800" cy="26670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232" name="文本框 231" descr="{&quot;isTemplate&quot;:true,&quot;type&quot;:&quot;text&quot;}"/>
          <p:cNvSpPr txBox="1"/>
          <p:nvPr/>
        </p:nvSpPr>
        <p:spPr>
          <a:xfrm>
            <a:off x="495300" y="3933825"/>
            <a:ext cx="17716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进阶语法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advanced</a:t>
            </a:r>
            <a:endParaRPr lang="en-US" sz="11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3" name="文本框 232" descr="{&quot;isTemplate&quot;:true,&quot;type&quot;:&quot;text&quot;}"/>
          <p:cNvSpPr txBox="1"/>
          <p:nvPr/>
        </p:nvSpPr>
        <p:spPr>
          <a:xfrm>
            <a:off x="2266950" y="3933825"/>
            <a:ext cx="1343025" cy="171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11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4" name="文本框 233" descr="{&quot;isTemplate&quot;:true,&quot;type&quot;:&quot;text&quot;}"/>
          <p:cNvSpPr txBox="1"/>
          <p:nvPr/>
        </p:nvSpPr>
        <p:spPr>
          <a:xfrm>
            <a:off x="3609975" y="3933825"/>
            <a:ext cx="1333500" cy="171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" name="文本框 234" descr="{&quot;isTemplate&quot;:true,&quot;type&quot;:&quot;text&quot;}"/>
          <p:cNvSpPr txBox="1"/>
          <p:nvPr/>
        </p:nvSpPr>
        <p:spPr>
          <a:xfrm>
            <a:off x="4943475" y="3933825"/>
            <a:ext cx="1343025" cy="171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6" name="文本框 235" descr="{&quot;isTemplate&quot;:true,&quot;type&quot;:&quot;text&quot;}"/>
          <p:cNvSpPr txBox="1"/>
          <p:nvPr/>
        </p:nvSpPr>
        <p:spPr>
          <a:xfrm>
            <a:off x="495300" y="4200525"/>
            <a:ext cx="17716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域外拒答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outofscope</a:t>
            </a:r>
            <a:endParaRPr lang="en-US" sz="11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" name="文本框 236" descr="{&quot;isTemplate&quot;:true,&quot;type&quot;:&quot;text&quot;}"/>
          <p:cNvSpPr txBox="1"/>
          <p:nvPr/>
        </p:nvSpPr>
        <p:spPr>
          <a:xfrm>
            <a:off x="2266950" y="4200525"/>
            <a:ext cx="1343025" cy="171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lang="en-US" sz="11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8" name="文本框 237" descr="{&quot;isTemplate&quot;:true,&quot;type&quot;:&quot;text&quot;}"/>
          <p:cNvSpPr txBox="1"/>
          <p:nvPr/>
        </p:nvSpPr>
        <p:spPr>
          <a:xfrm>
            <a:off x="3609975" y="4200525"/>
            <a:ext cx="1333500" cy="171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lang="en-US" sz="112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9" name="文本框 238" descr="{&quot;isTemplate&quot;:true,&quot;type&quot;:&quot;text&quot;}"/>
          <p:cNvSpPr txBox="1"/>
          <p:nvPr/>
        </p:nvSpPr>
        <p:spPr>
          <a:xfrm>
            <a:off x="4943475" y="4200525"/>
            <a:ext cx="1343025" cy="171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0" name="矩形 239"/>
          <p:cNvSpPr/>
          <p:nvPr/>
        </p:nvSpPr>
        <p:spPr>
          <a:xfrm>
            <a:off x="381000" y="4419600"/>
            <a:ext cx="6019800" cy="26670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241" name="文本框 240" descr="{&quot;isTemplate&quot;:true,&quot;type&quot;:&quot;text&quot;}"/>
          <p:cNvSpPr txBox="1"/>
          <p:nvPr/>
        </p:nvSpPr>
        <p:spPr>
          <a:xfrm>
            <a:off x="495300" y="4467225"/>
            <a:ext cx="17716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槽位覆盖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slotcoverage</a:t>
            </a:r>
            <a:endParaRPr lang="en-US" sz="11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2" name="文本框 241" descr="{&quot;isTemplate&quot;:true,&quot;type&quot;:&quot;text&quot;}"/>
          <p:cNvSpPr txBox="1"/>
          <p:nvPr/>
        </p:nvSpPr>
        <p:spPr>
          <a:xfrm>
            <a:off x="2266950" y="4467225"/>
            <a:ext cx="1343025" cy="171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11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3" name="文本框 242" descr="{&quot;isTemplate&quot;:true,&quot;type&quot;:&quot;text&quot;}"/>
          <p:cNvSpPr txBox="1"/>
          <p:nvPr/>
        </p:nvSpPr>
        <p:spPr>
          <a:xfrm>
            <a:off x="3609975" y="4467225"/>
            <a:ext cx="1333500" cy="171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112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4" name="文本框 243" descr="{&quot;isTemplate&quot;:true,&quot;type&quot;:&quot;text&quot;}"/>
          <p:cNvSpPr txBox="1"/>
          <p:nvPr/>
        </p:nvSpPr>
        <p:spPr>
          <a:xfrm>
            <a:off x="4943475" y="4467225"/>
            <a:ext cx="1343025" cy="171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5" name="矩形 244"/>
          <p:cNvSpPr/>
          <p:nvPr/>
        </p:nvSpPr>
        <p:spPr>
          <a:xfrm>
            <a:off x="381000" y="4686300"/>
            <a:ext cx="6019800" cy="28575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246" name="文本框 245" descr="{&quot;isTemplate&quot;:true,&quot;type&quot;:&quot;text&quot;}"/>
          <p:cNvSpPr txBox="1"/>
          <p:nvPr/>
        </p:nvSpPr>
        <p:spPr>
          <a:xfrm>
            <a:off x="495300" y="4743450"/>
            <a:ext cx="17716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合计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7" name="文本框 246" descr="{&quot;isTemplate&quot;:true,&quot;type&quot;:&quot;text&quot;}"/>
          <p:cNvSpPr txBox="1"/>
          <p:nvPr/>
        </p:nvSpPr>
        <p:spPr>
          <a:xfrm>
            <a:off x="2266950" y="4743450"/>
            <a:ext cx="1343025" cy="171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108</a:t>
            </a:r>
            <a:endParaRPr lang="en-US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8" name="文本框 247" descr="{&quot;isTemplate&quot;:true,&quot;type&quot;:&quot;text&quot;}"/>
          <p:cNvSpPr txBox="1"/>
          <p:nvPr/>
        </p:nvSpPr>
        <p:spPr>
          <a:xfrm>
            <a:off x="3609975" y="4743450"/>
            <a:ext cx="1333500" cy="171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103</a:t>
            </a:r>
            <a:endParaRPr lang="en-US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9" name="文本框 248" descr="{&quot;isTemplate&quot;:true,&quot;type&quot;:&quot;text&quot;}"/>
          <p:cNvSpPr txBox="1"/>
          <p:nvPr/>
        </p:nvSpPr>
        <p:spPr>
          <a:xfrm>
            <a:off x="4943475" y="4743450"/>
            <a:ext cx="1343025" cy="171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0" name="矩形 249"/>
          <p:cNvSpPr/>
          <p:nvPr/>
        </p:nvSpPr>
        <p:spPr>
          <a:xfrm>
            <a:off x="6572250" y="1162050"/>
            <a:ext cx="5238750" cy="1038225"/>
          </a:xfrm>
          <a:prstGeom prst="rect">
            <a:avLst/>
          </a:prstGeom>
          <a:solidFill>
            <a:srgbClr val="E8EFF8"/>
          </a:solidFill>
        </p:spPr>
        <p:txBody>
          <a:bodyPr/>
          <a:p/>
        </p:txBody>
      </p:sp>
      <p:sp>
        <p:nvSpPr>
          <p:cNvPr id="251" name="文本框 250" descr="{&quot;isTemplate&quot;:true,&quot;type&quot;:&quot;text&quot;}"/>
          <p:cNvSpPr txBox="1"/>
          <p:nvPr/>
        </p:nvSpPr>
        <p:spPr>
          <a:xfrm>
            <a:off x="6724650" y="1276350"/>
            <a:ext cx="49339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桩模式　十二组</a:t>
            </a:r>
            <a:r>
              <a:rPr lang="en-US" sz="14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108 </a:t>
            </a:r>
            <a:r>
              <a:rPr lang="zh-CN" sz="14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条，未通过</a:t>
            </a:r>
            <a:r>
              <a:rPr lang="en-US" sz="14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0 </a:t>
            </a:r>
            <a:r>
              <a:rPr lang="zh-CN" sz="14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条</a:t>
            </a:r>
            <a:endParaRPr lang="zh-CN" sz="142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2" name="文本框 251" descr="{&quot;isTemplate&quot;:true,&quot;type&quot;:&quot;text&quot;}"/>
          <p:cNvSpPr txBox="1"/>
          <p:nvPr/>
        </p:nvSpPr>
        <p:spPr>
          <a:xfrm>
            <a:off x="6724650" y="1533525"/>
            <a:ext cx="49339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验证链路完整性：节点是否都走到、断言是否都能过。它不证明模型能力，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advanced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组因桩实现不支持而整体跳过。</a:t>
            </a:r>
            <a:endParaRPr lang="zh-CN"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3" name="矩形 252"/>
          <p:cNvSpPr/>
          <p:nvPr/>
        </p:nvSpPr>
        <p:spPr>
          <a:xfrm>
            <a:off x="6572250" y="2305050"/>
            <a:ext cx="5238750" cy="1038225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254" name="文本框 253" descr="{&quot;isTemplate&quot;:true,&quot;type&quot;:&quot;text&quot;}"/>
          <p:cNvSpPr txBox="1"/>
          <p:nvPr/>
        </p:nvSpPr>
        <p:spPr>
          <a:xfrm>
            <a:off x="6724650" y="2419350"/>
            <a:ext cx="49339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真实模型　主链路</a:t>
            </a:r>
            <a:r>
              <a:rPr lang="en-US" sz="14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8 / 10</a:t>
            </a:r>
            <a:endParaRPr lang="en-US" sz="142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5" name="文本框 254" descr="{&quot;isTemplate&quot;:true,&quot;type&quot;:&quot;text&quot;}"/>
          <p:cNvSpPr txBox="1"/>
          <p:nvPr/>
        </p:nvSpPr>
        <p:spPr>
          <a:xfrm>
            <a:off x="6724650" y="2676525"/>
            <a:ext cx="49339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qwen-plus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端到端跑通，两条失败为口径漂移。这一组的断言覆盖正是随后补入口径签名校验的直接起因。</a:t>
            </a:r>
            <a:endParaRPr lang="zh-CN"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6" name="矩形 255"/>
          <p:cNvSpPr/>
          <p:nvPr/>
        </p:nvSpPr>
        <p:spPr>
          <a:xfrm>
            <a:off x="6572250" y="3448050"/>
            <a:ext cx="5238750" cy="1038225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257" name="文本框 256" descr="{&quot;isTemplate&quot;:true,&quot;type&quot;:&quot;text&quot;}"/>
          <p:cNvSpPr txBox="1"/>
          <p:nvPr/>
        </p:nvSpPr>
        <p:spPr>
          <a:xfrm>
            <a:off x="6724650" y="3562350"/>
            <a:ext cx="49339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单元测试与查询延迟</a:t>
            </a:r>
            <a:endParaRPr lang="zh-CN" sz="142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8" name="文本框 257" descr="{&quot;isTemplate&quot;:true,&quot;type&quot;:&quot;text&quot;}"/>
          <p:cNvSpPr txBox="1"/>
          <p:nvPr/>
        </p:nvSpPr>
        <p:spPr>
          <a:xfrm>
            <a:off x="6724650" y="3819525"/>
            <a:ext cx="49339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pytest 544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条通过，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2026-09-29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本机实跑。单轮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SQL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延迟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p50 8.7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毫秒、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p95 19.0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毫秒，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36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次采样。</a:t>
            </a:r>
            <a:endParaRPr lang="zh-CN"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9" name="文本框 258" descr="{&quot;isTemplate&quot;:true,&quot;type&quot;:&quot;text&quot;}"/>
          <p:cNvSpPr txBox="1"/>
          <p:nvPr/>
        </p:nvSpPr>
        <p:spPr>
          <a:xfrm>
            <a:off x="381000" y="5067300"/>
            <a:ext cx="11430000" cy="323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桩模式数据取自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backend/eval/report.json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2026-09-29 11:11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LLM_MOCK=true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）；真实模型数据取自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report-real-2026-09-22.json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。跳过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5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条中，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3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条为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advanced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组桩实现不支持，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2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条依赖真实模型。</a:t>
            </a:r>
            <a:endParaRPr lang="zh-CN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0" name="文本框 259" descr="{&quot;isTemplate&quot;:true,&quot;type&quot;:&quot;text&quot;}"/>
          <p:cNvSpPr txBox="1"/>
          <p:nvPr/>
        </p:nvSpPr>
        <p:spPr>
          <a:xfrm>
            <a:off x="381000" y="6591300"/>
            <a:ext cx="17811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Text2SQL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电商数据分析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Agent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1" name="文本框 260" descr="{&quot;isTemplate&quot;:true,&quot;type&quot;:&quot;text&quot;}"/>
          <p:cNvSpPr txBox="1"/>
          <p:nvPr/>
        </p:nvSpPr>
        <p:spPr>
          <a:xfrm>
            <a:off x="11410950" y="6581775"/>
            <a:ext cx="4000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Times New Roman" panose="02020603050405020304"/>
                <a:ea typeface="Times New Roman" panose="02020603050405020304"/>
              </a:rPr>
              <a:t>15 / 16</a:t>
            </a:r>
            <a:endParaRPr lang="en-US" sz="1125">
              <a:solidFill>
                <a:srgbClr val="1E4FA8"/>
              </a:solidFill>
              <a:latin typeface="Times New Roman" panose="02020603050405020304"/>
              <a:ea typeface="Times New Roman" panose="020206030504050203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2" name="" descr="&lt;Slide style={{ background: '#FFFFFF', padding: 0, flexDirection: 'column' }}&gt;&#13;&#10;    {/* A3 页眉 */}&#13;&#10;    &lt;Box style={{&#13;&#10;        width: '100%', height: 72, background: '#0E3F8C',&#13;&#10;        flexDirection: 'row', alignItems: 'center', justifyContent: 'space-between',&#13;&#10;        padding: '0 40px',&#13;&#10;    }}&gt;&#13;&#10;        &lt;Box style={{ flexDirection: 'row', alignItems: 'center', gap: 14 }}&gt;&#13;&#10;            &lt;Box style={{ width: 5, height: 26, background: '#3D7BD9' }} /&gt;&#13;&#10;            &lt;Text style={{ fontSize: 32, fontWeight: 'bold', color: '#FFFFFF', fontFamily: '微软雅黑' }}&gt;&#13;&#10;                做了什么，下一步做什么&#13;&#10;            &lt;/Text&gt;&#13;&#10;        &lt;/Box&gt;&#13;&#10;        &lt;Text style={{ fontSize: 15, color: 'rgba(255,255,255,0.7)', fontFamily: '微软雅黑' }}&gt;&#13;&#10;            总结与展望&#13;&#10;        &lt;/Text&gt;&#13;&#10;    &lt;/Box&gt;&#13;&#10;&#13;&#10;    &lt;Box style={{ flex: 1, flexDirection: 'column', padding: '20px 40px 0 40px', gap: 14 }}&gt;&#13;&#10;        &lt;Box style={{ flexDirection: 'row', gap: 16, alignItems: 'flex-start' }}&gt;&#13;&#10;            {/* 已实现 */}&#13;&#10;            &lt;Box style={{ flex: 1, background: '#F0F5FC', border: { top: { width: 4, color: '#1E4FA8' } }, flexDirection: 'column', padding: 18, gap: 12 }}&gt;&#13;&#10;                &lt;Text style={{ fontSize: 24, fontWeight: 'bold', color: '#0E3F8C', fontFamily: '微软雅黑' }}&gt;已实现&lt;/Text&gt;&#13;&#10;                &lt;Box style={{ flexDirection: 'column', gap: 9 }}&gt;&#13;&#10;                    &lt;Box style={{ flexDirection: 'column', gap: 2 }}&gt;&#13;&#10;                        &lt;Text style={{ fontSize: 19, fontWeight: 'bold', color: '#1E4FA8', fontFamily: '微软雅黑' }}&gt;口径集中配置&lt;/Text&gt;&#13;&#10;                        &lt;Text style={{ fontSize: 17, color: '#4A5568', fontFamily: '微软雅黑', lineHeight: 1.45 }}&gt;七个指标的表达式、必带过滤与边界说明写入语义层&lt;/Text&gt;&#13;&#10;                    &lt;/Box&gt;&#13;&#10;                    &lt;Box style={{ flexDirection: 'column', gap: 2 }}&gt;&#13;&#10;                        &lt;Text style={{ fontSize: 19, fontWeight: 'bold', color: '#1E4FA8', fontFamily: '微软雅黑' }}&gt;状态机编排&lt;/Text&gt;&#13;&#10;                        &lt;Text style={{ fontSize: 17, color: '#4A5568', fontFamily: '微软雅黑', lineHeight: 1.45 }}&gt;十四个节点，含重试回环与六条终态出口&lt;/Text&gt;&#13;&#10;                    &lt;/Box&gt;&#13;&#10;                    &lt;Box style={{ flexDirection: 'column', gap: 2 }}&gt;&#13;&#10;                        &lt;Text style={{ fontSize: 19, fontWeight: 'bold', color: '#1E4FA8', fontFamily: '微软雅黑' }}&gt;双层校验&lt;/Text&gt;&#13;&#10;                        &lt;Text style={{ fontSize: 17, color: '#4A5568', fontFamily: '微软雅黑', lineHeight: 1.45 }}&gt;九条守卫管语句安全，口径签名管算的是不是那个量&lt;/Text&gt;&#13;&#10;                    &lt;/Box&gt;&#13;&#10;                    &lt;Box style={{ flexDirection: 'column', gap: 2 }}&gt;&#13;&#10;                        &lt;Text style={{ fontSize: 19, fontWeight: 'bold', color: '#1E4FA8', fontFamily: '微软雅黑' }}&gt;可信与测试&lt;/Text&gt;&#13;&#10;                        &lt;Text style={{ fontSize: 17, color: '#4A5568', fontFamily: '微软雅黑', lineHeight: 1.45 }}&gt;审计留痕、数字回溯，544 条测试覆盖九条规则&lt;/Text&gt;&#13;&#10;                    &lt;/Box&gt;&#13;&#10;                &lt;/Box&gt;&#13;&#10;            &lt;/Box&gt;&#13;&#10;&#13;&#10;            {/* 明确不做 */}&#13;&#10;            &lt;Box style={{ flex: 1, background: '#F7F9FC', border: { top: { width: 4, color: '#8B97A8' } }, flexDirection: 'column', padding: 18, gap: 12 }}&gt;&#13;&#10;                &lt;Text style={{ fontSize: 24, fontWeight: 'bold', color: '#0E3F8C', fontFamily: '微软雅黑' }}&gt;明确不做&lt;/Text&gt;&#13;&#10;                &lt;Box style={{ flexDirection: 'column', gap: 9 }}&gt;&#13;&#10;                    &lt;Box style={{ flexDirection: 'column', gap: 2 }}&gt;&#13;&#10;                        &lt;Text style={{ fontSize: 19, fontWeight: 'bold', color: '#4A5568', fontFamily: '微软雅黑' }}&gt;用户体系&lt;/Text&gt;&#13;&#10;                        &lt;Text style={{ fontSize: 17, color: '#4A5568', fontFamily: '微软雅黑', lineHeight: 1.45 }}&gt;不做注册鉴权，单机演示环境，审计只到会话粒度&lt;/Text&gt;&#13;&#10;                    &lt;/Box&gt;&#13;&#10;                    &lt;Box style={{ flexDirection: 'column', gap: 2 }}&gt;&#13;&#10;                        &lt;Text style={{ fontSize: 19, fontWeight: 'bold', color: '#4A5568', fontFamily: '微软雅黑' }}&gt;多租户&lt;/Text&gt;&#13;&#10;                        &lt;Text style={{ fontSize: 17, color: '#4A5568', fontFamily: '微软雅黑', lineHeight: 1.45 }}&gt;不做租户隔离，也不做读写分离&lt;/Text&gt;&#13;&#10;                    &lt;/Box&gt;&#13;&#10;                    &lt;Box style={{ flexDirection: 'column', gap: 2 }}&gt;&#13;&#10;                        &lt;Text style={{ fontSize: 19, fontWeight: 'bold', color: '#4A5568', fontFamily: '微软雅黑' }}&gt;容器编排&lt;/Text&gt;&#13;&#10;                        &lt;Text style={{ fontSize: 17, color: '#4A5568', fontFamily: '微软雅黑', lineHeight: 1.45 }}&gt;不走 Docker，本地直接启动，减少排查成本&lt;/Text&gt;&#13;&#10;                    &lt;/Box&gt;&#13;&#10;                    &lt;Box style={{ flexDirection: 'column', gap: 2 }}&gt;&#13;&#10;                        &lt;Text style={{ fontSize: 19, fontWeight: 'bold', color: '#4A5568', fontFamily: '微软雅黑' }}&gt;中间件&lt;/Text&gt;&#13;&#10;                        &lt;Text style={{ fontSize: 17, color: '#4A5568', fontFamily: '微软雅黑', lineHeight: 1.45 }}&gt;不引入向量库、缓存与消息队列&lt;/Text&gt;&#13;&#10;                    &lt;/Box&gt;&#13;&#10;                &lt;/Box&gt;&#13;&#10;            &lt;/Box&gt;&#13;&#10;&#13;&#10;            {/* 后续演进 */}&#13;&#10;            &lt;Box style={{ flex: 1, background: '#F7F9FC', border: { top: { width: 4, color: '#3D7BD9' } }, flexDirection: 'column', padding: 18, gap: 12 }}&gt;&#13;&#10;                &lt;Text style={{ fontSize: 24, fontWeight: 'bold', color: '#0E3F8C', fontFamily: '微软雅黑' }}&gt;后续演进&lt;/Text&gt;&#13;&#10;                &lt;Box style={{ flexDirection: 'column', gap: 9 }}&gt;&#13;&#10;                    &lt;Box style={{ flexDirection: 'column', gap: 2 }}&gt;&#13;&#10;                        &lt;Text style={{ fontSize: 19, fontWeight: 'bold', color: '#3D7BD9', fontFamily: '微软雅黑' }}&gt;换库&lt;/Text&gt;&#13;&#10;                        &lt;Text style={{ fontSize: 17, color: '#4A5568', fontFamily: '微软雅黑', lineHeight: 1.45 }}&gt;单表超过 500 万行时切换，仓储层接口已就位&lt;/Text&gt;&#13;&#10;                    &lt;/Box&gt;&#13;&#10;                    &lt;Box style={{ flexDirection: 'column', gap: 2 }}&gt;&#13;&#10;                        &lt;Text style={{ fontSize: 19, fontWeight: 'bold', color: '#3D7BD9', fontFamily: '微软雅黑' }}&gt;召回升级&lt;/Text&gt;&#13;&#10;                        &lt;Text style={{ fontSize: 17, color: '#4A5568', fontFamily: '微软雅黑', lineHeight: 1.45 }}&gt;表数量超过 30 张时，规则匹配改走向量检索&lt;/Text&gt;&#13;&#10;                    &lt;/Box&gt;&#13;&#10;                    &lt;Box style={{ flexDirection: 'column', gap: 2 }}&gt;&#13;&#10;                        &lt;Text style={{ fontSize: 19, fontWeight: 'bold', color: '#3D7BD9', fontFamily: '微软雅黑' }}&gt;审计归档&lt;/Text&gt;&#13;&#10;                        &lt;Text style={{ fontSize: 17, color: '#4A5568', fontFamily: '微软雅黑', lineHeight: 1.45 }}&gt;补保留期与定期清理，当前审计表无过期策略&lt;/Text&gt;&#13;&#10;                    &lt;/Box&gt;&#13;&#10;                    &lt;Box style={{ flexDirection: 'column', gap: 2 }}&gt;&#13;&#10;                        &lt;Text style={{ fontSize: 19, fontWeight: 'bold', color: '#3D7BD9', fontFamily: '微软雅黑' }}&gt;对比留痕&lt;/Text&gt;&#13;&#10;                        &lt;Text style={{ fontSize: 17, color: '#4A5568', fontFamily: '微软雅黑', lineHeight: 1.45 }}&gt;对比期查询补齐 SQL 原文与耗时记录&lt;/Text&gt;&#13;&#10;                    &lt;/Box&gt;&#13;&#10;                &lt;/Box&gt;&#13;&#10;            &lt;/Box&gt;&#13;&#10;        &lt;/Box&gt;&#13;&#10;&#13;&#10;        {/* 致谢条 */}&#13;&#10;        &lt;Box style={{ width: '100%', height: 116, background: '#0E3F8C', flexDirection: 'row', alignItems: 'center', justifyContent: 'space-between', padding: '0 34px' }}&gt;&#13;&#10;            &lt;Box style={{ flexDirection: 'column', gap: 6 }}&gt;&#13;&#10;                &lt;Text style={{ fontSize: 34, fontWeight: 'bold', color: '#FFFFFF', fontFamily: '微软雅黑' }}&gt;&#13;&#10;                    汇报完毕，请各位老师批评指正&#13;&#10;                &lt;/Text&gt;&#13;&#10;                &lt;Text style={{ fontSize: 18, color: 'rgba(255,255,255,0.78)', fontFamily: '微软雅黑' }}&gt;&#13;&#10;                    基于 Text2SQL 的电商数据分析 Agent　·　口径集中配置　执行前校验　结果可追溯&#13;&#10;                &lt;/Text&gt;&#13;&#10;            &lt;/Box&gt;&#13;&#10;            &lt;Box style={{ flexDirection: 'column', gap: 5, alignItems: 'flex-end' }}&gt;&#13;&#10;                &lt;Text style={{ fontSize: 17, color: 'rgba(255,255,255,0.72)', fontFamily: '微软雅黑' }}&gt;答辩人　李金盛&lt;/Text&gt;&#13;&#10;                &lt;Text style={{ fontSize: 17, color: 'rgba(255,255,255,0.72)', fontFamily: '微软雅黑' }}&gt;指导老师　待填写&lt;/Text&gt;&#13;&#10;                &lt;Text style={{ fontSize: 17, color: 'rgba(255,255,255,0.72)', fontFamily: '微软雅黑' }}&gt;学号　2021000000&lt;/Text&gt;&#13;&#10;            &lt;/Box&gt;&#13;&#10;        &lt;/Box&gt;&#13;&#10;    &lt;/Box&gt;&#13;&#10;&#13;&#10;    {/* D 页脚 */}&#13;&#10;    &lt;Box style={{ width: '100%', height: 40, flexDirection: 'row', alignItems: 'center', justifyContent: 'space-between', padding: '0 40px' }}&gt;&#13;&#10;        &lt;Text style={{ fontSize: 14, color: '#8B97A8', fontFamily: '微软雅黑' }}&gt;Text2SQL 电商数据分析 Agent&lt;/Text&gt;&#13;&#10;        &lt;Text style={{ fontSize: 15, color: '#1E4FA8', fontFamily: 'Times New Roman' }}&gt;16 / 16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矩形 26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64" name="矩形 263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265" name="矩形 264"/>
          <p:cNvSpPr/>
          <p:nvPr/>
        </p:nvSpPr>
        <p:spPr>
          <a:xfrm>
            <a:off x="381000" y="228600"/>
            <a:ext cx="47625" cy="247650"/>
          </a:xfrm>
          <a:prstGeom prst="rect">
            <a:avLst/>
          </a:prstGeom>
          <a:solidFill>
            <a:srgbClr val="3D7BD9"/>
          </a:solidFill>
        </p:spPr>
        <p:txBody>
          <a:bodyPr/>
          <a:p/>
        </p:txBody>
      </p:sp>
      <p:sp>
        <p:nvSpPr>
          <p:cNvPr id="266" name="文本框 265" descr="{&quot;isTemplate&quot;:true,&quot;type&quot;:&quot;text&quot;}"/>
          <p:cNvSpPr txBox="1"/>
          <p:nvPr/>
        </p:nvSpPr>
        <p:spPr>
          <a:xfrm>
            <a:off x="561975" y="161925"/>
            <a:ext cx="33528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做了什么，下一步做什么</a:t>
            </a:r>
            <a:endParaRPr lang="zh-CN"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7" name="文本框 266" descr="{&quot;isTemplate&quot;:true,&quot;type&quot;:&quot;text&quot;}"/>
          <p:cNvSpPr txBox="1"/>
          <p:nvPr/>
        </p:nvSpPr>
        <p:spPr>
          <a:xfrm>
            <a:off x="11096625" y="257175"/>
            <a:ext cx="7143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总结与展望</a:t>
            </a:r>
            <a:endParaRPr lang="zh-CN" sz="1125">
              <a:solidFill>
                <a:srgbClr val="FFFFFF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8" name="矩形 267"/>
          <p:cNvSpPr/>
          <p:nvPr/>
        </p:nvSpPr>
        <p:spPr>
          <a:xfrm>
            <a:off x="381000" y="876300"/>
            <a:ext cx="3705225" cy="3943350"/>
          </a:xfrm>
          <a:prstGeom prst="rect">
            <a:avLst/>
          </a:prstGeom>
          <a:solidFill>
            <a:srgbClr val="F0F5FC"/>
          </a:solidFill>
        </p:spPr>
        <p:txBody>
          <a:bodyPr/>
          <a:p/>
        </p:txBody>
      </p:sp>
      <p:sp>
        <p:nvSpPr>
          <p:cNvPr id="269" name="文本框 268" descr="{&quot;isTemplate&quot;:true,&quot;type&quot;:&quot;text&quot;}"/>
          <p:cNvSpPr txBox="1"/>
          <p:nvPr/>
        </p:nvSpPr>
        <p:spPr>
          <a:xfrm>
            <a:off x="552450" y="1047750"/>
            <a:ext cx="336232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已实现</a:t>
            </a:r>
            <a:endParaRPr lang="zh-CN" sz="18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0" name="文本框 269" descr="{&quot;isTemplate&quot;:true,&quot;type&quot;:&quot;text&quot;}"/>
          <p:cNvSpPr txBox="1"/>
          <p:nvPr/>
        </p:nvSpPr>
        <p:spPr>
          <a:xfrm>
            <a:off x="552450" y="1438275"/>
            <a:ext cx="33623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口径集中配置</a:t>
            </a:r>
            <a:endParaRPr lang="zh-CN" sz="142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1" name="文本框 270" descr="{&quot;isTemplate&quot;:true,&quot;type&quot;:&quot;text&quot;}"/>
          <p:cNvSpPr txBox="1"/>
          <p:nvPr/>
        </p:nvSpPr>
        <p:spPr>
          <a:xfrm>
            <a:off x="552450" y="1676400"/>
            <a:ext cx="3362325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七个指标的表达式、必带过滤与边界说明写入语义层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2" name="文本框 271" descr="{&quot;isTemplate&quot;:true,&quot;type&quot;:&quot;text&quot;}"/>
          <p:cNvSpPr txBox="1"/>
          <p:nvPr/>
        </p:nvSpPr>
        <p:spPr>
          <a:xfrm>
            <a:off x="552450" y="2333625"/>
            <a:ext cx="33623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状态机编排</a:t>
            </a:r>
            <a:endParaRPr lang="zh-CN" sz="142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3" name="文本框 272" descr="{&quot;isTemplate&quot;:true,&quot;type&quot;:&quot;text&quot;}"/>
          <p:cNvSpPr txBox="1"/>
          <p:nvPr/>
        </p:nvSpPr>
        <p:spPr>
          <a:xfrm>
            <a:off x="552450" y="2571750"/>
            <a:ext cx="3362325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十四个节点，含重试回环与六条终态出口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4" name="文本框 273" descr="{&quot;isTemplate&quot;:true,&quot;type&quot;:&quot;text&quot;}"/>
          <p:cNvSpPr txBox="1"/>
          <p:nvPr/>
        </p:nvSpPr>
        <p:spPr>
          <a:xfrm>
            <a:off x="552450" y="2943225"/>
            <a:ext cx="33623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双层校验</a:t>
            </a:r>
            <a:endParaRPr lang="zh-CN" sz="142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5" name="文本框 274" descr="{&quot;isTemplate&quot;:true,&quot;type&quot;:&quot;text&quot;}"/>
          <p:cNvSpPr txBox="1"/>
          <p:nvPr/>
        </p:nvSpPr>
        <p:spPr>
          <a:xfrm>
            <a:off x="552450" y="3181350"/>
            <a:ext cx="3362325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九条守卫管语句安全，口径签名管算的是不是那个量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6" name="文本框 275" descr="{&quot;isTemplate&quot;:true,&quot;type&quot;:&quot;text&quot;}"/>
          <p:cNvSpPr txBox="1"/>
          <p:nvPr/>
        </p:nvSpPr>
        <p:spPr>
          <a:xfrm>
            <a:off x="552450" y="3838575"/>
            <a:ext cx="33623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可信与测试</a:t>
            </a:r>
            <a:endParaRPr lang="zh-CN" sz="142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7" name="文本框 276" descr="{&quot;isTemplate&quot;:true,&quot;type&quot;:&quot;text&quot;}"/>
          <p:cNvSpPr txBox="1"/>
          <p:nvPr/>
        </p:nvSpPr>
        <p:spPr>
          <a:xfrm>
            <a:off x="552450" y="4076700"/>
            <a:ext cx="3362325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审计留痕、数字回溯，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544 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条测试覆盖九条规则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9" name="文本框 278" descr="{&quot;isTemplate&quot;:true,&quot;type&quot;:&quot;text&quot;}"/>
          <p:cNvSpPr txBox="1"/>
          <p:nvPr/>
        </p:nvSpPr>
        <p:spPr>
          <a:xfrm>
            <a:off x="4410075" y="1047750"/>
            <a:ext cx="3371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endParaRPr lang="zh-CN" sz="18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1" name="文本框 280" descr="{&quot;isTemplate&quot;:true,&quot;type&quot;:&quot;text&quot;}"/>
          <p:cNvSpPr txBox="1"/>
          <p:nvPr/>
        </p:nvSpPr>
        <p:spPr>
          <a:xfrm>
            <a:off x="4410075" y="1676400"/>
            <a:ext cx="3371850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8" name="矩形 287"/>
          <p:cNvSpPr/>
          <p:nvPr/>
        </p:nvSpPr>
        <p:spPr>
          <a:xfrm>
            <a:off x="4175125" y="876300"/>
            <a:ext cx="3705225" cy="308610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289" name="文本框 288" descr="{&quot;isTemplate&quot;:true,&quot;type&quot;:&quot;text&quot;}"/>
          <p:cNvSpPr txBox="1"/>
          <p:nvPr/>
        </p:nvSpPr>
        <p:spPr>
          <a:xfrm>
            <a:off x="4284980" y="1047750"/>
            <a:ext cx="336232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后续演进</a:t>
            </a:r>
            <a:endParaRPr lang="zh-CN" sz="18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0" name="文本框 289" descr="{&quot;isTemplate&quot;:true,&quot;type&quot;:&quot;text&quot;}"/>
          <p:cNvSpPr txBox="1"/>
          <p:nvPr/>
        </p:nvSpPr>
        <p:spPr>
          <a:xfrm>
            <a:off x="4284980" y="1438275"/>
            <a:ext cx="33623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换库</a:t>
            </a:r>
            <a:endParaRPr lang="zh-CN" sz="1425" b="1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1" name="文本框 290" descr="{&quot;isTemplate&quot;:true,&quot;type&quot;:&quot;text&quot;}"/>
          <p:cNvSpPr txBox="1"/>
          <p:nvPr/>
        </p:nvSpPr>
        <p:spPr>
          <a:xfrm>
            <a:off x="4284980" y="1685925"/>
            <a:ext cx="3362325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单表超过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500 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万行时切换，仓储层接口已就位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2" name="文本框 291" descr="{&quot;isTemplate&quot;:true,&quot;type&quot;:&quot;text&quot;}"/>
          <p:cNvSpPr txBox="1"/>
          <p:nvPr/>
        </p:nvSpPr>
        <p:spPr>
          <a:xfrm>
            <a:off x="4284980" y="2066925"/>
            <a:ext cx="33623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召回升级</a:t>
            </a:r>
            <a:endParaRPr lang="zh-CN" sz="1425" b="1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3" name="文本框 292" descr="{&quot;isTemplate&quot;:true,&quot;type&quot;:&quot;text&quot;}"/>
          <p:cNvSpPr txBox="1"/>
          <p:nvPr/>
        </p:nvSpPr>
        <p:spPr>
          <a:xfrm>
            <a:off x="4284980" y="2333625"/>
            <a:ext cx="3362325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表数量超过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30 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张时，规则匹配改走向量检索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4" name="文本框 293" descr="{&quot;isTemplate&quot;:true,&quot;type&quot;:&quot;text&quot;}"/>
          <p:cNvSpPr txBox="1"/>
          <p:nvPr/>
        </p:nvSpPr>
        <p:spPr>
          <a:xfrm>
            <a:off x="4284980" y="2762250"/>
            <a:ext cx="33623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审计归档</a:t>
            </a:r>
            <a:endParaRPr lang="zh-CN" sz="1425" b="1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5" name="文本框 294" descr="{&quot;isTemplate&quot;:true,&quot;type&quot;:&quot;text&quot;}"/>
          <p:cNvSpPr txBox="1"/>
          <p:nvPr/>
        </p:nvSpPr>
        <p:spPr>
          <a:xfrm>
            <a:off x="4284980" y="3076575"/>
            <a:ext cx="3362325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补保留期与定期清理，当前审计表无过期策略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6" name="文本框 295" descr="{&quot;isTemplate&quot;:true,&quot;type&quot;:&quot;text&quot;}"/>
          <p:cNvSpPr txBox="1"/>
          <p:nvPr/>
        </p:nvSpPr>
        <p:spPr>
          <a:xfrm>
            <a:off x="4284980" y="3457575"/>
            <a:ext cx="33623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对比留痕</a:t>
            </a:r>
            <a:endParaRPr lang="zh-CN" sz="1425" b="1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7" name="文本框 296" descr="{&quot;isTemplate&quot;:true,&quot;type&quot;:&quot;text&quot;}"/>
          <p:cNvSpPr txBox="1"/>
          <p:nvPr/>
        </p:nvSpPr>
        <p:spPr>
          <a:xfrm>
            <a:off x="4284980" y="3724275"/>
            <a:ext cx="3362325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对比期查询补齐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SQL 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原文与耗时记录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8" name="矩形 297"/>
          <p:cNvSpPr/>
          <p:nvPr/>
        </p:nvSpPr>
        <p:spPr>
          <a:xfrm>
            <a:off x="381000" y="4953000"/>
            <a:ext cx="11430000" cy="11049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299" name="文本框 298" descr="{&quot;isTemplate&quot;:true,&quot;type&quot;:&quot;text&quot;}"/>
          <p:cNvSpPr txBox="1"/>
          <p:nvPr/>
        </p:nvSpPr>
        <p:spPr>
          <a:xfrm>
            <a:off x="704850" y="5181600"/>
            <a:ext cx="635317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汇报完毕，请各位老师批评指正</a:t>
            </a:r>
            <a:endParaRPr lang="zh-CN" sz="25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0" name="文本框 299" descr="{&quot;isTemplate&quot;:true,&quot;type&quot;:&quot;text&quot;}"/>
          <p:cNvSpPr txBox="1"/>
          <p:nvPr/>
        </p:nvSpPr>
        <p:spPr>
          <a:xfrm>
            <a:off x="704850" y="5629275"/>
            <a:ext cx="63531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基于</a:t>
            </a:r>
            <a:r>
              <a:rPr lang="en-US" sz="1350">
                <a:solidFill>
                  <a:srgbClr val="FFFFFF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Text2SQL </a:t>
            </a:r>
            <a:r>
              <a:rPr lang="zh-CN" sz="1350">
                <a:solidFill>
                  <a:srgbClr val="FFFFFF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的电商数据分析</a:t>
            </a:r>
            <a:r>
              <a:rPr lang="en-US" sz="1350">
                <a:solidFill>
                  <a:srgbClr val="FFFFFF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Agent</a:t>
            </a:r>
            <a:r>
              <a:rPr lang="zh-CN" sz="1350">
                <a:solidFill>
                  <a:srgbClr val="FFFFFF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　·　口径集中配置　执行前校验　结果可追溯</a:t>
            </a:r>
            <a:endParaRPr lang="zh-CN" sz="1350">
              <a:solidFill>
                <a:srgbClr val="FFFFFF">
                  <a:alpha val="7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1" name="文本框 300" descr="{&quot;isTemplate&quot;:true,&quot;type&quot;:&quot;text&quot;}"/>
          <p:cNvSpPr txBox="1"/>
          <p:nvPr/>
        </p:nvSpPr>
        <p:spPr>
          <a:xfrm>
            <a:off x="10179685" y="5162550"/>
            <a:ext cx="11334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答辩人　李金盛</a:t>
            </a:r>
            <a:endParaRPr lang="zh-CN" sz="1275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2" name="文本框 301" descr="{&quot;isTemplate&quot;:true,&quot;type&quot;:&quot;text&quot;}"/>
          <p:cNvSpPr txBox="1"/>
          <p:nvPr/>
        </p:nvSpPr>
        <p:spPr>
          <a:xfrm>
            <a:off x="10179685" y="5372100"/>
            <a:ext cx="12954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班级</a:t>
            </a:r>
            <a:r>
              <a:rPr lang="en-US" altLang="zh-CN" sz="1275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      </a:t>
            </a:r>
            <a:r>
              <a:rPr lang="zh-CN" sz="1275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嘉大</a:t>
            </a:r>
            <a:r>
              <a:rPr lang="zh-CN" sz="1275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班</a:t>
            </a:r>
            <a:endParaRPr lang="zh-CN" sz="1275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3" name="文本框 302" descr="{&quot;isTemplate&quot;:true,&quot;type&quot;:&quot;text&quot;}"/>
          <p:cNvSpPr txBox="1"/>
          <p:nvPr/>
        </p:nvSpPr>
        <p:spPr>
          <a:xfrm>
            <a:off x="10179685" y="5629275"/>
            <a:ext cx="13716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学号　</a:t>
            </a:r>
            <a:r>
              <a:rPr lang="en-US" altLang="zh-CN" sz="1275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lang="en-US" sz="1275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231010223</a:t>
            </a:r>
            <a:endParaRPr lang="en-US" sz="1275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4" name="文本框 303" descr="{&quot;isTemplate&quot;:true,&quot;type&quot;:&quot;text&quot;}"/>
          <p:cNvSpPr txBox="1"/>
          <p:nvPr/>
        </p:nvSpPr>
        <p:spPr>
          <a:xfrm>
            <a:off x="381000" y="6591300"/>
            <a:ext cx="17811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Text2SQL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电商数据分析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Agent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5" name="文本框 304" descr="{&quot;isTemplate&quot;:true,&quot;type&quot;:&quot;text&quot;}"/>
          <p:cNvSpPr txBox="1"/>
          <p:nvPr/>
        </p:nvSpPr>
        <p:spPr>
          <a:xfrm>
            <a:off x="11410950" y="6581775"/>
            <a:ext cx="4000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Times New Roman" panose="02020603050405020304"/>
                <a:ea typeface="Times New Roman" panose="02020603050405020304"/>
              </a:rPr>
              <a:t>16 / 16</a:t>
            </a:r>
            <a:endParaRPr lang="en-US" sz="1125">
              <a:solidFill>
                <a:srgbClr val="1E4FA8"/>
              </a:solidFill>
              <a:latin typeface="Times New Roman" panose="02020603050405020304"/>
              <a:ea typeface="Times New Roman" panose="020206030504050203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33,&quot;left&quot;:333,&quot;top&quot;:103.5,&quot;width&quot;:579}"/>
</p:tagLst>
</file>

<file path=ppt/tags/tag2.xml><?xml version="1.0" encoding="utf-8"?>
<p:tagLst xmlns:p="http://schemas.openxmlformats.org/presentationml/2006/main">
  <p:tag name="KSO_WM_DIAGRAM_VIRTUALLY_FRAME" val="{&quot;height&quot;:333,&quot;left&quot;:333,&quot;top&quot;:103.5,&quot;width&quot;:579}"/>
</p:tagLst>
</file>

<file path=ppt/tags/tag3.xml><?xml version="1.0" encoding="utf-8"?>
<p:tagLst xmlns:p="http://schemas.openxmlformats.org/presentationml/2006/main">
  <p:tag name="KSO_WM_DIAGRAM_VIRTUALLY_FRAME" val="{&quot;height&quot;:333,&quot;left&quot;:333,&quot;top&quot;:103.5,&quot;width&quot;:579}"/>
</p:tagLst>
</file>

<file path=ppt/tags/tag4.xml><?xml version="1.0" encoding="utf-8"?>
<p:tagLst xmlns:p="http://schemas.openxmlformats.org/presentationml/2006/main">
  <p:tag name="KSO_WM_DIAGRAM_VIRTUALLY_FRAME" val="{&quot;height&quot;:333,&quot;left&quot;:333,&quot;top&quot;:103.5,&quot;width&quot;:579}"/>
</p:tagLst>
</file>

<file path=ppt/tags/tag5.xml><?xml version="1.0" encoding="utf-8"?>
<p:tagLst xmlns:p="http://schemas.openxmlformats.org/presentationml/2006/main">
  <p:tag name="KSO_WM_DIAGRAM_VIRTUALLY_FRAME" val="{&quot;height&quot;:333,&quot;left&quot;:333,&quot;top&quot;:103.5,&quot;width&quot;:579}"/>
</p:tagLst>
</file>

<file path=ppt/tags/tag6.xml><?xml version="1.0" encoding="utf-8"?>
<p:tagLst xmlns:p="http://schemas.openxmlformats.org/presentationml/2006/main">
  <p:tag name="KSO_WM_DIAGRAM_VIRTUALLY_FRAME" val="{&quot;height&quot;:333,&quot;left&quot;:333,&quot;top&quot;:103.5,&quot;width&quot;:579}"/>
</p:tagLst>
</file>

<file path=ppt/tags/tag7.xml><?xml version="1.0" encoding="utf-8"?>
<p:tagLst xmlns:p="http://schemas.openxmlformats.org/presentationml/2006/main">
  <p:tag name="KSO_WM_DIAGRAM_VIRTUALLY_FRAME" val="{&quot;height&quot;:333,&quot;left&quot;:333,&quot;top&quot;:103.5,&quot;width&quot;:579}"/>
</p:tagLst>
</file>

<file path=ppt/tags/tag8.xml><?xml version="1.0" encoding="utf-8"?>
<p:tagLst xmlns:p="http://schemas.openxmlformats.org/presentationml/2006/main">
  <p:tag name="KSO_WM_DIAGRAM_VIRTUALLY_FRAME" val="{&quot;height&quot;:333,&quot;left&quot;:333,&quot;top&quot;:103.5,&quot;width&quot;:579}"/>
</p:tagLst>
</file>

<file path=ppt/tags/tag9.xml><?xml version="1.0" encoding="utf-8"?>
<p:tagLst xmlns:p="http://schemas.openxmlformats.org/presentationml/2006/main">
  <p:tag name="KSO_WM_DIAGRAM_VIRTUALLY_FRAME" val="{&quot;height&quot;:333,&quot;left&quot;:333,&quot;top&quot;:103.5,&quot;width&quot;:579}"/>
</p:tagLst>
</file>

<file path=ppt/tags/tag10.xml><?xml version="1.0" encoding="utf-8"?>
<p:tagLst xmlns:p="http://schemas.openxmlformats.org/presentationml/2006/main">
  <p:tag name="KSO_WM_DIAGRAM_VIRTUALLY_FRAME" val="{&quot;height&quot;:333,&quot;left&quot;:333,&quot;top&quot;:103.5,&quot;width&quot;:579}"/>
</p:tagLst>
</file>

<file path=ppt/tags/tag11.xml><?xml version="1.0" encoding="utf-8"?>
<p:tagLst xmlns:p="http://schemas.openxmlformats.org/presentationml/2006/main">
  <p:tag name="KSO_WM_DIAGRAM_VIRTUALLY_FRAME" val="{&quot;height&quot;:333,&quot;left&quot;:333,&quot;top&quot;:103.5,&quot;width&quot;:579}"/>
</p:tagLst>
</file>

<file path=ppt/tags/tag12.xml><?xml version="1.0" encoding="utf-8"?>
<p:tagLst xmlns:p="http://schemas.openxmlformats.org/presentationml/2006/main">
  <p:tag name="KSO_WM_DIAGRAM_VIRTUALLY_FRAME" val="{&quot;height&quot;:333,&quot;left&quot;:333,&quot;top&quot;:103.5,&quot;width&quot;:579}"/>
</p:tagLst>
</file>

<file path=ppt/tags/tag13.xml><?xml version="1.0" encoding="utf-8"?>
<p:tagLst xmlns:p="http://schemas.openxmlformats.org/presentationml/2006/main">
  <p:tag name="KSO_WM_DIAGRAM_VIRTUALLY_FRAME" val="{&quot;height&quot;:333,&quot;left&quot;:333,&quot;top&quot;:103.5,&quot;width&quot;:579}"/>
</p:tagLst>
</file>

<file path=ppt/tags/tag14.xml><?xml version="1.0" encoding="utf-8"?>
<p:tagLst xmlns:p="http://schemas.openxmlformats.org/presentationml/2006/main">
  <p:tag name="KSO_WM_DIAGRAM_VIRTUALLY_FRAME" val="{&quot;height&quot;:333,&quot;left&quot;:333,&quot;top&quot;:103.5,&quot;width&quot;:579}"/>
</p:tagLst>
</file>

<file path=ppt/tags/tag15.xml><?xml version="1.0" encoding="utf-8"?>
<p:tagLst xmlns:p="http://schemas.openxmlformats.org/presentationml/2006/main">
  <p:tag name="KSO_WM_DIAGRAM_VIRTUALLY_FRAME" val="{&quot;height&quot;:333,&quot;left&quot;:333,&quot;top&quot;:103.5,&quot;width&quot;:579}"/>
</p:tagLst>
</file>

<file path=ppt/tags/tag16.xml><?xml version="1.0" encoding="utf-8"?>
<p:tagLst xmlns:p="http://schemas.openxmlformats.org/presentationml/2006/main">
  <p:tag name="KSO_WM_DIAGRAM_VIRTUALLY_FRAME" val="{&quot;height&quot;:333,&quot;left&quot;:333,&quot;top&quot;:103.5,&quot;width&quot;:579}"/>
</p:tagLst>
</file>

<file path=ppt/tags/tag17.xml><?xml version="1.0" encoding="utf-8"?>
<p:tagLst xmlns:p="http://schemas.openxmlformats.org/presentationml/2006/main">
  <p:tag name="KSO_WM_DIAGRAM_VIRTUALLY_FRAME" val="{&quot;height&quot;:333,&quot;left&quot;:333,&quot;top&quot;:103.5,&quot;width&quot;:579}"/>
</p:tagLst>
</file>

<file path=ppt/tags/tag18.xml><?xml version="1.0" encoding="utf-8"?>
<p:tagLst xmlns:p="http://schemas.openxmlformats.org/presentationml/2006/main">
  <p:tag name="KSO_WM_DIAGRAM_VIRTUALLY_FRAME" val="{&quot;height&quot;:333,&quot;left&quot;:333,&quot;top&quot;:103.5,&quot;width&quot;:579}"/>
</p:tagLst>
</file>

<file path=ppt/tags/tag19.xml><?xml version="1.0" encoding="utf-8"?>
<p:tagLst xmlns:p="http://schemas.openxmlformats.org/presentationml/2006/main">
  <p:tag name="KSO_WM_DIAGRAM_VIRTUALLY_FRAME" val="{&quot;height&quot;:333,&quot;left&quot;:333,&quot;top&quot;:103.5,&quot;width&quot;:579}"/>
</p:tagLst>
</file>

<file path=ppt/tags/tag20.xml><?xml version="1.0" encoding="utf-8"?>
<p:tagLst xmlns:p="http://schemas.openxmlformats.org/presentationml/2006/main">
  <p:tag name="KSO_WM_DIAGRAM_VIRTUALLY_FRAME" val="{&quot;height&quot;:333,&quot;left&quot;:333,&quot;top&quot;:103.5,&quot;width&quot;:579}"/>
</p:tagLst>
</file>

<file path=ppt/tags/tag21.xml><?xml version="1.0" encoding="utf-8"?>
<p:tagLst xmlns:p="http://schemas.openxmlformats.org/presentationml/2006/main">
  <p:tag name="KSO_WM_DIAGRAM_VIRTUALLY_FRAME" val="{&quot;height&quot;:333,&quot;left&quot;:333,&quot;top&quot;:103.5,&quot;width&quot;:579}"/>
</p:tagLst>
</file>

<file path=ppt/tags/tag22.xml><?xml version="1.0" encoding="utf-8"?>
<p:tagLst xmlns:p="http://schemas.openxmlformats.org/presentationml/2006/main">
  <p:tag name="KSO_WM_DIAGRAM_VIRTUALLY_FRAME" val="{&quot;height&quot;:333,&quot;left&quot;:333,&quot;top&quot;:103.5,&quot;width&quot;:579}"/>
</p:tagLst>
</file>

<file path=ppt/tags/tag23.xml><?xml version="1.0" encoding="utf-8"?>
<p:tagLst xmlns:p="http://schemas.openxmlformats.org/presentationml/2006/main">
  <p:tag name="KSO_WM_DIAGRAM_VIRTUALLY_FRAME" val="{&quot;height&quot;:333,&quot;left&quot;:333,&quot;top&quot;:103.5,&quot;width&quot;:579}"/>
</p:tagLst>
</file>

<file path=ppt/tags/tag24.xml><?xml version="1.0" encoding="utf-8"?>
<p:tagLst xmlns:p="http://schemas.openxmlformats.org/presentationml/2006/main">
  <p:tag name="KSO_WM_DIAGRAM_VIRTUALLY_FRAME" val="{&quot;height&quot;:333,&quot;left&quot;:333,&quot;top&quot;:103.5,&quot;width&quot;:579}"/>
</p:tagLst>
</file>

<file path=ppt/tags/tag25.xml><?xml version="1.0" encoding="utf-8"?>
<p:tagLst xmlns:p="http://schemas.openxmlformats.org/presentationml/2006/main">
  <p:tag name="KSO_WM_DIAGRAM_VIRTUALLY_FRAME" val="{&quot;height&quot;:385.5,&quot;left&quot;:30,&quot;top&quot;:67.5,&quot;width&quot;:900}"/>
</p:tagLst>
</file>

<file path=ppt/tags/tag26.xml><?xml version="1.0" encoding="utf-8"?>
<p:tagLst xmlns:p="http://schemas.openxmlformats.org/presentationml/2006/main">
  <p:tag name="KSO_WM_DIAGRAM_VIRTUALLY_FRAME" val="{&quot;height&quot;:385.5,&quot;left&quot;:30,&quot;top&quot;:67.5,&quot;width&quot;:900}"/>
</p:tagLst>
</file>

<file path=ppt/tags/tag27.xml><?xml version="1.0" encoding="utf-8"?>
<p:tagLst xmlns:p="http://schemas.openxmlformats.org/presentationml/2006/main">
  <p:tag name="KSO_WM_DIAGRAM_VIRTUALLY_FRAME" val="{&quot;height&quot;:385.5,&quot;left&quot;:30,&quot;top&quot;:67.5,&quot;width&quot;:900}"/>
</p:tagLst>
</file>

<file path=ppt/tags/tag28.xml><?xml version="1.0" encoding="utf-8"?>
<p:tagLst xmlns:p="http://schemas.openxmlformats.org/presentationml/2006/main">
  <p:tag name="KSO_WM_DIAGRAM_VIRTUALLY_FRAME" val="{&quot;height&quot;:385.5,&quot;left&quot;:30,&quot;top&quot;:67.5,&quot;width&quot;:900}"/>
</p:tagLst>
</file>

<file path=ppt/tags/tag29.xml><?xml version="1.0" encoding="utf-8"?>
<p:tagLst xmlns:p="http://schemas.openxmlformats.org/presentationml/2006/main">
  <p:tag name="KSO_WM_DIAGRAM_VIRTUALLY_FRAME" val="{&quot;height&quot;:385.5,&quot;left&quot;:30,&quot;top&quot;:67.5,&quot;width&quot;:900}"/>
</p:tagLst>
</file>

<file path=ppt/tags/tag30.xml><?xml version="1.0" encoding="utf-8"?>
<p:tagLst xmlns:p="http://schemas.openxmlformats.org/presentationml/2006/main">
  <p:tag name="KSO_WM_DIAGRAM_VIRTUALLY_FRAME" val="{&quot;height&quot;:385.5,&quot;left&quot;:30,&quot;top&quot;:67.5,&quot;width&quot;:900}"/>
</p:tagLst>
</file>

<file path=ppt/tags/tag31.xml><?xml version="1.0" encoding="utf-8"?>
<p:tagLst xmlns:p="http://schemas.openxmlformats.org/presentationml/2006/main">
  <p:tag name="KSO_WM_DIAGRAM_VIRTUALLY_FRAME" val="{&quot;height&quot;:385.5,&quot;left&quot;:30,&quot;top&quot;:67.5,&quot;width&quot;:900}"/>
</p:tagLst>
</file>

<file path=ppt/tags/tag32.xml><?xml version="1.0" encoding="utf-8"?>
<p:tagLst xmlns:p="http://schemas.openxmlformats.org/presentationml/2006/main">
  <p:tag name="KSO_WM_DIAGRAM_VIRTUALLY_FRAME" val="{&quot;height&quot;:385.5,&quot;left&quot;:30,&quot;top&quot;:67.5,&quot;width&quot;:900}"/>
</p:tagLst>
</file>

<file path=ppt/tags/tag33.xml><?xml version="1.0" encoding="utf-8"?>
<p:tagLst xmlns:p="http://schemas.openxmlformats.org/presentationml/2006/main">
  <p:tag name="KSO_WM_DIAGRAM_VIRTUALLY_FRAME" val="{&quot;height&quot;:385.5,&quot;left&quot;:30,&quot;top&quot;:67.5,&quot;width&quot;:900}"/>
</p:tagLst>
</file>

<file path=ppt/tags/tag34.xml><?xml version="1.0" encoding="utf-8"?>
<p:tagLst xmlns:p="http://schemas.openxmlformats.org/presentationml/2006/main">
  <p:tag name="KSO_WM_DIAGRAM_VIRTUALLY_FRAME" val="{&quot;height&quot;:385.5,&quot;left&quot;:30,&quot;top&quot;:67.5,&quot;width&quot;:900}"/>
</p:tagLst>
</file>

<file path=ppt/tags/tag35.xml><?xml version="1.0" encoding="utf-8"?>
<p:tagLst xmlns:p="http://schemas.openxmlformats.org/presentationml/2006/main">
  <p:tag name="KSO_WM_DIAGRAM_VIRTUALLY_FRAME" val="{&quot;height&quot;:385.5,&quot;left&quot;:30,&quot;top&quot;:67.5,&quot;width&quot;:900}"/>
</p:tagLst>
</file>

<file path=ppt/tags/tag36.xml><?xml version="1.0" encoding="utf-8"?>
<p:tagLst xmlns:p="http://schemas.openxmlformats.org/presentationml/2006/main">
  <p:tag name="KSO_WM_DIAGRAM_VIRTUALLY_FRAME" val="{&quot;height&quot;:385.5,&quot;left&quot;:30,&quot;top&quot;:67.5,&quot;width&quot;:900}"/>
</p:tagLst>
</file>

<file path=ppt/tags/tag37.xml><?xml version="1.0" encoding="utf-8"?>
<p:tagLst xmlns:p="http://schemas.openxmlformats.org/presentationml/2006/main">
  <p:tag name="KSO_WM_DIAGRAM_VIRTUALLY_FRAME" val="{&quot;height&quot;:385.5,&quot;left&quot;:30,&quot;top&quot;:67.5,&quot;width&quot;:900}"/>
</p:tagLst>
</file>

<file path=ppt/tags/tag38.xml><?xml version="1.0" encoding="utf-8"?>
<p:tagLst xmlns:p="http://schemas.openxmlformats.org/presentationml/2006/main">
  <p:tag name="KSO_WM_DIAGRAM_VIRTUALLY_FRAME" val="{&quot;height&quot;:385.5,&quot;left&quot;:30,&quot;top&quot;:67.5,&quot;width&quot;:900}"/>
</p:tagLst>
</file>

<file path=ppt/tags/tag39.xml><?xml version="1.0" encoding="utf-8"?>
<p:tagLst xmlns:p="http://schemas.openxmlformats.org/presentationml/2006/main">
  <p:tag name="KSO_WM_DIAGRAM_VIRTUALLY_FRAME" val="{&quot;height&quot;:385.5,&quot;left&quot;:30,&quot;top&quot;:67.5,&quot;width&quot;:900}"/>
</p:tagLst>
</file>

<file path=ppt/tags/tag40.xml><?xml version="1.0" encoding="utf-8"?>
<p:tagLst xmlns:p="http://schemas.openxmlformats.org/presentationml/2006/main">
  <p:tag name="KSO_WM_DIAGRAM_VIRTUALLY_FRAME" val="{&quot;height&quot;:385.5,&quot;left&quot;:30,&quot;top&quot;:67.5,&quot;width&quot;:900}"/>
</p:tagLst>
</file>

<file path=ppt/tags/tag41.xml><?xml version="1.0" encoding="utf-8"?>
<p:tagLst xmlns:p="http://schemas.openxmlformats.org/presentationml/2006/main">
  <p:tag name="KSO_WM_DIAGRAM_VIRTUALLY_FRAME" val="{&quot;height&quot;:385.5,&quot;left&quot;:30,&quot;top&quot;:67.5,&quot;width&quot;:900}"/>
</p:tagLst>
</file>

<file path=ppt/tags/tag42.xml><?xml version="1.0" encoding="utf-8"?>
<p:tagLst xmlns:p="http://schemas.openxmlformats.org/presentationml/2006/main">
  <p:tag name="KSO_WM_DIAGRAM_VIRTUALLY_FRAME" val="{&quot;height&quot;:385.5,&quot;left&quot;:30,&quot;top&quot;:67.5,&quot;width&quot;:900}"/>
</p:tagLst>
</file>

<file path=ppt/tags/tag43.xml><?xml version="1.0" encoding="utf-8"?>
<p:tagLst xmlns:p="http://schemas.openxmlformats.org/presentationml/2006/main">
  <p:tag name="KSO_WM_DIAGRAM_VIRTUALLY_FRAME" val="{&quot;height&quot;:385.5,&quot;left&quot;:30,&quot;top&quot;:67.5,&quot;width&quot;:900}"/>
</p:tagLst>
</file>

<file path=ppt/tags/tag44.xml><?xml version="1.0" encoding="utf-8"?>
<p:tagLst xmlns:p="http://schemas.openxmlformats.org/presentationml/2006/main">
  <p:tag name="KSO_WM_DIAGRAM_VIRTUALLY_FRAME" val="{&quot;height&quot;:385.5,&quot;left&quot;:30,&quot;top&quot;:67.5,&quot;width&quot;:900}"/>
</p:tagLst>
</file>

<file path=ppt/tags/tag45.xml><?xml version="1.0" encoding="utf-8"?>
<p:tagLst xmlns:p="http://schemas.openxmlformats.org/presentationml/2006/main">
  <p:tag name="KSO_WM_DIAGRAM_VIRTUALLY_FRAME" val="{&quot;height&quot;:385.5,&quot;left&quot;:30,&quot;top&quot;:67.5,&quot;width&quot;:900}"/>
</p:tagLst>
</file>

<file path=ppt/tags/tag46.xml><?xml version="1.0" encoding="utf-8"?>
<p:tagLst xmlns:p="http://schemas.openxmlformats.org/presentationml/2006/main">
  <p:tag name="KSO_WM_DIAGRAM_VIRTUALLY_FRAME" val="{&quot;height&quot;:385.5,&quot;left&quot;:30,&quot;top&quot;:67.5,&quot;width&quot;:900}"/>
</p:tagLst>
</file>

<file path=ppt/tags/tag47.xml><?xml version="1.0" encoding="utf-8"?>
<p:tagLst xmlns:p="http://schemas.openxmlformats.org/presentationml/2006/main">
  <p:tag name="KSO_WM_DIAGRAM_VIRTUALLY_FRAME" val="{&quot;height&quot;:385.5,&quot;left&quot;:30,&quot;top&quot;:67.5,&quot;width&quot;:900}"/>
</p:tagLst>
</file>

<file path=ppt/tags/tag48.xml><?xml version="1.0" encoding="utf-8"?>
<p:tagLst xmlns:p="http://schemas.openxmlformats.org/presentationml/2006/main">
  <p:tag name="KSO_WM_DIAGRAM_VIRTUALLY_FRAME" val="{&quot;height&quot;:385.5,&quot;left&quot;:30,&quot;top&quot;:67.5,&quot;width&quot;:900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6543</Words>
  <Application>WPS 演示</Application>
  <PresentationFormat/>
  <Paragraphs>838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Times New Roman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WPS_1583069777</cp:lastModifiedBy>
  <cp:revision>4</cp:revision>
  <dcterms:created xsi:type="dcterms:W3CDTF">2026-09-29T05:51:00Z</dcterms:created>
  <dcterms:modified xsi:type="dcterms:W3CDTF">2026-09-29T08:49:26Z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2C203242255341D6A641B7DEA1D63D26_12</vt:lpwstr>
  </property>
</Properties>
</file>