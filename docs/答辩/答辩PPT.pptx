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7" Type="http://schemas.openxmlformats.org/officeDocument/2006/relationships/slide" Target="slides/slide7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4" Type="http://schemas.openxmlformats.org/officeDocument/2006/relationships/image" Target="media/image5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png" /><Relationship Id="rId1" Type="http://schemas.openxmlformats.org/officeDocument/2006/relationships/image" Target="media/image3.png" /><Relationship Id="rId6" Type="http://schemas.openxmlformats.org/officeDocument/2006/relationships/image" Target="media/image2.png" /><Relationship Id="rId3" Type="http://schemas.openxmlformats.org/officeDocument/2006/relationships/image" Target="media/image1.png" /><Relationship Id="rId5" Type="http://schemas.openxmlformats.org/officeDocument/2006/relationships/image" Target="media/image6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FFFFFF', padding: 0, flexDirection: 'column' }}&gt;&#13;&#10;    {/* 深蓝顶条 A1 */}&#13;&#10;    &lt;Box style={{&#13;&#10;        width: '100%', height: 96, background: '#0E3F8C',&#13;&#10;        flexDirection: 'row', alignItems: 'center', justifyContent: 'space-between',&#13;&#10;        padding: '0 48px',&#13;&#10;    }}&gt;&#13;&#10;        &lt;Text style={{ fontSize: 16, color: 'rgba(255,255,255,0.82)', fontFamily: '微软雅黑', letterSpacing: 1 }}&gt;&#13;&#10;            &#13;&#10;        &lt;/Text&gt;&#13;&#10;        &lt;Text style={{ fontSize: 16, color: 'rgba(255,255,255,0.82)', fontFamily: '微软雅黑', letterSpacing: 1 }}&gt;&#13;&#10;            &#13;&#10;        &lt;/Text&gt;&#13;&#10;    &lt;/Box&gt;&#13;&#10;&#13;&#10;    {/* 主标题区 */}&#13;&#10;    &lt;Box style={{&#13;&#10;        flex: 1, flexDirection: 'column', justifyContent: 'center',&#13;&#10;        padding: '0 96px', gap: 22,&#13;&#10;    }}&gt;&#13;&#10;        &lt;Box style={{ width: 72, height: 5, background: '#1E4FA8' }} /&gt;&#13;&#10;        &lt;Text style={{ fontSize: 60, fontWeight: 'bold', color: '#0E3F8C', lineHeight: 1.18, fontFamily: '微软雅黑' }}&gt;&#13;&#10;            基于 Text2SQL 的&lt;br /&gt;电商数据分析 Agent&#13;&#10;        &lt;/Text&gt;&#13;&#10;        &lt;Text style={{ fontSize: 48, color: '#3D7BD9', lineHeight: 1.15, fontFamily: 'Times New Roman' }}&gt;&#13;&#10;            A Trustworthy Text-to-SQL Analytics Agent&#13;&#10;        &lt;/Text&gt;&#13;&#10;        &lt;Box style={{ width: 1080, height: 1, background: '#D6DCE5', marginTop: 6 }} /&gt;&#13;&#10;        &lt;Text style={{ fontSize: 26, color: '#4A5568', fontFamily: '微软雅黑', letterSpacing: 2 }}&gt;&#13;&#10;            口径集中配置 · 执行前校验 · 结果可追溯&#13;&#10;        &lt;/Text&gt;&#13;&#10;    &lt;/Box&gt;&#13;&#10;&#13;&#10;    {/* 底部信息条 */}&#13;&#10;    &lt;Box style={{&#13;&#10;        width: '100%', height: 104, background: '#F0F5FC',&#13;&#10;        border: { top: { width: 1, color: '#D6DCE5' } },&#13;&#10;        flexDirection: 'row', alignItems: 'center', justifyContent: 'space-between',&#13;&#10;        padding: '0 96px',&#13;&#10;    }}&gt;&#13;&#10;        &lt;Box style={{ flexDirection: 'column', gap: 4 }}&gt;&#13;&#10;            &lt;Text style={{ fontSize: 14, color: '#8B97A8', fontFamily: '微软雅黑' }}&gt;答辩人&lt;/Text&gt;&#13;&#10;            &lt;Text style={{ fontSize: 20, fontWeight: 'bold', color: '#1A2230', fontFamily: '微软雅黑' }}&gt;李金盛&lt;/Text&gt;&#13;&#10;        &lt;/Box&gt;&#13;&#10;        &lt;Box style={{ flexDirection: 'column', gap: 4 }}&gt;&#13;&#10;            &lt;Text style={{ fontSize: 14, color: '#8B97A8', fontFamily: '微软雅黑' }}&gt;学号&lt;/Text&gt;&#13;&#10;            &lt;Text style={{ fontSize: 20, color: '#1A2230', fontFamily: '微软雅黑' }}&gt;2021000000&lt;/Text&gt;&#13;&#10;        &lt;/Box&gt;&#13;&#10;        &lt;Box style={{ flexDirection: 'column', gap: 4 }}&gt;&#13;&#10;            &lt;Text style={{ fontSize: 14, color: '#8B97A8', fontFamily: '微软雅黑' }}&gt;专业&lt;/Text&gt;&#13;&#10;            &lt;Text style={{ fontSize: 20, color: '#1A2230', fontFamily: '微软雅黑' }}&gt;计算机科学与技术&lt;/Text&gt;&#13;&#10;        &lt;/Box&gt;&#13;&#10;        &lt;Box style={{ flexDirection: 'column', gap: 4 }}&gt;&#13;&#10;            &lt;Text style={{ fontSize: 14, color: '#8B97A8', fontFamily: '微软雅黑' }}&gt;指导老师&lt;/Text&gt;&#13;&#10;            &lt;Text style={{ fontSize: 20, color: '#1A2230', fontFamily: '微软雅黑' }}&gt;待填写&lt;/Text&gt;&#13;&#10;        &lt;/Box&gt;&#13;&#10;        &lt;Box style={{ flexDirection: 'column', gap: 4 }}&gt;&#13;&#10;            &lt;Text style={{ fontSize: 14, color: '#8B97A8', fontFamily: '微软雅黑' }}&gt;答辩日期&lt;/Text&gt;&#13;&#10;            &lt;Text style={{ fontSize: 20, color: '#1A2230', fontFamily: '微软雅黑' }}&gt;2026年9月29日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1734800" y="4572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914400" y="16383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1895475"/>
            <a:ext cx="10363200" cy="16192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0E3F8C"/>
                </a:solidFill>
                <a:latin typeface="微软雅黑"/>
                <a:ea typeface="微软雅黑"/>
              </a:rPr>
              <a:t>基于</a:t>
            </a:r>
            <a:r>
              <a:rPr lang="en-US" sz="4500" b="1">
                <a:solidFill>
                  <a:srgbClr val="0E3F8C"/>
                </a:solidFill>
                <a:latin typeface="微软雅黑"/>
                <a:ea typeface="微软雅黑"/>
              </a:rPr>
              <a:t> Text2SQL </a:t>
            </a:r>
            <a:r>
              <a:rPr lang="zh-CN" sz="4500" b="1">
                <a:solidFill>
                  <a:srgbClr val="0E3F8C"/>
                </a:solidFill>
                <a:latin typeface="微软雅黑"/>
                <a:ea typeface="微软雅黑"/>
              </a:rPr>
              <a:t>的</a:t>
            </a:r>
            <a:endParaRPr/>
          </a:p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0E3F8C"/>
                </a:solidFill>
                <a:latin typeface="微软雅黑"/>
                <a:ea typeface="微软雅黑"/>
              </a:rPr>
              <a:t>电商数据分析</a:t>
            </a:r>
            <a:r>
              <a:rPr lang="en-US" sz="4500" b="1">
                <a:solidFill>
                  <a:srgbClr val="0E3F8C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3724275"/>
            <a:ext cx="10363200" cy="638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600">
                <a:solidFill>
                  <a:srgbClr val="3D7BD9"/>
                </a:solidFill>
                <a:latin typeface="Times New Roman"/>
                <a:ea typeface="Times New Roman"/>
              </a:rPr>
              <a:t>A Trustworthy Text-to-SQL Analytics Agent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914400" y="4629150"/>
            <a:ext cx="10287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4848225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150">
                <a:solidFill>
                  <a:srgbClr val="4A5568"/>
                </a:solidFill>
                <a:latin typeface="微软雅黑"/>
                <a:ea typeface="微软雅黑"/>
              </a:rPr>
              <a:t>口径集中配置</a:t>
            </a:r>
            <a:r>
              <a:rPr lang="en-US" sz="1950" spc="150">
                <a:solidFill>
                  <a:srgbClr val="4A5568"/>
                </a:solidFill>
                <a:latin typeface="微软雅黑"/>
                <a:ea typeface="微软雅黑"/>
              </a:rPr>
              <a:t> · </a:t>
            </a:r>
            <a:r>
              <a:rPr lang="zh-CN" sz="1950" spc="150">
                <a:solidFill>
                  <a:srgbClr val="4A5568"/>
                </a:solidFill>
                <a:latin typeface="微软雅黑"/>
                <a:ea typeface="微软雅黑"/>
              </a:rPr>
              <a:t>执行前校验</a:t>
            </a:r>
            <a:r>
              <a:rPr lang="en-US" sz="1950" spc="150">
                <a:solidFill>
                  <a:srgbClr val="4A5568"/>
                </a:solidFill>
                <a:latin typeface="微软雅黑"/>
                <a:ea typeface="微软雅黑"/>
              </a:rPr>
              <a:t> · </a:t>
            </a:r>
            <a:r>
              <a:rPr lang="zh-CN" sz="1950" spc="150">
                <a:solidFill>
                  <a:srgbClr val="4A5568"/>
                </a:solidFill>
                <a:latin typeface="微软雅黑"/>
                <a:ea typeface="微软雅黑"/>
              </a:rPr>
              <a:t>结果可追溯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0" y="5867400"/>
            <a:ext cx="12192000" cy="990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61531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答辩人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14400" y="63531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李金盛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819400" y="61531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学号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819400" y="6353175"/>
            <a:ext cx="104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2021000000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210175" y="615315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专业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210175" y="63531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计算机科学与技术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67675" y="61531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指导老师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067675" y="63531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待填写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972675" y="6153150"/>
            <a:ext cx="130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答辩日期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6353175"/>
            <a:ext cx="1304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2026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年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9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月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29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2" name="" descr="&lt;Slide style={{ background: '#FFFFFF', padding: 0, flexDirection: 'row' }}&gt;&#13;&#10;    {/* 左侧深蓝栏 */}&#13;&#10;    &lt;Box style={{&#13;&#10;        width: 380, height: '100%', background: '#0E3F8C',&#13;&#10;        flexDirection: 'column', justifyContent: 'center', padding: '0 48px', gap: 18,&#13;&#10;    }}&gt;&#13;&#10;        &lt;Box style={{ width: 64, height: 5, background: '#3D7BD9' }} /&gt;&#13;&#10;        &lt;Text style={{ fontSize: 56, fontWeight: 'bold', color: '#FFFFFF', fontFamily: '微软雅黑', lineHeight: 1.2 }}&gt;&#13;&#10;            目录&#13;&#10;        &lt;/Text&gt;&#13;&#10;        &lt;Text style={{ fontSize: 22, color: 'rgba(255,255,255,0.62)', fontFamily: 'Times New Roman', letterSpacing: 3 }}&gt;&#13;&#10;            CONTENTS&#13;&#10;        &lt;/Text&gt;&#13;&#10;        &lt;Text style={{ fontSize: 15, color: 'rgba(255,255,255,0.55)', fontFamily: '微软雅黑', marginTop: 26, lineHeight: 1.9 }}&gt;&#13;&#10;            16 页 · 讲解 12–15 分钟&lt;br /&gt;第 10 至 13 页为可信性设计&#13;&#10;        &lt;/Text&gt;&#13;&#10;    &lt;/Box&gt;&#13;&#10;&#13;&#10;    {/* 右侧条目 */}&#13;&#10;    &lt;Box style={{&#13;&#10;        flex: 1, flexDirection: 'column', justifyContent: 'center',&#13;&#10;        padding: '0 64px', gap: 20,&#13;&#10;    }}&gt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1&lt;/Text&gt;&#13;&#10;            &lt;/Box&gt;&#13;&#10;            &lt;Box style={{ flexDirection: 'column', gap: 3 }}&gt;&#13;&#10;                &lt;Text style={{ fontSize: 26, fontWeight: 'bold', color: '#1A2230', fontFamily: '微软雅黑' }}&gt;选题与目标&lt;/Text&gt;&#13;&#10;                &lt;Text style={{ fontSize: 17, color: '#8B97A8', fontFamily: '微软雅黑' }}&gt;业务取数的等待链路，以及本项目的验收口径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2&lt;/Text&gt;&#13;&#10;            &lt;/Box&gt;&#13;&#10;            &lt;Box style={{ flexDirection: 'column', gap: 3 }}&gt;&#13;&#10;                &lt;Text style={{ fontSize: 26, fontWeight: 'bold', color: '#1A2230', fontFamily: '微软雅黑' }}&gt;系统设计&lt;/Text&gt;&#13;&#10;                &lt;Text style={{ fontSize: 17, color: '#8B97A8', fontFamily: '微软雅黑' }}&gt;六层架构、语义层、八节点状态机与安全沙箱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3&lt;/Text&gt;&#13;&#10;            &lt;/Box&gt;&#13;&#10;            &lt;Box style={{ flexDirection: 'column', gap: 3 }}&gt;&#13;&#10;                &lt;Text style={{ fontSize: 26, fontWeight: 'bold', color: '#1A2230', fontFamily: '微软雅黑' }}&gt;可信性设计&lt;/Text&gt;&#13;&#10;                &lt;Text style={{ fontSize: 17, color: '#8B97A8', fontFamily: '微软雅黑' }}&gt;口径签名、数字回溯、审计留痕与边界诚实性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4&lt;/Text&gt;&#13;&#10;            &lt;/Box&gt;&#13;&#10;            &lt;Box style={{ flexDirection: 'column', gap: 3 }}&gt;&#13;&#10;                &lt;Text style={{ fontSize: 26, fontWeight: 'bold', color: '#1A2230', fontFamily: '微软雅黑' }}&gt;验证与演示&lt;/Text&gt;&#13;&#10;                &lt;Text style={{ fontSize: 17, color: '#8B97A8', fontFamily: '微软雅黑' }}&gt;真实模型下的六个运行场景与十组评测结果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5&lt;/Text&gt;&#13;&#10;            &lt;/Box&gt;&#13;&#10;            &lt;Box style={{ flexDirection: 'column', gap: 3 }}&gt;&#13;&#10;                &lt;Text style={{ fontSize: 26, fontWeight: 'bold', color: '#1A2230', fontFamily: '微软雅黑' }}&gt;总结与展望&lt;/Text&gt;&#13;&#10;                &lt;Text style={{ fontSize: 17, color: '#8B97A8', fontFamily: '微软雅黑' }}&gt;已实现的能力、明确不做的范围与后续演进&lt;/Text&gt;&#13;&#10;            &lt;/Box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457200" y="2181225"/>
            <a:ext cx="609600" cy="476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57200" y="2400300"/>
            <a:ext cx="27051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57200" y="3343275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225">
                <a:solidFill>
                  <a:srgbClr val="FFFFFF">
                    <a:alpha val="62000"/>
                  </a:srgbClr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57200" y="4019550"/>
            <a:ext cx="27051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16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页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讲解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12–15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分钟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10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至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13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页为可信性设计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229100" y="136207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343400" y="14573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857750" y="1314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选题与目标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857750" y="16478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业务取数的等待链路，以及本项目的验收口径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229100" y="2038350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4229100" y="228600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343400" y="23812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857750" y="2238375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857750" y="25717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六层架构、语义层、八节点状态机与安全沙箱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229100" y="2962275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4229100" y="320992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343400" y="33051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857750" y="31623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857750" y="349567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口径签名、数字回溯、审计留痕与边界诚实性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229100" y="3886200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4229100" y="413385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343400" y="4229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857750" y="4086225"/>
            <a:ext cx="3076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验证与演示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57750" y="44196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真实模型下的六个运行场景与十组评测结果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229100" y="4810125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4229100" y="505777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343400" y="5153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857750" y="5010150"/>
            <a:ext cx="3076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总结与展望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857750" y="5343525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已实现的能力、明确不做的范围与后续演进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2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业务要一个数，要等多久&#13;&#10;            &lt;/Text&gt;&#13;&#10;        &lt;/Box&gt;&#13;&#10;        &lt;Text style={{ fontSize: 15, color: 'rgba(255,255,255,0.7)', fontFamily: '微软雅黑' }}&gt;&#13;&#10;            选题背景&#13;&#10;        &lt;/Text&gt;&#13;&#10;    &lt;/Box&gt;&#13;&#10;&#13;&#10;    {/* C 内容区 */}&#13;&#10;    &lt;Box style={{ flex: 1, flexDirection: 'column', padding: '36px 40px 0 40px', gap: 22 }}&gt;&#13;&#10;        &lt;Text style={{ fontSize: 22, color: '#1A2230', lineHeight: 1.8, fontFamily: '微软雅黑', textAlign: 'justify' }}&gt;&#13;&#10;            在电商团队里，一个简单的问题往往要走完一条漫长的链路：业务提需求，分析师对口径，写 SQL 到数仓取数，导出表格，再做成图表回复。慢的不是某一环，而是每一环都在重复消耗同一件事——口径。&#13;&#10;            &lt;br /&gt;&lt;br /&gt;&#13;&#10;            同一句「上个月卖得怎么样」，运营说的是成交额，仓储说的是发货件数，财务说的是剔除退款后的净额。三人各写一遍 SQL，各得一组数字，彼此不知道另外两组的存在。&#13;&#10;            &lt;br /&gt;&lt;br /&gt;&#13;&#10;            让机器接管这条链路，困难不在写不出 SQL，而在它可能算错了量却仍返回一个正常的数字。问毛利它算成交额，问客单价它算成交额，不分组的问题它凭空补一个时间列。这类语句能通过语法检查、能执行、有数据，全程不报错。&#13;&#10;        &lt;/Text&gt;&#13;&#10;&#13;&#10;        {/* 底部强调句 */}&#13;&#10;        &lt;Box style={{&#13;&#10;            width: '100%', height: 78, background: '#E8EFF8',&#13;&#10;            border: { left: { width: 5, color: '#1E4FA8' } },&#13;&#10;            flexDirection: 'row', alignItems: 'center', padding: '0 28px',&#13;&#10;        }}&gt;&#13;&#10;            &lt;Text style={{ fontSize: 23, color: '#0E3F8C', fontWeight: 'bold', fontFamily: '微软雅黑', lineHeight: 1.5 }}&gt;&#13;&#10;                本项目要解决的不是「能不能出数」，而是「出的数凭什么可信」。&#13;&#10;            &lt;/Text&gt;&#13;&#10;        &lt;/Box&gt;&#13;&#10;    &lt;/Box&gt;&#13;&#10;&#13;&#10;    {/* D 页脚 */}&#13;&#10;    &lt;Box style={{&#13;&#10;        width: '100%', height: 40, flexDirection: 'row',&#13;&#10;        alignItems: 'center', justifyContent: 'space-between', padding: '0 40px',&#13;&#10;    }}&gt;&#13;&#10;        &lt;Text style={{ fontSize: 14, color: '#8B97A8', fontFamily: '微软雅黑' }}&gt;Text2SQL 电商数据分析 Agent&lt;/Text&gt;&#13;&#10;        &lt;Text style={{ fontSize: 15, color: '#1E4FA8', fontFamily: 'Times New Roman' }}&gt;03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业务要一个数，要等多久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选题背景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1000" y="1028700"/>
            <a:ext cx="11430000" cy="3629025"/>
          </a:xfrm>
          <a:prstGeom prst="rect"/>
        </p:spPr>
        <p:txBody>
          <a:bodyPr wrap="square" lIns="0" tIns="0" rIns="0" bIns="0">
            <a:normAutofit/>
          </a:bodyPr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在电商团队里，一个简单的问题往往要走完一条漫长的链路：业务提需求，分析师对口径，写</a:t>
            </a:r>
            <a:r>
              <a:rPr lang="en-US" sz="1650">
                <a:solidFill>
                  <a:srgbClr val="1A2230"/>
                </a:solidFill>
                <a:latin typeface="微软雅黑"/>
                <a:ea typeface="微软雅黑"/>
              </a:rPr>
              <a:t> SQL </a:t>
            </a: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到数仓取数，导出表格，再做成图表回复。慢的不是某一环，而是每一环都在重复消耗同一件事——口径。</a:t>
            </a:r>
            <a:endParaRPr/>
          </a:p>
          <a:p>
            <a:pPr algn="just"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同一句「上个月卖得怎么样」，运营说的是成交额，仓储说的是发货件数，财务说的是剔除退款后的净额。三人各写一遍</a:t>
            </a:r>
            <a:r>
              <a:rPr lang="en-US" sz="1650">
                <a:solidFill>
                  <a:srgbClr val="1A2230"/>
                </a:solidFill>
                <a:latin typeface="微软雅黑"/>
                <a:ea typeface="微软雅黑"/>
              </a:rPr>
              <a:t> SQL</a:t>
            </a: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，各得一组数字，彼此不知道另外两组的存在。</a:t>
            </a:r>
            <a:endParaRPr/>
          </a:p>
          <a:p>
            <a:pPr algn="just"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让机器接管这条链路，困难不在写不出</a:t>
            </a:r>
            <a:r>
              <a:rPr lang="en-US" sz="1650">
                <a:solidFill>
                  <a:srgbClr val="1A2230"/>
                </a:solidFill>
                <a:latin typeface="微软雅黑"/>
                <a:ea typeface="微软雅黑"/>
              </a:rPr>
              <a:t> SQL</a:t>
            </a: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，而在它可能算错了量却仍返回一个正常的数字。问毛利它算成交额，问客单价它算成交额，不分组的问题它凭空补一个时间列。这类语句能通过语法检查、能执行、有数据，全程不报错。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" y="4867275"/>
            <a:ext cx="11430000" cy="742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47700" y="5038725"/>
            <a:ext cx="65722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0E3F8C"/>
                </a:solidFill>
                <a:latin typeface="微软雅黑"/>
                <a:ea typeface="微软雅黑"/>
              </a:rPr>
              <a:t>本项目要解决的不是「能不能出数」，而是「出的数凭什么可信」。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34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做到什么程度才算成&#13;&#10;            &lt;/Text&gt;&#13;&#10;        &lt;/Box&gt;&#13;&#10;        &lt;Text style={{ fontSize: 15, color: 'rgba(255,255,255,0.7)', fontFamily: '微软雅黑' }}&gt;&#13;&#10;            选题背景&#13;&#10;        &lt;/Text&gt;&#13;&#10;    &lt;/Box&gt;&#13;&#10;&#13;&#10;    &lt;Box style={{ flex: 1, flexDirection: 'column', padding: '32px 40px 0 40px', gap: 22 }}&gt;&#13;&#10;        {/* 引导句 */}&#13;&#10;        &lt;Text style={{ fontSize: 22, color: '#4A5568', fontFamily: '微软雅黑' }}&gt;&#13;&#10;            三条验收判据先定下来，再做实现。每一条都落到可以逐项核对的机制上，而不是一句「能跑通」。&#13;&#10;        &lt;/Text&gt;&#13;&#10;&#13;&#10;        {/* KPI 四联数 */}&#13;&#10;        &lt;Box style={{ flexDirection: 'row', gap: 18 }}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7&lt;/Text&gt;&#13;&#10;                &lt;Text style={{ fontSize: 17, color: '#4A5568', fontFamily: '微软雅黑' }}&gt;语义层登记指标&lt;/Text&gt;&#13;&#10;            &lt;/Box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9&lt;/Text&gt;&#13;&#10;                &lt;Text style={{ fontSize: 17, color: '#4A5568', fontFamily: '微软雅黑' }}&gt;SQL 守卫规则&lt;/Text&gt;&#13;&#10;            &lt;/Box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8&lt;/Text&gt;&#13;&#10;                &lt;Text style={{ fontSize: 17, color: '#4A5568', fontFamily: '微软雅黑' }}&gt;状态机业务节点&lt;/Text&gt;&#13;&#10;            &lt;/Box&gt;&#13;&#10;            &lt;Box style={{ flex: 1, height: 148, background: '#E8EFF8', border: { top: { width: 4, color: '#D9534F' } }, flexDirection: 'column', justifyContent: 'center', alignItems: 'center', gap: 6 }}&gt;&#13;&#10;                &lt;Text style={{ fontSize: 72, fontWeight: 'bold', color: '#0E3F8C', fontFamily: 'Times New Roman', lineHeight: 1 }}&gt;520&lt;/Text&gt;&#13;&#10;                &lt;Text style={{ fontSize: 17, color: '#4A5568', fontFamily: '微软雅黑' }}&gt;单元测试通过&lt;/Text&gt;&#13;&#10;            &lt;/Box&gt;&#13;&#10;        &lt;/Box&gt;&#13;&#10;&#13;&#10;        {/* 验收口径表 */}&#13;&#10;        &lt;Table&#13;&#10;            style={{ width: '100%', height: 246 }}&#13;&#10;            defaultTextStyle={{ fontSize: 18, textAlign: 'left', color: '#1A2230', fontFamily: '微软雅黑' }}&#13;&#10;            defaultCellStyle={{&#13;&#10;                border: {&#13;&#10;                    left: { width: 1, color: '#D6DCE5' },&#13;&#10;                    right: { width: 1, color: '#D6DCE5' },&#13;&#10;                    top: { width: 1, color: '#D6DCE5' },&#13;&#10;                    bottom: { width: 1, color: '#D6DCE5' },&#13;&#10;                },&#13;&#10;                padding: { left: 16, right: 16, top: 10, bottom: 10 },&#13;&#10;            }}&#13;&#10;            cells={[&#13;&#10;                [&#13;&#10;                    { text: '验收维度', textStyle: { bold: true, color: '#FFFFFF', fontSize: 19 }, cellStyle: { background: { color: '#0E3F8C' } } },&#13;&#10;                    { text: '判据', textStyle: { bold: true, color: '#FFFFFF', fontSize: 19 }, cellStyle: { background: { color: '#0E3F8C' } } },&#13;&#10;                    { text: '当前状态（实测）', textStyle: { bold: true, color: '#FFFFFF', fontSize: 19 }, cellStyle: { background: { color: '#0E3F8C' } } },&#13;&#10;                ],&#13;&#10;                [&#13;&#10;                    { text: '口径可追溯', textStyle: { bold: true, color: '#1E4FA8' } },&#13;&#10;                    '每个业务指标的聚合表达式在语义层显式声明，不由模型临场决定',&#13;&#10;                    { text: '7 个指标全部登记，含必带过滤条件与口径边界说明', textStyle: { color: '#4A5568' } },&#13;&#10;                ],&#13;&#10;                [&#13;&#10;                    { text: '过程可核对', textStyle: { bold: true, color: '#1E4FA8' }, cellStyle: { background: { color: '#F7F9FC' } } },&#13;&#10;                    { text: '每轮回答可展开执行的 SQL、阶段时序与采用的指标口径', cellStyle: { background: { color: '#F7F9FC' } } },&#13;&#10;                    { text: '8 节点全链路留痕，前端逐项可查', textStyle: { color: '#4A5568' }, cellStyle: { background: { color: '#F7F9FC' } } },&#13;&#10;                ],&#13;&#10;                [&#13;&#10;                    { text: '越权不发生', textStyle: { bold: true, color: '#1E4FA8' } },&#13;&#10;                    '非查询语句、未登记的表与字段，在执行之前就被拒绝',&#13;&#10;                    { text: '9 条规则 + 520 条测试覆盖，安全组 8 项全通过', textStyle: { color: '#4A5568' } },&#13;&#10;                ],&#13;&#10;            ]}&#13;&#10;        /&gt;&#13;&#10;&#13;&#10;        &lt;Text style={{ fontSize: 14, color: '#8B97A8', fontFamily: '微软雅黑' }}&gt;&#13;&#10;            数据来源：GET /api/health 与 backend/app/db/guard.py、agent/graph.py；测试数取自 2026-09-29 本机 pytest -q 实跑结果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4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做到什么程度才算成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选题背景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微软雅黑"/>
                <a:ea typeface="微软雅黑"/>
              </a:rPr>
              <a:t>三条验收判据先定下来，再做实现。每一条都落到可以逐项核对的机制上，而不是一句「能跑通」。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381000" y="1457325"/>
            <a:ext cx="2733675" cy="1409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581150" y="1619250"/>
            <a:ext cx="342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7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81100" y="250507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语义层登记指标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3286125" y="1457325"/>
            <a:ext cx="2724150" cy="1409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476750" y="1619250"/>
            <a:ext cx="342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9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152900" y="2505075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守卫规则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181725" y="1457325"/>
            <a:ext cx="2733675" cy="1409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381875" y="1619250"/>
            <a:ext cx="342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8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981825" y="250507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状态机业务节点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9086850" y="1457325"/>
            <a:ext cx="2724150" cy="1409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9934575" y="1619250"/>
            <a:ext cx="10287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520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963150" y="25050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单元测试通过</a:t>
            </a:r>
            <a:endParaRPr/>
          </a:p>
        </p:txBody>
      </p:sp>
      <p:graphicFrame>
        <p:nvGraphicFramePr>
          <p:cNvPr id="353" name=""/>
          <p:cNvGraphicFramePr/>
          <p:nvPr/>
        </p:nvGraphicFramePr>
        <p:xfrm rot="0" flipH="0" flipV="0">
          <a:off x="381000" y="3076575"/>
          <a:ext cx="11430000" cy="2343150"/>
        </p:xfrm>
        <a:graphic>
          <a:graphicData uri="http://schemas.openxmlformats.org/drawingml/2006/table">
            <a:tbl>
              <a:tblGrid>
                <a:gridCol w="1081334">
                  <a:extLst>
                    <a:ext uri="{9D8B030D-6E8A-4147-A177-3AD203B41FA5}">
                      <a16:colId val="1"/>
                    </a:ext>
                  </a:extLst>
                </a:gridCol>
                <a:gridCol w="5771455">
                  <a:extLst>
                    <a:ext uri="{9D8B030D-6E8A-4147-A177-3AD203B41FA5}">
                      <a16:colId val="2"/>
                    </a:ext>
                  </a:extLst>
                </a:gridCol>
                <a:gridCol w="457721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1012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验收维度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当前状态（实测）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76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/>
                          <a:ea typeface="微软雅黑"/>
                        </a:rPr>
                        <a:t>口径可追溯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每个业务指标的聚合表达式在语义层显式声明，不由模型临场决定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/>
                          <a:ea typeface="微软雅黑"/>
                        </a:rPr>
                        <a:t>7 个指标全部登记，含必带过滤条件与口径边界说明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776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/>
                          <a:ea typeface="微软雅黑"/>
                        </a:rPr>
                        <a:t>过程可核对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每轮回答可展开执行的 SQL、阶段时序与采用的指标口径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/>
                          <a:ea typeface="微软雅黑"/>
                        </a:rPr>
                        <a:t>8 节点全链路留痕，前端逐项可查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776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/>
                          <a:ea typeface="微软雅黑"/>
                        </a:rPr>
                        <a:t>越权不发生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非查询语句、未登记的表与字段，在执行之前就被拒绝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/>
                          <a:ea typeface="微软雅黑"/>
                        </a:rPr>
                        <a:t>9 条规则 + 520 条测试覆盖，安全组 8 项全通过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81000" y="56292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GET /api/health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backend/app/db/guard.py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、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agent/graph.py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；测试数取自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2026-09-29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本机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pytest -q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实跑结果。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57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六层职责，单进程部署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8px 40px 0 40px', gap: 18 }}&gt;&#13;&#10;        {/* 六层分层图 */}&#13;&#10;        &lt;Box style={{ flexDirection: 'row', alignItems: 'center', gap: 12 }}&gt;&#13;&#10;            &lt;Box style={{ width: 168, height: 52, background: '#0E3F8C', borderRadius: 3, alignItems: 'center', justifyContent: 'center' }}&gt;&#13;&#10;                &lt;Text style={{ fontSize: 24, fontWeight: 'bold', color: '#FFFFFF', fontFamily: 'Times New Roman' }}&gt;api&lt;/Text&gt;&#13;&#10;            &lt;/Box&gt;&#13;&#10;            &lt;Box style={{ flex: 1, height: 52, background: '#F7F9FC', border: { left: { width: 3, color: '#0E3F8C' } }, flexDirection: 'row', alignItems: 'center', padding: '0 18px' }}&gt;&#13;&#10;                &lt;Text style={{ fontSize: 21, color: '#1A2230', fontFamily: '微软雅黑' }}&gt;&#13;&#10;                    接口层 · FastAPI 路由、SSE 流式推送、会话与审计查询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0E3F8C', borderRadius: 3, alignItems: 'center', justifyContent: 'center' }}&gt;&#13;&#10;                &lt;Text style={{ fontSize: 24, fontWeight: 'bold', color: '#FFFFFF', fontFamily: 'Times New Roman' }}&gt;agent&lt;/Text&gt;&#13;&#10;            &lt;/Box&gt;&#13;&#10;            &lt;Box style={{ flex: 1, height: 52, background: '#F7F9FC', border: { left: { width: 3, color: '#0E3F8C' } }, flexDirection: 'row', alignItems: 'center', padding: '0 18px' }}&gt;&#13;&#10;                &lt;Text style={{ fontSize: 21, color: '#1A2230', fontFamily: '微软雅黑' }}&gt;&#13;&#10;                    编排层 · LangGraph 状态机，八个业务节点与重试回环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1E4FA8', borderRadius: 3, alignItems: 'center', justifyContent: 'center' }}&gt;&#13;&#10;                &lt;Text style={{ fontSize: 24, fontWeight: 'bold', color: '#FFFFFF', fontFamily: 'Times New Roman' }}&gt;semantic&lt;/Text&gt;&#13;&#10;            &lt;/Box&gt;&#13;&#10;            &lt;Box style={{ flex: 1, height: 52, background: '#F7F9FC', border: { left: { width: 3, color: '#1E4FA8' } }, flexDirection: 'row', alignItems: 'center', padding: '0 18px' }}&gt;&#13;&#10;                &lt;Text style={{ fontSize: 21, color: '#1A2230', fontFamily: '微软雅黑' }}&gt;&#13;&#10;                    语义层 · 指标口径与表元数据，纯函数，不调模型也不连库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1E4FA8', borderRadius: 3, alignItems: 'center', justifyContent: 'center' }}&gt;&#13;&#10;                &lt;Text style={{ fontSize: 24, fontWeight: 'bold', color: '#FFFFFF', fontFamily: 'Times New Roman' }}&gt;llm&lt;/Text&gt;&#13;&#10;            &lt;/Box&gt;&#13;&#10;            &lt;Box style={{ flex: 1, height: 52, background: '#F7F9FC', border: { left: { width: 3, color: '#1E4FA8' } }, flexDirection: 'row', alignItems: 'center', padding: '0 18px' }}&gt;&#13;&#10;                &lt;Text style={{ fontSize: 21, color: '#1A2230', fontFamily: '微软雅黑' }}&gt;&#13;&#10;                    模型层 · Prompt 组装、结构化输出校验、失败重试与降级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3D7BD9', borderRadius: 3, alignItems: 'center', justifyContent: 'center' }}&gt;&#13;&#10;                &lt;Text style={{ fontSize: 24, fontWeight: 'bold', color: '#FFFFFF', fontFamily: 'Times New Roman' }}&gt;db&lt;/Text&gt;&#13;&#10;            &lt;/Box&gt;&#13;&#10;            &lt;Box style={{ flex: 1, height: 52, background: '#F7F9FC', border: { left: { width: 3, color: '#3D7BD9' } }, flexDirection: 'row', alignItems: 'center', padding: '0 18px' }}&gt;&#13;&#10;                &lt;Text style={{ fontSize: 21, color: '#1A2230', fontFamily: '微软雅黑' }}&gt;&#13;&#10;                    数据层 · Repository 抽象、九条 SQL 守卫、SQLite 只读连接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3D7BD9', borderRadius: 3, alignItems: 'center', justifyContent: 'center' }}&gt;&#13;&#10;                &lt;Text style={{ fontSize: 24, fontWeight: 'bold', color: '#FFFFFF', fontFamily: 'Times New Roman' }}&gt;chart&lt;/Text&gt;&#13;&#10;            &lt;/Box&gt;&#13;&#10;            &lt;Box style={{ flex: 1, height: 52, background: '#F7F9FC', border: { left: { width: 3, color: '#3D7BD9' } }, flexDirection: 'row', alignItems: 'center', padding: '0 18px' }}&gt;&#13;&#10;                &lt;Text style={{ fontSize: 21, color: '#1A2230', fontFamily: '微软雅黑' }}&gt;&#13;&#10;                    展现层 · 图型选择规则与 ECharts 配置生成，前端只负责渲染&#13;&#10;                &lt;/Text&gt;&#13;&#10;            &lt;/Box&gt;&#13;&#10;        &lt;/Box&gt;&#13;&#10;&#13;&#10;        {/* 三条硬约束 */}&#13;&#10;        &lt;Box style={{ flexDirection: 'row', gap: 14, marginTop: 4 }}&gt;&#13;&#10;            &lt;Box style={{ flex: 1, background: '#E8EFF8', padding: '12px 16px', flexDirection: 'column', gap: 4 }}&gt;&#13;&#10;                &lt;Text style={{ fontSize: 20, fontWeight: 'bold', color: '#0E3F8C', fontFamily: '微软雅黑' }}&gt;约束一&lt;/Text&gt;&#13;&#10;                &lt;Text style={{ fontSize: 18, color: '#4A5568', fontFamily: '微软雅黑', lineHeight: 1.5 }}&gt;&#13;&#10;                    节点层不出现数据库连接，只能调仓储层暴露的方法&#13;&#10;                &lt;/Text&gt;&#13;&#10;            &lt;/Box&gt;&#13;&#10;            &lt;Box style={{ flex: 1, background: '#E8EFF8', padding: '12px 16px', flexDirection: 'column', gap: 4 }}&gt;&#13;&#10;                &lt;Text style={{ fontSize: 20, fontWeight: 'bold', color: '#0E3F8C', fontFamily: '微软雅黑' }}&gt;约束二&lt;/Text&gt;&#13;&#10;                &lt;Text style={{ fontSize: 18, color: '#4A5568', fontFamily: '微软雅黑', lineHeight: 1.5 }}&gt;&#13;&#10;                    语义层不调用模型、不执行 SQL，保持纯函数&#13;&#10;                &lt;/Text&gt;&#13;&#10;            &lt;/Box&gt;&#13;&#10;            &lt;Box style={{ flex: 1, background: '#E8EFF8', padding: '12px 16px', flexDirection: 'column', gap: 4 }}&gt;&#13;&#10;                &lt;Text style={{ fontSize: 20, fontWeight: 'bold', color: '#0E3F8C', fontFamily: '微软雅黑' }}&gt;约束三&lt;/Text&gt;&#13;&#10;                &lt;Text style={{ fontSize: 18, color: '#4A5568', fontFamily: '微软雅黑', lineHeight: 1.5 }}&gt;&#13;&#10;                    密钥只出现在环境配置，代码与配置文件中不出现字面量&#13;&#10;                &lt;/Text&gt;&#13;&#10;            &lt;/Box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六层职责，单进程部署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381000" y="9525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28700" y="1066800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api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2095500" y="95250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2266950" y="1076325"/>
            <a:ext cx="4924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接口层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FastAPI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路由、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SSE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流式推送、会话与审计查询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381000" y="16192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914400" y="17335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agent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2095500" y="161925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2266950" y="174307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编排层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LangGraph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状态机，八个业务节点与重试回环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381000" y="22860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52475" y="2400300"/>
            <a:ext cx="866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semantic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2095500" y="228600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266950" y="2409825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语义层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指标口径与表元数据，纯函数，不调模型也不连库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381000" y="29527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19175" y="306705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llm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2095500" y="295275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2266950" y="3076575"/>
            <a:ext cx="5095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模型层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Prompt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组装、结构化输出校验、失败重试与降级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381000" y="36195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057275" y="373380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db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2095500" y="361950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2266950" y="3743325"/>
            <a:ext cx="5305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数据层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Repository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抽象、九条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SQL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守卫、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SQLite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只读连接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381000" y="42862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23925" y="4400550"/>
            <a:ext cx="523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chart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2095500" y="428625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2266950" y="4410075"/>
            <a:ext cx="5400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展现层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图型选择规则与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ECharts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配置生成，前端只负责渲染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381000" y="4991100"/>
            <a:ext cx="3724275" cy="11144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33400" y="5105400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约束一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33400" y="5372100"/>
            <a:ext cx="3419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节点层不出现数据库连接，只能调仓储层暴露的方法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238625" y="4991100"/>
            <a:ext cx="3714750" cy="11144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391025" y="5105400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约束二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391025" y="5372100"/>
            <a:ext cx="34099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语义层不调用模型、不执行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 SQL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，保持纯函数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086725" y="4991100"/>
            <a:ext cx="3724275" cy="11144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239125" y="5105400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约束三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239125" y="5372100"/>
            <a:ext cx="3419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密钥只出现在环境配置，代码与配置文件中不出现字面量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98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每个选择都有对应的约束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4px 40px 0 40px', gap: 10 }}&gt;&#13;&#10;        &lt;Text style={{ fontSize: 21, color: '#4A5568', fontFamily: '微软雅黑' }}&gt;&#13;&#10;            选型不是按流行度排的，每一项都能指回一条必须满足的约束。版本号为本机实测，不是文档里的参考值。&#13;&#10;        &lt;/Text&gt;&#13;&#10;&#13;&#10;        {/* 表头 */}&#13;&#10;        &lt;Box style={{ flexDirection: 'row', alignItems: 'center', height: 44, background: '#0E3F8C', padding: '0 16px' }}&gt;&#13;&#10;            &lt;Text style={{ width: 300, fontSize: 19, fontWeight: 'bold', color: '#FFFFFF', fontFamily: '微软雅黑' }}&gt;技术选择&lt;/Text&gt;&#13;&#10;            &lt;Text style={{ width: 140, fontSize: 19, fontWeight: 'bold', color: '#FFFFFF', fontFamily: '微软雅黑' }}&gt;版本&lt;/Text&gt;&#13;&#10;            &lt;Text style={{ flex: 1, fontSize: 19, fontWeight: 'bold', color: '#FFFFFF', fontFamily: '微软雅黑' }}&gt;对应约束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LangGraph&lt;/Text&gt;&#13;&#10;            &lt;Text style={{ width: 140, fontSize: 18, color: '#4A5568', fontFamily: 'Times New Roman' }}&gt;1.2.11&lt;/Text&gt;&#13;&#10;            &lt;Text style={{ flex: 1, fontSize: 19, color: '#1A2230', fontFamily: '微软雅黑' }}&gt;需要带条件分支与重试回环的编排，不是一条线性链路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sqlglot&lt;/Text&gt;&#13;&#10;            &lt;Text style={{ width: 140, fontSize: 18, color: '#4A5568', fontFamily: 'Times New Roman' }}&gt;30.18.0&lt;/Text&gt;&#13;&#10;            &lt;Text style={{ flex: 1, fontSize: 19, color: '#1A2230', fontFamily: '微软雅黑' }}&gt;需要在执行前把语句解析成语法树，才能做表字段白名单校验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FastAPI&lt;/Text&gt;&#13;&#10;            &lt;Text style={{ width: 140, fontSize: 18, color: '#4A5568', fontFamily: 'Times New Roman' }}&gt;0.141.1&lt;/Text&gt;&#13;&#10;            &lt;Text style={{ flex: 1, fontSize: 19, color: '#1A2230', fontFamily: '微软雅黑' }}&gt;需要服务端推送与结构化请求校验，前端要看到逐节点的进度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Pydantic&lt;/Text&gt;&#13;&#10;            &lt;Text style={{ width: 140, fontSize: 18, color: '#4A5568', fontFamily: 'Times New Roman' }}&gt;2.13.5&lt;/Text&gt;&#13;&#10;            &lt;Text style={{ flex: 1, fontSize: 19, color: '#1A2230', fontFamily: '微软雅黑' }}&gt;模型返回的 JSON 必须过 schema 校验，不合格不进下一步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SQLite + SQLAlchemy&lt;/Text&gt;&#13;&#10;            &lt;Text style={{ width: 140, fontSize: 18, color: '#4A5568', fontFamily: 'Times New Roman' }}&gt;2.0.52&lt;/Text&gt;&#13;&#10;            &lt;Text style={{ flex: 1, fontSize: 19, color: '#1A2230', fontFamily: '微软雅黑' }}&gt;演示规模在十万行级；换库触发条件已写进设计文档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React + Vite&lt;/Text&gt;&#13;&#10;            &lt;Text style={{ width: 140, fontSize: 18, color: '#4A5568', fontFamily: 'Times New Roman' }}&gt;18.3.1 / 5.4.0&lt;/Text&gt;&#13;&#10;            &lt;Text style={{ flex: 1, fontSize: 19, color: '#1A2230', fontFamily: '微软雅黑' }}&gt;需要按流式事件增量渲染，而不是等整轮结束再出结果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ECharts&lt;/Text&gt;&#13;&#10;            &lt;Text style={{ width: 140, fontSize: 18, color: '#4A5568', fontFamily: 'Times New Roman' }}&gt;5.5.1&lt;/Text&gt;&#13;&#10;            &lt;Text style={{ flex: 1, fontSize: 19, color: '#1A2230', fontFamily: '微软雅黑' }}&gt;图表配置由后端规则生成，前端只负责渲染，保证口径一致&lt;/Text&gt;&#13;&#10;        &lt;/Box&gt;&#13;&#10;&#13;&#10;        {/* 底部结论条 */}&#13;&#10;        &lt;Box style={{ background: '#E8EFF8', padding: '12px 20px', flexDirection: 'row', alignItems: 'center', gap: 14, marginTop: 2 }}&gt;&#13;&#10;            &lt;Text style={{ fontSize: 20, fontWeight: 'bold', color: '#0E3F8C', fontFamily: '微软雅黑' }}&gt;没有引入&lt;/Text&gt;&#13;&#10;            &lt;Text style={{ fontSize: 19, color: '#4A5568', fontFamily: '微软雅黑' }}&gt;&#13;&#10;                向量数据库、Redis、消息队列、容器编排。演示规模下它们不解决问题，只会增加部署与排查成本。&#13;&#10;            &lt;/Text&gt;&#13;&#10;        &lt;/Box&gt;&#13;&#10;&#13;&#10;        &lt;Text style={{ fontSize: 14, color: '#8B97A8', fontFamily: '微软雅黑' }}&gt;&#13;&#10;            版本号取自 backend/.venv 的 importlib.metadata 与 frontend/package.json，2026-09-29 实测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每个选择都有对应的约束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选型不是按流行度排的，每一项都能指回一条必须满足的约束。版本号为本机实测，不是文档里的参考值。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381000" y="1257300"/>
            <a:ext cx="11430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33400" y="13620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技术选择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3390900" y="1362075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版本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724400" y="13620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对应约束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33400" y="18764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LangGraph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390900" y="18764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1.2.11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724400" y="18764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需要带条件分支与重试回环的编排，不是一条线性链路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381000" y="22860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33400" y="23907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sqlglot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390900" y="23907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30.18.0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724400" y="23907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需要在执行前把语句解析成语法树，才能做表字段白名单校验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33400" y="29051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FastAPI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390900" y="29051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0.141.1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4724400" y="29051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需要服务端推送与结构化请求校验，前端要看到逐节点的进度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1000" y="33147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33400" y="34194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Pydantic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390900" y="34194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2.13.5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724400" y="34194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模型返回的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JSON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必须过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schema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校验，不合格不进下一步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33400" y="39338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SQLite + SQLAlchemy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390900" y="39338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2.0.52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724400" y="39338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演示规模在十万行级；换库触发条件已写进设计文档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381000" y="43434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33400" y="44481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React + Vite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3390900" y="44481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18.3.1 / 5.4.0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4724400" y="44481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需要按流式事件增量渲染，而不是等整轮结束再出结果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33400" y="49625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ECharts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390900" y="49625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5.5.1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724400" y="49625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图表配置由后端规则生成，前端只负责渲染，保证口径一致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381000" y="5391150"/>
            <a:ext cx="11430000" cy="457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71500" y="55054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没有引入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466850" y="5514975"/>
            <a:ext cx="8029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向量数据库、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Redis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、消息队列、容器编排。演示规模下它们不解决问题，只会增加部署与排查成本。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81000" y="594360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版本号取自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backend/.venv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importlib.metadata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frontend/package.json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2026-09-29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实测。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3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口径写在配置里，不在模型的猜测里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2px 40px 0 40px', gap: 16 }}&gt;&#13;&#10;        &lt;Text style={{ fontSize: 21, color: '#4A5568', fontFamily: '微软雅黑' }}&gt;&#13;&#10;            同一个业务词在不同人口中指向不同的 SQL。把口径从对话里搬到配置文件，是结果可复现、可审计的前提。&#13;&#10;        &lt;/Text&gt;&#13;&#10;&#13;&#10;        &lt;Box style={{ flexDirection: 'row', gap: 16, alignItems: 'stretch' }}&gt;&#13;&#10;            {/* 左卡 */}&#13;&#10;            &lt;Box style={{&#13;&#10;                flex: 1, background: '#F7F9FC', border: { width: 1, color: '#D6DCE5' },&#13;&#10;                flexDirection: 'column', padding: 20, gap: 14,&#13;&#10;            }}&gt;&#13;&#10;                &lt;Box style={{ flexDirection: 'row', alignItems: 'center', gap: 10 }}&gt;&#13;&#10;                    &lt;Box style={{ width: 4, height: 22, background: '#8B97A8' }} /&gt;&#13;&#10;                    &lt;Text style={{ fontSize: 25, fontWeight: 'bold', color: '#4A5568', fontFamily: '微软雅黑' }}&gt;&#13;&#10;                        一句话，三种理解&#13;&#10;                    &lt;/Text&gt;&#13;&#10;                &lt;/Box&gt;&#13;&#10;&#13;&#10;                &lt;Box style={{ background: '#FFFFFF', padding: '10px 14px', border: { left: { width: 3, color: '#8B97A8' } } }}&gt;&#13;&#10;                    &lt;Text style={{ fontSize: 19, color: '#1A2230', fontFamily: '微软雅黑' }}&gt;「上个月卖得怎么样」&lt;/Text&gt;&#13;&#10;                &lt;/Box&gt;&#13;&#10;&#13;&#10;                &lt;Box style={{ flexDirection: 'column', gap: 12 }}&gt;&#13;&#10;                    &lt;Box style={{ flexDirection: 'column', gap: 3 }}&gt;&#13;&#10;                        &lt;Text style={{ fontSize: 18, fontWeight: 'bold', color: '#4A5568', fontFamily: '微软雅黑' }}&gt;运营听到的「卖」&lt;/Text&gt;&#13;&#10;                        &lt;Text style={{ fontSize: 19, color: '#1A2230', fontFamily: '微软雅黑' }}&gt;&#13;&#10;                            成交额　SUM(oi.quantity * oi.unit_price)&#13;&#10;                        &lt;/Text&gt;&#13;&#10;                    &lt;/Box&gt;&#13;&#10;                    &lt;Box style={{ flexDirection: 'column', gap: 3 }}&gt;&#13;&#10;                        &lt;Text style={{ fontSize: 18, fontWeight: 'bold', color: '#4A5568', fontFamily: '微软雅黑' }}&gt;仓储听到的「卖」&lt;/Text&gt;&#13;&#10;                        &lt;Text style={{ fontSize: 19, color: '#1A2230', fontFamily: '微软雅黑' }}&gt;&#13;&#10;                            销量　　SUM(oi.quantity)&#13;&#10;                        &lt;/Text&gt;&#13;&#10;                    &lt;/Box&gt;&#13;&#10;                    &lt;Box style={{ flexDirection: 'column', gap: 3 }}&gt;&#13;&#10;                        &lt;Text style={{ fontSize: 18, fontWeight: 'bold', color: '#4A5568', fontFamily: '微软雅黑' }}&gt;财务听到的「卖」&lt;/Text&gt;&#13;&#10;                        &lt;Text style={{ fontSize: 19, color: '#1A2230', fontFamily: '微软雅黑' }}&gt;&#13;&#10;                            净额　　还要先定义退款是减金额还是减订单&#13;&#10;                        &lt;/Text&gt;&#13;&#10;                    &lt;/Box&gt;&#13;&#10;                &lt;/Box&gt;&#13;&#10;&#13;&#10;                &lt;Text style={{ fontSize: 17, color: '#8B97A8', fontFamily: '微软雅黑', lineHeight: 1.6 }}&gt;&#13;&#10;                    三种理解都说得通。区别不在于谁对，而在于系统必须选一种并说清楚选的是哪种。&#13;&#10;                &lt;/Text&gt;&#13;&#10;            &lt;/Box&gt;&#13;&#10;&#13;&#10;            {/* 中间箭头 */}&#13;&#10;            &lt;Box style={{ width: 44, alignItems: 'center', justifyContent: 'center' }}&gt;&#13;&#10;                &lt;Text style={{ fontSize: 34, color: '#1E4FA8', fontFamily: 'Times New Roman' }}&gt;›&lt;/Text&gt;&#13;&#10;            &lt;/Box&gt;&#13;&#10;&#13;&#10;            {/* 右卡 */}&#13;&#10;            &lt;Box style={{&#13;&#10;                flex: 1, background: '#E8EFF8', border: { width: 1, color: '#1E4FA8' },&#13;&#10;                flexDirection: 'column', padding: 20, gap: 12,&#13;&#10;            }}&gt;&#13;&#10;                &lt;Box style={{ flexDirection: 'row', alignItems: 'center', gap: 10 }}&gt;&#13;&#10;                    &lt;Box style={{ width: 4, height: 22, background: '#1E4FA8' }} /&gt;&#13;&#10;                    &lt;Text style={{ fontSize: 25, fontWeight: 'bold', color: '#0E3F8C', fontFamily: '微软雅黑' }}&gt;&#13;&#10;                        一份配置，一个口径&#13;&#10;                    &lt;/Text&gt;&#13;&#10;                &lt;/Box&gt;&#13;&#10;&#13;&#10;                &lt;Text style={{ fontSize: 17, color: '#4A5568', fontFamily: '微软雅黑' }}&gt;&#13;&#10;                    metrics.yaml　gmv · 成交总额&#13;&#10;                &lt;/Text&gt;&#13;&#10;&#13;&#10;                &lt;Box style={{ flexDirection: 'column', gap: 9 }}&gt;&#13;&#10;                    &lt;Box style={{ flexDirection: 'row', gap: 10 }}&gt;&#13;&#10;                        &lt;Text style={{ width: 92, fontSize: 17, color: '#4A5568', fontFamily: '微软雅黑' }}&gt;别称&lt;/Text&gt;&#13;&#10;                        &lt;Text style={{ flex: 1, fontSize: 17, color: '#1A2230', fontFamily: '微软雅黑' }}&gt;销售额 / 营业额 / GMV / 流水 / 业绩&lt;/Text&gt;&#13;&#10;                    &lt;/Box&gt;&#13;&#10;                    &lt;Box style={{ flexDirection: 'row', gap: 10 }}&gt;&#13;&#10;                        &lt;Text style={{ width: 92, fontSize: 17, color: '#4A5568', fontFamily: '微软雅黑' }}&gt;表达式&lt;/Text&gt;&#13;&#10;                        &lt;Text style={{ flex: 1, fontSize: 17, fontWeight: 'bold', color: '#0E3F8C', fontFamily: '微软雅黑' }}&gt;SUM(oi.quantity * oi.unit_price)&lt;/Text&gt;&#13;&#10;                    &lt;/Box&gt;&#13;&#10;                    &lt;Box style={{ flexDirection: 'row', gap: 10 }}&gt;&#13;&#10;                        &lt;Text style={{ width: 92, fontSize: 17, color: '#4A5568', fontFamily: '微软雅黑' }}&gt;来源表&lt;/Text&gt;&#13;&#10;                        &lt;Text style={{ flex: 1, fontSize: 17, color: '#1A2230', fontFamily: '微软雅黑' }}&gt;orders、order_items&lt;/Text&gt;&#13;&#10;                    &lt;/Box&gt;&#13;&#10;                    &lt;Box style={{ flexDirection: 'row', gap: 10 }}&gt;&#13;&#10;                        &lt;Text style={{ width: 92, fontSize: 17, color: '#4A5568', fontFamily: '微软雅黑' }}&gt;必带条件&lt;/Text&gt;&#13;&#10;                        &lt;Text style={{ flex: 1, fontSize: 17, color: '#1A2230', fontFamily: '微软雅黑' }}&gt;status NOT IN ('cancelled', 'pending')&lt;/Text&gt;&#13;&#10;                    &lt;/Box&gt;&#13;&#10;                    &lt;Box style={{ flexDirection: 'row', gap: 10 }}&gt;&#13;&#10;                        &lt;Text style={{ width: 92, fontSize: 17, color: '#4A5568', fontFamily: '微软雅黑' }}&gt;口径边界&lt;/Text&gt;&#13;&#10;                        &lt;Text style={{ flex: 1, fontSize: 17, color: '#1A2230', fontFamily: '微软雅黑', lineHeight: 1.5 }}&gt;&#13;&#10;                            不含已取消与未支付订单；不扣除退款&#13;&#10;                        &lt;/Text&gt;&#13;&#10;                    &lt;/Box&gt;&#13;&#10;                &lt;/Box&gt;&#13;&#10;&#13;&#10;                &lt;Text style={{ fontSize: 17, color: '#4A5568', fontFamily: '微软雅黑', lineHeight: 1.6 }}&gt;&#13;&#10;                    字段是 SQL 片段而非自然语句，模型照抄即可，不需要它自己推断。&#13;&#10;                &lt;/Text&gt;&#13;&#10;            &lt;/Box&gt;&#13;&#10;        &lt;/Box&gt;&#13;&#10;&#13;&#10;        {/* 底部结论条 */}&#13;&#10;        &lt;Box style={{&#13;&#10;            width: '100%', height: 72, background: '#0E3F8C',&#13;&#10;            flexDirection: 'row', alignItems: 'center', padding: '0 24px', gap: 16,&#13;&#10;        }}&gt;&#13;&#10;            &lt;Text style={{ fontSize: 20, fontWeight: 'bold', color: '#FFFFFF', fontFamily: '微软雅黑' }}&gt;&#13;&#10;                同一份配置供三处消费&#13;&#10;            &lt;/Text&gt;&#13;&#10;            &lt;Text style={{ fontSize: 19, color: 'rgba(255,255,255,0.85)', fontFamily: '微软雅黑' }}&gt;&#13;&#10;                Prompt 组装时作为候选口径　·　守卫校验时作为表字段白名单　·　回答里作为口径说明展示给用户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7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4876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口径写在配置里，不在模型的猜测里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同一个业务词在不同人口中指向不同的</a:t>
            </a:r>
            <a:r>
              <a:rPr lang="en-US" sz="1575">
                <a:solidFill>
                  <a:srgbClr val="4A5568"/>
                </a:solidFill>
                <a:latin typeface="微软雅黑"/>
                <a:ea typeface="微软雅黑"/>
              </a:rPr>
              <a:t> SQL</a:t>
            </a: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。把口径从对话里搬到配置文件，是结果可复现、可审计的前提。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381000" y="1295400"/>
            <a:ext cx="5353050" cy="37052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571500" y="1524000"/>
            <a:ext cx="38100" cy="2095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4A5568"/>
                </a:solidFill>
                <a:latin typeface="微软雅黑"/>
                <a:ea typeface="微软雅黑"/>
              </a:rPr>
              <a:t>一句话，三种理解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571500" y="1905000"/>
            <a:ext cx="49720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04850" y="2000250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「上个月卖得怎么样」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71500" y="24479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/>
                <a:ea typeface="微软雅黑"/>
              </a:rPr>
              <a:t>运营听到的「卖」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成交额　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SUM(oi.quantity * oi.unit_price)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571500" y="30194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/>
                <a:ea typeface="微软雅黑"/>
              </a:rPr>
              <a:t>仓储听到的「卖」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571500" y="32575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销量　　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SUM(oi.quantity)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71500" y="35909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/>
                <a:ea typeface="微软雅黑"/>
              </a:rPr>
              <a:t>财务听到的「卖」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71500" y="38290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净额　　还要先定义退款是减金额还是减订单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71500" y="4181475"/>
            <a:ext cx="49720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三种理解都说得通。区别不在于谁对，而在于系统必须选一种并说清楚选的是哪种。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38850" y="2952750"/>
            <a:ext cx="114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457950" y="1295400"/>
            <a:ext cx="5353050" cy="3705225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6648450" y="1524000"/>
            <a:ext cx="38100" cy="2095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781800" y="1485900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一份配置，一个口径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648450" y="1885950"/>
            <a:ext cx="497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metrics.yaml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　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gmv ·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成交总额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648450" y="22002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别称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620000" y="22002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销售额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营业额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GMV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流水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业绩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648450" y="248602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表达式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620000" y="24860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/>
                <a:ea typeface="微软雅黑"/>
              </a:rPr>
              <a:t>SUM(oi.quantity * oi.unit_price)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648450" y="27717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来源表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620000" y="27717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orders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order_items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648450" y="305752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必带条件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620000" y="30575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status NOT IN ('cancelled', 'pending')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648450" y="3343275"/>
            <a:ext cx="8763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口径边界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620000" y="3343275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不含已取消与未支付订单；不扣除退款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648450" y="3752850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字段是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片段而非自然语句，模型照抄即可，不需要它自己推断。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381000" y="5153025"/>
            <a:ext cx="11430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538162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同一份配置供三处消费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2667000" y="5391150"/>
            <a:ext cx="800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Prompt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组装时作为候选口径　·　守卫校验时作为表字段白名单　·　回答里作为口径说明展示给用户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7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八个节点，三条出口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0px 40px 0 40px', gap: 16 }}&gt;&#13;&#10;        &lt;Text style={{ fontSize: 21, color: '#4A5568', fontFamily: '微软雅黑' }}&gt;&#13;&#10;            一次提问走八个节点。节点之间不是简单串联，校验环节可以打回生成环节重来。&#13;&#10;        &lt;/Text&gt;&#13;&#10;&#13;&#10;        {/* 第一行节点 */}&#13;&#10;        &lt;Box style={{ flexDirection: 'row', alignItems: 'center', gap: 8 }}&gt;&#13;&#10;            &lt;Box style={{ flex: 1, height: 140, background: '#F7F9FC', border: { top: { width: 4, color: '#0E3F8C' } }, flexDirection: 'column', padding: 14, gap: 7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1&lt;/Text&gt;&#13;&#10;                    &lt;/Box&gt;&#13;&#10;                    &lt;Text style={{ fontSize: 22, fontWeight: 'bold', color: '#0E3F8C', fontFamily: '微软雅黑' }}&gt;路由&lt;/Text&gt;&#13;&#10;                &lt;/Box&gt;&#13;&#10;                &lt;Text style={{ fontSize: 17, color: '#4A5568', fontFamily: '微软雅黑', lineHeight: 1.5 }}&gt;&#13;&#10;                    判断是取数提问、追问改写，还是与数据无关的请求&#13;&#10;                &lt;/Text&gt;&#13;&#10;            &lt;/Box&gt;&#13;&#10;            &lt;Text style={{ fontSize: 22, color: '#1E4FA8', fontFamily: 'Times New Roman' }}&gt;›&lt;/Text&gt;&#13;&#10;            &lt;Box style={{ flex: 1, height: 140, background: '#F7F9FC', border: { top: { width: 4, color: '#0E3F8C' } }, flexDirection: 'column', padding: 14, gap: 7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2&lt;/Text&gt;&#13;&#10;                    &lt;/Box&gt;&#13;&#10;                    &lt;Text style={{ fontSize: 22, fontWeight: 'bold', color: '#0E3F8C', fontFamily: '微软雅黑' }}&gt;召回&lt;/Text&gt;&#13;&#10;                &lt;/Box&gt;&#13;&#10;                &lt;Text style={{ fontSize: 17, color: '#4A5568', fontFamily: '微软雅黑', lineHeight: 1.5 }}&gt;&#13;&#10;                    按问句匹配指标、维度与示例，未命中时显式告知&#13;&#10;                &lt;/Text&gt;&#13;&#10;            &lt;/Box&gt;&#13;&#10;            &lt;Text style={{ fontSize: 22, color: '#1E4FA8', fontFamily: 'Times New Roman' }}&gt;›&lt;/Text&gt;&#13;&#10;            &lt;Box style={{ flex: 1, height: 140, background: '#F7F9FC', border: { top: { width: 4, color: '#0E3F8C' } }, flexDirection: 'column', padding: 14, gap: 7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3&lt;/Text&gt;&#13;&#10;                    &lt;/Box&gt;&#13;&#10;                    &lt;Text style={{ fontSize: 22, fontWeight: 'bold', color: '#0E3F8C', fontFamily: '微软雅黑' }}&gt;生成&lt;/Text&gt;&#13;&#10;                &lt;/Box&gt;&#13;&#10;                &lt;Text style={{ fontSize: 17, color: '#4A5568', fontFamily: '微软雅黑', lineHeight: 1.5 }}&gt;&#13;&#10;                    组装 Prompt，输出候选 SQL 与选用的口径说明&#13;&#10;                &lt;/Text&gt;&#13;&#10;            &lt;/Box&gt;&#13;&#10;            &lt;Text style={{ fontSize: 22, color: '#1E4FA8', fontFamily: 'Times New Roman' }}&gt;›&lt;/Text&gt;&#13;&#10;            &lt;Box style={{ flex: 1, height: 140, background: '#E8EFF8', border: { top: { width: 4, color: '#1E4FA8' } }, flexDirection: 'column', padding: 14, gap: 7 }}&gt;&#13;&#10;                &lt;Box style={{ flexDirection: 'row', alignItems: 'center', gap: 8 }}&gt;&#13;&#10;                    &lt;Box style={{ width: 24, height: 24, background: '#1E4FA8', alignItems: 'center', justifyContent: 'center' }}&gt;&#13;&#10;                        &lt;Text style={{ fontSize: 15, fontWeight: 'bold', color: '#FFFFFF', fontFamily: 'Times New Roman' }}&gt;4&lt;/Text&gt;&#13;&#10;                    &lt;/Box&gt;&#13;&#10;                    &lt;Text style={{ fontSize: 22, fontWeight: 'bold', color: '#0E3F8C', fontFamily: '微软雅黑' }}&gt;校验&lt;/Text&gt;&#13;&#10;                &lt;/Box&gt;&#13;&#10;                &lt;Text style={{ fontSize: 17, color: '#4A5568', fontFamily: '微软雅黑', lineHeight: 1.5 }}&gt;&#13;&#10;                    九条守卫加口径签名，两条都过才放行执行&#13;&#10;                &lt;/Text&gt;&#13;&#10;            &lt;/Box&gt;&#13;&#10;        &lt;/Box&gt;&#13;&#10;&#13;&#10;        {/* 第二行节点 */}&#13;&#10;        &lt;Box style={{ flexDirection: 'row', alignItems: 'center', gap: 8 }}&gt;&#13;&#10;            &lt;Box style={{ flex: 1, height: 140, background: '#F7F9FC', border: { top: { width: 4, color: '#3D7BD9' } }, flexDirection: 'column', padding: 14, gap: 7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5&lt;/Text&gt;&#13;&#10;                    &lt;/Box&gt;&#13;&#10;                    &lt;Text style={{ fontSize: 22, fontWeight: 'bold', color: '#0E3F8C', fontFamily: '微软雅黑' }}&gt;执行&lt;/Text&gt;&#13;&#10;                &lt;/Box&gt;&#13;&#10;                &lt;Text style={{ fontSize: 17, color: '#4A5568', fontFamily: '微软雅黑', lineHeight: 1.5 }}&gt;&#13;&#10;                    只读连接执行，带超时与结果行数上限&#13;&#10;                &lt;/Text&gt;&#13;&#10;            &lt;/Box&gt;&#13;&#10;            &lt;Text style={{ fontSize: 22, color: '#1E4FA8', fontFamily: 'Times New Roman' }}&gt;›&lt;/Text&gt;&#13;&#10;            &lt;Box style={{ flex: 1, height: 140, background: '#F7F9FC', border: { top: { width: 4, color: '#3D7BD9' } }, flexDirection: 'column', padding: 14, gap: 7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6&lt;/Text&gt;&#13;&#10;                    &lt;/Box&gt;&#13;&#10;                    &lt;Text style={{ fontSize: 22, fontWeight: 'bold', color: '#0E3F8C', fontFamily: '微软雅黑' }}&gt;选图&lt;/Text&gt;&#13;&#10;                &lt;/Box&gt;&#13;&#10;                &lt;Text style={{ fontSize: 17, color: '#4A5568', fontFamily: '微软雅黑', lineHeight: 1.5 }}&gt;&#13;&#10;                    按维度个数与结果行数选择图型，并写明依据&#13;&#10;                &lt;/Text&gt;&#13;&#10;            &lt;/Box&gt;&#13;&#10;            &lt;Text style={{ fontSize: 22, color: '#1E4FA8', fontFamily: 'Times New Roman' }}&gt;›&lt;/Text&gt;&#13;&#10;            &lt;Box style={{ flex: 1, height: 140, background: '#F7F9FC', border: { top: { width: 4, color: '#3D7BD9' } }, flexDirection: 'column', padding: 14, gap: 7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7&lt;/Text&gt;&#13;&#10;                    &lt;/Box&gt;&#13;&#10;                    &lt;Text style={{ fontSize: 22, fontWeight: 'bold', color: '#0E3F8C', fontFamily: '微软雅黑' }}&gt;补充&lt;/Text&gt;&#13;&#10;                &lt;/Box&gt;&#13;&#10;                &lt;Text style={{ fontSize: 17, color: '#4A5568', fontFamily: '微软雅黑', lineHeight: 1.5 }}&gt;&#13;&#10;                    数据时效探针、对比基准与异常标记&#13;&#10;                &lt;/Text&gt;&#13;&#10;            &lt;/Box&gt;&#13;&#10;            &lt;Text style={{ fontSize: 22, color: '#1E4FA8', fontFamily: 'Times New Roman' }}&gt;›&lt;/Text&gt;&#13;&#10;            &lt;Box style={{ flex: 1, height: 140, background: '#F7F9FC', border: { top: { width: 4, color: '#D9534F' } }, flexDirection: 'column', padding: 14, gap: 7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8&lt;/Text&gt;&#13;&#10;                    &lt;/Box&gt;&#13;&#10;                    &lt;Text style={{ fontSize: 22, fontWeight: 'bold', color: '#0E3F8C', fontFamily: '微软雅黑' }}&gt;总结&lt;/Text&gt;&#13;&#10;                &lt;/Box&gt;&#13;&#10;                &lt;Text style={{ fontSize: 17, color: '#4A5568', fontFamily: '微软雅黑', lineHeight: 1.5 }}&gt;&#13;&#10;                    写结论，并核对结论里的数字是否都出自结果集&#13;&#10;                &lt;/Text&gt;&#13;&#10;            &lt;/Box&gt;&#13;&#10;        &lt;/Box&gt;&#13;&#10;&#13;&#10;        {/* 重试回环 + 三条出口 */}&#13;&#10;        &lt;Box style={{ flexDirection: 'row', gap: 14 }}&gt;&#13;&#10;            &lt;Box style={{ flex: 1.35, background: '#E8EFF8', border: { left: { width: 4, color: '#D9534F' } }, padding: '16px 18px', flexDirection: 'column', gap: 4 }}&gt;&#13;&#10;                &lt;Text style={{ fontSize: 20, fontWeight: 'bold', color: '#0E3F8C', fontFamily: '微软雅黑' }}&gt;&#13;&#10;                    重试回环：回到生成，不是回到执行&#13;&#10;                &lt;/Text&gt;&#13;&#10;                &lt;Text style={{ fontSize: 17, color: '#4A5568', fontFamily: '微软雅黑', lineHeight: 1.5 }}&gt;&#13;&#10;                    校验或执行失败时进入修正节点，把数据库原始报错一并带回，上限 3 次。&#13;&#10;                &lt;/Text&gt;&#13;&#10;            &lt;/Box&gt;&#13;&#10;            &lt;Box style={{ flex: 1, background: '#F7F9FC', border: { left: { width: 4, color: '#1E4FA8' } }, padding: '16px 18px', flexDirection: 'column', gap: 4 }}&gt;&#13;&#10;                &lt;Text style={{ fontSize: 20, fontWeight: 'bold', color: '#0E3F8C', fontFamily: '微软雅黑' }}&gt;三条出口&lt;/Text&gt;&#13;&#10;                &lt;Text style={{ fontSize: 17, color: '#4A5568', fontFamily: '微软雅黑', lineHeight: 1.5 }}&gt;&#13;&#10;                    信息不足转澄清　·　重试超限转放弃　·　正常返回应答&#13;&#10;                &lt;/Text&gt;&#13;&#10;            &lt;/Box&gt;&#13;&#10;        &lt;/Box&gt;&#13;&#10;&#13;&#10;        &lt;Text style={{ fontSize: 14, color: '#8B97A8', fontFamily: '微软雅黑' }}&gt;&#13;&#10;            节点与出口取自 backend/app/agent/graph.py 的 add_node 与 add_edge 声明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8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八个节点，三条出口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一次提问走八个节点。节点之间不是简单串联，校验环节可以打回生成环节重来。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381000" y="12763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514350" y="1428750"/>
            <a:ext cx="228600" cy="228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90550" y="14573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19150" y="14097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路由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14350" y="17335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判断是取数提问、追问改写，还是与数据无关的请求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143250" y="1819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3295650" y="12763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3429000" y="1428750"/>
            <a:ext cx="228600" cy="228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505200" y="14573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733800" y="14097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召回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429000" y="17335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按问句匹配指标、维度与示例，未命中时显式告知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57900" y="1819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210300" y="12763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6343650" y="1428750"/>
            <a:ext cx="228600" cy="228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419850" y="14573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648450" y="14097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生成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343650" y="17335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组装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Prompt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，输出候选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与选用的口径说明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972550" y="1819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9124950" y="1276350"/>
            <a:ext cx="2686050" cy="1333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9258300" y="1428750"/>
            <a:ext cx="2286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334500" y="14573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563100" y="14097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校验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258300" y="17335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九条守卫加口径签名，两条都过才放行执行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381000" y="27622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514350" y="2914650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90550" y="29432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19150" y="28956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执行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14350" y="32194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只读连接执行，带超时与结果行数上限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143250" y="33051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295650" y="27622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3429000" y="2914650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505200" y="29432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3733800" y="28956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选图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429000" y="32194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按维度个数与结果行数选择图型，并写明依据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057900" y="33051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210300" y="27622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6343650" y="2914650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419850" y="29432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7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648450" y="28956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补充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343650" y="32194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数据时效探针、对比基准与异常标记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972550" y="33051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124950" y="2762250"/>
            <a:ext cx="268605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9258300" y="2914650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334500" y="29432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8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63100" y="28956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总结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258300" y="3219450"/>
            <a:ext cx="2419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写结论，并核对结论里的数字是否都出自结果集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381000" y="4248150"/>
            <a:ext cx="6486525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552450" y="4400550"/>
            <a:ext cx="6143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重试回环：回到生成，不是回到执行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552450" y="4667250"/>
            <a:ext cx="61436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校验或执行失败时进入修正节点，把数据库原始报错一并带回，上限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3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次。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000875" y="4248150"/>
            <a:ext cx="4810125" cy="8667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172325" y="4400550"/>
            <a:ext cx="4467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三条出口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172325" y="4667250"/>
            <a:ext cx="44672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信息不足转澄清　·　重试超限转放弃　·　正常返回应答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81000" y="526732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节点与出口取自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backend/app/agent/graph.py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add_node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add_edge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声明。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41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执行前的最后一道闸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0px 40px 0 40px', gap: 14 }}&gt;&#13;&#10;        &lt;Text style={{ fontSize: 21, color: '#4A5568', fontFamily: '微软雅黑' }}&gt;&#13;&#10;            九条规则按固定顺序执行，任一条不通过就不进入执行环节。只有 R6 会自动改写，其余都是拒绝。&#13;&#10;        &lt;/Text&gt;&#13;&#10;&#13;&#10;        {/* 第一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1&lt;/Text&gt;&#13;&#10;                    &lt;/Box&gt;&#13;&#10;                    &lt;Text style={{ fontSize: 20, fontWeight: 'bold', color: '#0E3F8C', fontFamily: '微软雅黑' }}&gt;单条语句&lt;/Text&gt;&#13;&#10;                &lt;/Box&gt;&#13;&#10;                &lt;Text style={{ fontSize: 17, color: '#4A5568', fontFamily: '微软雅黑', lineHeight: 1.5 }}&gt;&#13;&#10;                    只允许一条语句，出现分号分隔的多条直接拒绝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2&lt;/Text&gt;&#13;&#10;                    &lt;/Box&gt;&#13;&#10;                    &lt;Text style={{ fontSize: 20, fontWeight: 'bold', color: '#0E3F8C', fontFamily: '微软雅黑' }}&gt;只允许查询&lt;/Text&gt;&#13;&#10;                &lt;/Box&gt;&#13;&#10;                &lt;Text style={{ fontSize: 17, color: '#4A5568', fontFamily: '微软雅黑', lineHeight: 1.5 }}&gt;&#13;&#10;                    SELECT 与集合运算之外一律拒绝，用白名单而非黑名单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3&lt;/Text&gt;&#13;&#10;                    &lt;/Box&gt;&#13;&#10;                    &lt;Text style={{ fontSize: 20, fontWeight: 'bold', color: '#0E3F8C', fontFamily: '微软雅黑' }}&gt;危险节点&lt;/Text&gt;&#13;&#10;                &lt;/Box&gt;&#13;&#10;                &lt;Text style={{ fontSize: 17, color: '#4A5568', fontFamily: '微软雅黑', lineHeight: 1.5 }}&gt;&#13;&#10;                    语法树中不得出现 DDL、DML 与管理类关键字&#13;&#10;                &lt;/Text&gt;&#13;&#10;            &lt;/Box&gt;&#13;&#10;        &lt;/Box&gt;&#13;&#10;&#13;&#10;        {/* 第二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4&lt;/Text&gt;&#13;&#10;                    &lt;/Box&gt;&#13;&#10;                    &lt;Text style={{ fontSize: 20, fontWeight: 'bold', color: '#0E3F8C', fontFamily: '微软雅黑' }}&gt;表必须登记&lt;/Text&gt;&#13;&#10;                &lt;/Box&gt;&#13;&#10;                &lt;Text style={{ fontSize: 17, color: '#4A5568', fontFamily: '微软雅黑', lineHeight: 1.5 }}&gt;&#13;&#10;                    未在语义层出现的表，按模型编造的表处理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5&lt;/Text&gt;&#13;&#10;                    &lt;/Box&gt;&#13;&#10;                    &lt;Text style={{ fontSize: 20, fontWeight: 'bold', color: '#0E3F8C', fontFamily: '微软雅黑' }}&gt;字段必须存在&lt;/Text&gt;&#13;&#10;                &lt;/Box&gt;&#13;&#10;                &lt;Text style={{ fontSize: 17, color: '#4A5568', fontFamily: '微软雅黑', lineHeight: 1.5 }}&gt;&#13;&#10;                    字段要存在于所属表的元数据中，拼错即拦下&#13;&#10;                &lt;/Text&gt;&#13;&#10;            &lt;/Box&gt;&#13;&#10;            &lt;Box style={{ flex: 1, height: 140, background: '#E8EFF8', border: { left: { width: 4, color: '#D9534F' } }, flexDirection: 'column', padding: 14, gap: 6 }}&gt;&#13;&#10;                &lt;Box style={{ flexDirection: 'row', alignItems: 'center', gap: 9 }}&gt;&#13;&#10;                    &lt;Box style={{ width: 42, height: 24, background: '#D9534F', alignItems: 'center', justifyContent: 'center' }}&gt;&#13;&#10;                        &lt;Text style={{ fontSize: 16, fontWeight: 'bold', color: '#FFFFFF', fontFamily: 'Times New Roman' }}&gt;R6&lt;/Text&gt;&#13;&#10;                    &lt;/Box&gt;&#13;&#10;                    &lt;Text style={{ fontSize: 20, fontWeight: 'bold', color: '#0E3F8C', fontFamily: '微软雅黑' }}&gt;行数上限&lt;/Text&gt;&#13;&#10;                &lt;/Box&gt;&#13;&#10;                &lt;Text style={{ fontSize: 17, color: '#4A5568', fontFamily: '微软雅黑', lineHeight: 1.5 }}&gt;&#13;&#10;                    无 LIMIT 或超限时自动包裹，九条里唯一自动改写的规则&#13;&#10;                &lt;/Text&gt;&#13;&#10;            &lt;/Box&gt;&#13;&#10;        &lt;/Box&gt;&#13;&#10;&#13;&#10;        {/* 第三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7&lt;/Text&gt;&#13;&#10;                    &lt;/Box&gt;&#13;&#10;                    &lt;Text style={{ fontSize: 20, fontWeight: 'bold', color: '#0E3F8C', fontFamily: '微软雅黑' }}&gt;禁止笛卡尔积&lt;/Text&gt;&#13;&#10;                &lt;/Box&gt;&#13;&#10;                &lt;Text style={{ fontSize: 17, color: '#4A5568', fontFamily: '微软雅黑', lineHeight: 1.5 }}&gt;&#13;&#10;                    多表查询必须带连接条件，缺 ON 的 JOIN 会被拦下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8&lt;/Text&gt;&#13;&#10;                    &lt;/Box&gt;&#13;&#10;                    &lt;Text style={{ fontSize: 20, fontWeight: 'bold', color: '#0E3F8C', fontFamily: '微软雅黑' }}&gt;执行超时&lt;/Text&gt;&#13;&#10;                &lt;/Box&gt;&#13;&#10;                &lt;Text style={{ fontSize: 17, color: '#4A5568', fontFamily: '微软雅黑', lineHeight: 1.5 }}&gt;&#13;&#10;                    由数据库层的进度回调中断跑太久的查询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9&lt;/Text&gt;&#13;&#10;                    &lt;/Box&gt;&#13;&#10;                    &lt;Text style={{ fontSize: 20, fontWeight: 'bold', color: '#0E3F8C', fontFamily: '微软雅黑' }}&gt;函数白名单&lt;/Text&gt;&#13;&#10;                &lt;/Box&gt;&#13;&#10;                &lt;Text style={{ fontSize: 17, color: '#4A5568', fontFamily: '微软雅黑', lineHeight: 1.5 }}&gt;&#13;&#10;                    只放行白名单内的函数，读文件、加载扩展一类全部挡在门外&#13;&#10;                &lt;/Text&gt;&#13;&#10;            &lt;/Box&gt;&#13;&#10;        &lt;/Box&gt;&#13;&#10;&#13;&#10;        {/* 结论条 */}&#13;&#10;        &lt;Box style={{ width: '100%', height: 62, background: '#0E3F8C', flexDirection: 'row', alignItems: 'center', padding: '0 22px', gap: 16 }}&gt;&#13;&#10;            &lt;Text style={{ fontSize: 20, fontWeight: 'bold', color: '#FFFFFF', fontFamily: '微软雅黑' }}&gt;纵深不止一层&lt;/Text&gt;&#13;&#10;            &lt;Text style={{ fontSize: 18, color: 'rgba(255,255,255,0.85)', fontFamily: '微软雅黑' }}&gt;&#13;&#10;                守卫之前是模型输出的结构校验，守卫之后还有只读连接、执行超时与结果行数上限。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9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执行前的最后一道闸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九条规则按固定顺序执行，任一条不通过就不进入执行环节。只有</a:t>
            </a:r>
            <a:r>
              <a:rPr lang="en-US" sz="1575">
                <a:solidFill>
                  <a:srgbClr val="4A5568"/>
                </a:solidFill>
                <a:latin typeface="微软雅黑"/>
                <a:ea typeface="微软雅黑"/>
              </a:rPr>
              <a:t> R6 </a:t>
            </a: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会自动改写，其余都是拒绝。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381000" y="12573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514350" y="13906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19125" y="1409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R1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000125" y="1390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单条语句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14350" y="167640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只允许一条语句，出现分号分隔的多条直接拒绝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4229100" y="12573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4362450" y="13906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467225" y="1409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R2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848225" y="13906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只允许查询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4362450" y="16764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SELECT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与集合运算之外一律拒绝，用白名单而非黑名单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8077200" y="12573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8210550" y="13906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315325" y="1409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R3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696325" y="1390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危险节点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210550" y="167640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语法树中不得出现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DDL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DML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与管理类关键字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381000" y="272415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514350" y="285750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19125" y="28765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R4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000125" y="28575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表必须登记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514350" y="314325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未在语义层出现的表，按模型编造的表处理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4229100" y="272415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4362450" y="285750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467225" y="28765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R5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4848225" y="28575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字段必须存在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4362450" y="314325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字段要存在于所属表的元数据中，拼错即拦下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8077200" y="2724150"/>
            <a:ext cx="3733800" cy="1333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8210550" y="2857500"/>
            <a:ext cx="400050" cy="2286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315325" y="28765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R6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696325" y="28575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行数上限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210550" y="314325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无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LIMIT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或超限时自动包裹，九条里唯一自动改写的规则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381000" y="41910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514350" y="43243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19125" y="43434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R7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000125" y="43243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禁止笛卡尔积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14350" y="46101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多表查询必须带连接条件，缺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ON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的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JOIN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会被拦下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229100" y="41910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362450" y="43243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467225" y="43434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R8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848225" y="43243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执行超时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362450" y="461010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由数据库层的进度回调中断跑太久的查询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077200" y="41910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8210550" y="43243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315325" y="43434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R9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696325" y="43243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函数白名单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210550" y="46101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只放行白名单内的函数，读文件、加载扩展一类全部挡在门外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381000" y="5657850"/>
            <a:ext cx="11430000" cy="590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90550" y="58388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纵深不止一层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885950" y="5848350"/>
            <a:ext cx="651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守卫之前是模型输出的结构校验，守卫之后还有只读连接、执行超时与结果行数上限。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怎么证明算的是对的量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2 }}&gt;&#13;&#10;        &lt;Text style={{ fontSize: 21, color: '#4A5568', fontFamily: '微软雅黑' }}&gt;&#13;&#10;            指标命中、口径也挂对了，生成环节仍可能把聚合写歪。除守卫之外再加一层校验：语句里必须出现这个指标的必要成分。&#13;&#10;        &lt;/Text&gt;&#13;&#10;&#13;&#10;        {/* 表头 */}&#13;&#10;        &lt;Box style={{ flexDirection: 'row', alignItems: 'center', height: 42, background: '#0E3F8C', padding: '0 14px' }}&gt;&#13;&#10;            &lt;Text style={{ width: 210, fontSize: 19, fontWeight: 'bold', color: '#FFFFFF', fontFamily: '微软雅黑' }}&gt;指标&lt;/Text&gt;&#13;&#10;            &lt;Text style={{ flex: 1, fontSize: 19, fontWeight: 'bold', color: '#FFFFFF', fontFamily: '微软雅黑' }}&gt;标准表达式&lt;/Text&gt;&#13;&#10;            &lt;Text style={{ width: 340, fontSize: 19, fontWeight: 'bold', color: '#FFFFFF', fontFamily: '微软雅黑' }}&gt;签名判据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成交总额&lt;/Text&gt;&#13;&#10;            &lt;Text style={{ flex: 1, fontSize: 17, color: '#1A2230', fontFamily: '微软雅黑' }}&gt;SUM(oi.quantity * oi.unit_price)&lt;/Text&gt;&#13;&#10;            &lt;Text style={{ width: 340, fontSize: 17, color: '#4A5568', fontFamily: '微软雅黑' }}&gt;必须含 unit_price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销量&lt;/Text&gt;&#13;&#10;            &lt;Text style={{ flex: 1, fontSize: 17, color: '#1A2230', fontFamily: '微软雅黑' }}&gt;SUM(oi.quantity)&lt;/Text&gt;&#13;&#10;            &lt;Text style={{ width: 340, fontSize: 17, color: '#4A5568', fontFamily: '微软雅黑' }}&gt;必须含 quantity，且不得含 unit_price、cost_price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订单量&lt;/Text&gt;&#13;&#10;            &lt;Text style={{ flex: 1, fontSize: 17, color: '#1A2230', fontFamily: '微软雅黑' }}&gt;COUNT(DISTINCT orders.id)&lt;/Text&gt;&#13;&#10;            &lt;Text style={{ width: 340, fontSize: 17, color: '#4A5568', fontFamily: '微软雅黑' }}&gt;必须含 count(distinct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客单价&lt;/Text&gt;&#13;&#10;            &lt;Text style={{ flex: 1, fontSize: 17, color: '#1A2230', fontFamily: '微软雅黑' }}&gt;SUM(oi.quantity * oi.unit_price) * 1.0 / COUNT(DISTINCT orders.id)&lt;/Text&gt;&#13;&#10;            &lt;Text style={{ width: 340, fontSize: 17, color: '#4A5568', fontFamily: '微软雅黑' }}&gt;必须含 unit_price 与 count(distinct，分子分母同源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退款率&lt;/Text&gt;&#13;&#10;            &lt;Text style={{ flex: 1, fontSize: 17, color: '#1A2230', fontFamily: '微软雅黑' }}&gt;COUNT(DISTINCT r.order_id) * 1.0 / COUNT(DISTINCT o.id)&lt;/Text&gt;&#13;&#10;            &lt;Text style={{ width: 340, fontSize: 17, color: '#4A5568', fontFamily: '微软雅黑' }}&gt;必须含 refunds 与 count(distinct，按订单口径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成交用户数&lt;/Text&gt;&#13;&#10;            &lt;Text style={{ flex: 1, fontSize: 17, color: '#1A2230', fontFamily: '微软雅黑' }}&gt;COUNT(DISTINCT orders.user_id)&lt;/Text&gt;&#13;&#10;            &lt;Text style={{ width: 340, fontSize: 17, color: '#4A5568', fontFamily: '微软雅黑' }}&gt;必须含 user_id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毛利&lt;/Text&gt;&#13;&#10;            &lt;Text style={{ flex: 1, fontSize: 17, color: '#1A2230', fontFamily: '微软雅黑' }}&gt;SUM(oi.quantity * (oi.unit_price - p.cost_price))&lt;/Text&gt;&#13;&#10;            &lt;Text style={{ width: 340, fontSize: 17, color: '#4A5568', fontFamily: '微软雅黑' }}&gt;必须含 cost_price，否则只是把成交额改名&lt;/Text&gt;&#13;&#10;        &lt;/Box&gt;&#13;&#10;&#13;&#10;        {/* 结论条 */}&#13;&#10;        &lt;Box style={{ width: '100%', height: 66, background: '#E8EFF8', border: { left: { width: 5, color: '#1E4FA8' } }, flexDirection: 'column', justifyContent: 'center', padding: '0 22px', gap: 2 }}&gt;&#13;&#10;            &lt;Text style={{ fontSize: 19, fontWeight: 'bold', color: '#0E3F8C', fontFamily: '微软雅黑' }}&gt;&#13;&#10;                这类失败形态是唯一会让用户拿着错误数字而不自知的&#13;&#10;            &lt;/Text&gt;&#13;&#10;            &lt;Text style={{ fontSize: 17, color: '#4A5568', fontFamily: '微软雅黑' }}&gt;&#13;&#10;                语句能执行、结果有数据、图表正常、全程不报错。守卫管语句安不安全，签名管算的是不是那个量。&#13;&#10;            &lt;/Text&gt;&#13;&#10;        &lt;/Box&gt;&#13;&#10;&#13;&#10;        &lt;Text style={{ fontSize: 14, color: '#8B97A8', fontFamily: '微软雅黑' }}&gt;&#13;&#10;            签名取自 backend/app/semantic/metrics.yaml 的 expression_signature 字段；校验器为 app/semantic/expression_check.py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0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怎么证明算的是对的量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指标命中、口径也挂对了，生成环节仍可能把聚合写歪。除守卫之外再加一层校验：语句里必须出现这个指标的必要成分。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1000" y="1238250"/>
            <a:ext cx="11430000" cy="4000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14350" y="133350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指标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514600" y="1333500"/>
            <a:ext cx="5924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标准表达式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439150" y="13335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签名判据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14350" y="18573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成交总额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514600" y="18669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 * oi.unit_price)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439150" y="18669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unit_price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81000" y="22860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14350" y="23907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销量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514600" y="24003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SUM(oi.quantity)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439150" y="2305050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quantity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，且不得含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unit_price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cost_price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14350" y="29241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订单量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514600" y="29337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COUNT(DISTINCT orders.id)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439150" y="29337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count(distinct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1000" y="33528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14350" y="34575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客单价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514600" y="34671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 * oi.unit_price) * 1.0 / COUNT(DISTINCT orders.id)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439150" y="3371850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unit_price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count(distinct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，分子分母同源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14350" y="39909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退款率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2514600" y="40005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COUNT(DISTINCT r.order_id) * 1.0 / COUNT(DISTINCT o.id)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439150" y="3905250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refunds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count(distinct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，按订单口径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44196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14350" y="45243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成交用户数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514600" y="45339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COUNT(DISTINCT orders.user_id)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439150" y="45339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user_id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14350" y="50577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毛利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514600" y="50673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 * (oi.unit_price - p.cost_price))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439150" y="50673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cost_price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，否则只是把成交额改名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1000" y="5486400"/>
            <a:ext cx="11430000" cy="628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90550" y="5581650"/>
            <a:ext cx="1101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这类失败形态是唯一会让用户拿着错误数字而不自知的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90550" y="5819775"/>
            <a:ext cx="1101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语句能执行、结果有数据、图表正常、全程不报错。守卫管语句安不安全，签名管算的是不是那个量。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81000" y="622935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签名取自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backend/app/semantic/metrics.yaml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expression_signature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字段；校验器为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app/semantic/expression_check.py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结论里的数字是从哪来的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Box style={{ flexDirection: 'row', gap: 22, alignItems: 'flex-start' }}&gt;&#13;&#10;            {/* 左图 */}&#13;&#10;            &lt;Box style={{ width: 656, flexDirection: 'column', gap: 8 }}&gt;&#13;&#10;                &lt;Image&#13;&#10;                    src='assets/03_followup_check.png'&#13;&#10;                    style={{ width: 656, height: 410, objectFit: 'cover', border: { width: 1, color: '#D6DCE5' } }}&#13;&#10;                /&gt;&#13;&#10;                &lt;Text style={{ fontSize: 14, color: '#8B97A8', fontFamily: '微软雅黑' }}&gt;&#13;&#10;                    真实运行截图：多轮追问「那上个月呢」。浅蓝提示条由结论一致性校验器挂出。&#13;&#10;                &lt;/Text&gt;&#13;&#10;            &lt;/Box&gt;&#13;&#10;&#13;&#10;            {/* 右文 */}&#13;&#10;            &lt;Box style={{ flex: 1, flexDirection: 'column', gap: 14 }}&gt;&#13;&#10;                &lt;Box style={{ flexDirection: 'row', alignItems: 'center', gap: 10 }}&gt;&#13;&#10;                    &lt;Box style={{ width: 4, height: 24, background: '#1E4FA8' }} /&gt;&#13;&#10;                    &lt;Text style={{ fontSize: 25, fontWeight: 'bold', color: '#0E3F8C', fontFamily: '微软雅黑' }}&gt;&#13;&#10;                        结论写完，还要回头对一遍&#13;&#10;                    &lt;/Text&gt;&#13;&#10;                &lt;/Box&gt;&#13;&#10;&#13;&#10;                &lt;Text style={{ fontSize: 20, color: '#1A2230', lineHeight: 1.7, fontFamily: '微软雅黑' }}&gt;&#13;&#10;                    模型输出结论后，系统会抽取结论中出现的全部数字，逐个回本轮结果集比对。没有找到来源的数字单独列出，提示人工核对。&#13;&#10;                &lt;/Text&gt;&#13;&#10;&#13;&#10;                &lt;Text style={{ fontSize: 20, color: '#1A2230', lineHeight: 1.7, fontFamily: '微软雅黑' }}&gt;&#13;&#10;                    截图里的 169 是两个渠道订单量的差值，由模型自行算出。它不在结果集中——差值本身可以验证，但它不是查询返回的数据点。若不标注，读的人无从分辨哪些数是查出来的、哪些是推出来的。&#13;&#10;                &lt;/Text&gt;&#13;&#10;&#13;&#10;                &lt;Box style={{ background: '#E8EFF8', padding: '12px 16px', flexDirection: 'column', gap: 3 }}&gt;&#13;&#10;                    &lt;Text style={{ fontSize: 18, fontWeight: 'bold', color: '#0E3F8C', fontFamily: '微软雅黑' }}&gt;标注的作用不是暴露缺陷&lt;/Text&gt;&#13;&#10;                    &lt;Text style={{ fontSize: 18, color: '#4A5568', fontFamily: '微软雅黑', lineHeight: 1.55 }}&gt;&#13;&#10;                        而是划出边界：能追溯到结果集的正常给出，追溯不到的不静默略过。&#13;&#10;                    &lt;/Text&gt;&#13;&#10;                &lt;/Box&gt;&#13;&#10;            &lt;/Box&gt;&#13;&#10;        &lt;/Box&gt;&#13;&#10;&#13;&#10;        {/* 结论条 */}&#13;&#10;        &lt;Box style={{ width: '100%', height: 66, background: '#0E3F8C', flexDirection: 'row', alignItems: 'center', padding: '0 22px', gap: 16 }}&gt;&#13;&#10;            &lt;Text style={{ fontSize: 20, fontWeight: 'bold', color: '#FFFFFF', fontFamily: '微软雅黑' }}&gt;同一层还有两个机制&lt;/Text&gt;&#13;&#10;            &lt;Text style={{ fontSize: 18, color: 'rgba(255,255,255,0.85)', fontFamily: '微软雅黑' }}&gt;&#13;&#10;                数据时效探针标注「数据截至哪天」　·　围绕中位水平的异常标记逐条给出值、基准与偏离度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1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结论里的数字是从哪来的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81000" y="876300"/>
            <a:ext cx="6248400" cy="3905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876300"/>
            <a:ext cx="6248400" cy="390525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48577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真实运行截图：多轮追问「那上个月呢」。浅蓝提示条由结论一致性校验器挂出。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838950" y="904875"/>
            <a:ext cx="381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972300" y="8763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结论写完，还要回头对一遍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38950" y="1295400"/>
            <a:ext cx="49720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模型输出结论后，系统会抽取结论中出现的全部数字，逐个回本轮结果集比对。没有找到来源的数字单独列出，提示人工核对。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38950" y="2600325"/>
            <a:ext cx="4972050" cy="1562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截图里的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 169 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是两个渠道订单量的差值，由模型自行算出。它不在结果集中——差值本身可以验证，但它不是查询返回的数据点。若不标注，读的人无从分辨哪些数是查出来的、哪些是推出来的。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838950" y="4295775"/>
            <a:ext cx="4972050" cy="1104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991350" y="4410075"/>
            <a:ext cx="466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标注的作用不是暴露缺陷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991350" y="4648200"/>
            <a:ext cx="4667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而是划出边界：能追溯到结果集的正常给出，追溯不到的不静默略过。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81000" y="5534025"/>
            <a:ext cx="11430000" cy="6286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90550" y="57340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同一层还有两个机制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2457450" y="5743575"/>
            <a:ext cx="709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数据时效探针标注「数据截至哪天」　·　围绕中位水平的异常标记逐条给出值、基准与偏离度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4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它知道自己不知道什么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Box style={{ flexDirection: 'row', gap: 22, alignItems: 'flex-start' }}&gt;&#13;&#10;            {/* 左文 */}&#13;&#10;            &lt;Box style={{ flex: 1, flexDirection: 'column', gap: 14 }}&gt;&#13;&#10;                &lt;Box style={{ flexDirection: 'row', alignItems: 'center', gap: 10 }}&gt;&#13;&#10;                    &lt;Box style={{ width: 4, height: 24, background: '#1E4FA8' }} /&gt;&#13;&#10;                    &lt;Text style={{ fontSize: 25, fontWeight: 'bold', color: '#0E3F8C', fontFamily: '微软雅黑' }}&gt;&#13;&#10;                        未命中不装命中&#13;&#10;                    &lt;/Text&gt;&#13;&#10;                &lt;/Box&gt;&#13;&#10;&#13;&#10;                &lt;Text style={{ fontSize: 20, color: '#1A2230', lineHeight: 1.7, fontFamily: '微软雅黑' }}&gt;&#13;&#10;                    语义层只登记了七个指标。问题落在登记范围之外时，系统照样会把语句写出来，但会在最前面挂一条提示：本次未命中已登记指标，结论与数字仅来自生成式总结。&#13;&#10;                &lt;/Text&gt;&#13;&#10;&#13;&#10;                &lt;Box style={{ flexDirection: 'column', gap: 10 }}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指标未命中&lt;/Text&gt;&#13;&#10;                        &lt;Text style={{ fontSize: 17, color: '#4A5568', fontFamily: '微软雅黑', lineHeight: 1.5 }}&gt;&#13;&#10;                            按最接近的口径继续算，但提示用户结果未经口径背书&#13;&#10;                        &lt;/Text&gt;&#13;&#10;                    &lt;/Box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维度未命中&lt;/Text&gt;&#13;&#10;                        &lt;Text style={{ fontSize: 17, color: '#4A5568', fontFamily: '微软雅黑', lineHeight: 1.5 }}&gt;&#13;&#10;                            问句里的切片维度不在指标声明的范围内时单独提示&#13;&#10;                        &lt;/Text&gt;&#13;&#10;                    &lt;/Box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时间口径不一致&lt;/Text&gt;&#13;&#10;                        &lt;Text style={{ fontSize: 17, color: '#4A5568', fontFamily: '微软雅黑', lineHeight: 1.5 }}&gt;&#13;&#10;                            问句提到的区间与语句里的时间谓词对不上时提示核对&#13;&#10;                        &lt;/Text&gt;&#13;&#10;                    &lt;/Box&gt;&#13;&#10;                &lt;/Box&gt;&#13;&#10;            &lt;/Box&gt;&#13;&#10;&#13;&#10;            {/* 右图 */}&#13;&#10;            &lt;Box style={{ width: 656, flexDirection: 'column', gap: 8 }}&gt;&#13;&#10;                &lt;Image&#13;&#10;                    src='assets/06_metric_miss.png'&#13;&#10;                    style={{ width: 656, height: 410, objectFit: 'cover', border: { width: 1, color: '#D6DCE5' } }}&#13;&#10;                /&gt;&#13;&#10;                &lt;Text style={{ fontSize: 14, color: '#8B97A8', fontFamily: '微软雅黑' }}&gt;&#13;&#10;                    真实运行截图：问「各区域的复购率」。该指标未登记，系统照常出图，但挂出未命中提示。&#13;&#10;                &lt;/Text&gt;&#13;&#10;            &lt;/Box&gt;&#13;&#10;        &lt;/Box&gt;&#13;&#10;&#13;&#10;        {/* 结论条 */}&#13;&#10;        &lt;Box style={{ width: '100%', height: 62, background: '#E8EFF8', border: { left: { width: 5, color: '#1E4FA8' } }, flexDirection: 'row', alignItems: 'center', padding: '0 22px' }}&gt;&#13;&#10;            &lt;Text style={{ fontSize: 19, color: '#1A2230', fontFamily: '微软雅黑' }}&gt;&#13;&#10;                边界提示属于产品设计的一部分，不是错误处理。系统能回答什么、不能背书什么，用户需要知道。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2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它知道自己不知道什么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904875"/>
            <a:ext cx="381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14350" y="876300"/>
            <a:ext cx="1666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未命中不装命中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81000" y="1295400"/>
            <a:ext cx="49720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语义层只登记了七个指标。问题落在登记范围之外时，系统照样会把语句写出来，但会在最前面挂一条提示：本次未命中已登记指标，结论与数字仅来自生成式总结。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2600325"/>
            <a:ext cx="4972050" cy="723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14350" y="2695575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指标未命中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14350" y="2933700"/>
            <a:ext cx="4705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按最接近的口径继续算，但提示用户结果未经口径背书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81000" y="3419475"/>
            <a:ext cx="4972050" cy="723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14350" y="3514725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维度未命中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14350" y="3752850"/>
            <a:ext cx="4705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问句里的切片维度不在指标声明的范围内时单独提示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81000" y="4238625"/>
            <a:ext cx="4972050" cy="723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14350" y="4333875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时间口径不一致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14350" y="4572000"/>
            <a:ext cx="4705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问句提到的区间与语句里的时间谓词对不上时提示核对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562600" y="876300"/>
            <a:ext cx="6248400" cy="3905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0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562600" y="876300"/>
            <a:ext cx="6248400" cy="3905250"/>
          </a:xfrm>
          <a:prstGeom prst="rect">
            <a:avLst/>
          </a:pr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562600" y="48577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真实运行截图：问「各区域的复购率」。该指标未登记，系统照常出图，但挂出未命中提示。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381000" y="5153025"/>
            <a:ext cx="11430000" cy="5905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90550" y="5343525"/>
            <a:ext cx="796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边界提示属于产品设计的一部分，不是错误处理。系统能回答什么、不能背书什么，用户需要知道。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一个会让结论反向的缺陷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Text style={{ fontSize: 21, color: '#4A5568', fontFamily: '微软雅黑' }}&gt;&#13;&#10;            评测全绿之后回头翻代码，发现环比基准的窗口计算在非自然月区间上走了一条错误分支。同一个问句，结论方向是反的。&#13;&#10;        &lt;/Text&gt;&#13;&#10;&#13;&#10;        {/* 上方本期说明 */}&#13;&#10;        &lt;Box style={{ width: '100%', height: 62, background: '#F7F9FC', border: { left: { width: 4, color: '#1E4FA8' } }, flexDirection: 'row', alignItems: 'center', padding: '0 20px', gap: 20 }}&gt;&#13;&#10;            &lt;Text style={{ fontSize: 19, fontWeight: 'bold', color: '#0E3F8C', fontFamily: '微软雅黑' }}&gt;本期窗口&lt;/Text&gt;&#13;&#10;            &lt;Text style={{ fontSize: 19, color: '#1A2230', fontFamily: '微软雅黑' }}&gt;2026-08-15 → 2026-09-15　本期成交总额 3,563,928.35 元&lt;/Text&gt;&#13;&#10;            &lt;Text style={{ fontSize: 17, color: '#8B97A8', fontFamily: '微软雅黑' }}&gt;不是自然月，这是触发缺陷的前提&lt;/Text&gt;&#13;&#10;        &lt;/Box&gt;&#13;&#10;&#13;&#10;        {/* 双栏对照 */}&#13;&#10;        &lt;Box style={{ flexDirection: 'row', gap: 18 }}&gt;&#13;&#10;            {/* 修复前 */}&#13;&#10;            &lt;Box style={{ flex: 1, background: '#FDF3F2', border: { width: 1, color: '#D9534F' }, flexDirection: 'column', padding: 18, gap: 10 }}&gt;&#13;&#10;                &lt;Box style={{ flexDirection: 'row', alignItems: 'center', gap: 9 }}&gt;&#13;&#10;                    &lt;Box style={{ width: 66, height: 26, background: '#D9534F', alignItems: 'center', justifyContent: 'center' }}&gt;&#13;&#10;                        &lt;Text style={{ fontSize: 16, fontWeight: 'bold', color: '#FFFFFF', fontFamily: '微软雅黑' }}&gt;修复前&lt;/Text&gt;&#13;&#10;                    &lt;/Box&gt;&#13;&#10;                    &lt;Text style={{ fontSize: 22, fontWeight: 'bold', color: '#0E3F8C', fontFamily: '微软雅黑' }}&gt;按整月对齐&lt;/Text&gt;&#13;&#10;                &lt;/Box&gt;&#13;&#10;                &lt;Text style={{ fontSize: 19, color: '#4A5568', fontFamily: '微软雅黑', lineHeight: 1.55 }}&gt;&#13;&#10;                    环比窗口取到 2026-07-01 → 2026-08-01。区间与本期不相邻，中间 08-01 至 08-15 半月无人覆盖。&#13;&#10;                &lt;/Text&gt;&#13;&#10;                &lt;Text style={{ fontSize: 64, fontWeight: 'bold', color: '#D9534F', fontFamily: 'Times New Roman', lineHeight: 1 }}&gt;-10.19%&lt;/Text&gt;&#13;&#10;                &lt;Text style={{ fontSize: 18, color: '#4A5568', fontFamily: '微软雅黑' }}&gt;&#13;&#10;                    结论写成「较上月回落约一成」，方向与事实相反。&#13;&#10;                &lt;/Text&gt;&#13;&#10;            &lt;/Box&gt;&#13;&#10;&#13;&#10;            {/* 修复后 */}&#13;&#10;            &lt;Box style={{ flex: 1, background: '#F0F5FC', border: { width: 1, color: '#1E4FA8' }, flexDirection: 'column', padding: 18, gap: 10 }}&gt;&#13;&#10;                &lt;Box style={{ flexDirection: 'row', alignItems: 'center', gap: 9 }}&gt;&#13;&#10;                    &lt;Box style={{ width: 66, height: 26, background: '#1E4FA8', alignItems: 'center', justifyContent: 'center' }}&gt;&#13;&#10;                        &lt;Text style={{ fontSize: 16, fontWeight: 'bold', color: '#FFFFFF', fontFamily: '微软雅黑' }}&gt;修复后&lt;/Text&gt;&#13;&#10;                    &lt;/Box&gt;&#13;&#10;                    &lt;Text style={{ fontSize: 22, fontWeight: 'bold', color: '#0E3F8C', fontFamily: '微软雅黑' }}&gt;紧邻等长平移&lt;/Text&gt;&#13;&#10;                &lt;/Box&gt;&#13;&#10;                &lt;Text style={{ fontSize: 19, color: '#4A5568', fontFamily: '微软雅黑', lineHeight: 1.55 }}&gt;&#13;&#10;                    环比窗口取到 2026-07-15 → 2026-08-15。紧邻本期且长度一致，两条时间轴严格可比。&#13;&#10;                &lt;/Text&gt;&#13;&#10;                &lt;Text style={{ fontSize: 64, fontWeight: 'bold', color: '#1E4FA8', fontFamily: 'Times New Roman', lineHeight: 1 }}&gt;+8.59%&lt;/Text&gt;&#13;&#10;                &lt;Text style={{ fontSize: 18, color: '#4A5568', fontFamily: '微软雅黑' }}&gt;&#13;&#10;                    结论改成「较上月增长约 8.6%」，本期值未变。&#13;&#10;                &lt;/Text&gt;&#13;&#10;            &lt;/Box&gt;&#13;&#10;        &lt;/Box&gt;&#13;&#10;&#13;&#10;        {/* 根因与修法 */}&#13;&#10;        &lt;Box style={{ flexDirection: 'row', gap: 14 }}&gt;&#13;&#10;            &lt;Box style={{ flex: 1, background: '#E8EFF8', padding: '12px 18px', flexDirection: 'column', gap: 3 }}&gt;&#13;&#10;                &lt;Text style={{ fontSize: 19, fontWeight: 'bold', color: '#0E3F8C', fontFamily: '微软雅黑' }}&gt;根因&lt;/Text&gt;&#13;&#10;                &lt;Text style={{ fontSize: 17, color: '#4A5568', fontFamily: '微软雅黑', lineHeight: 1.5 }}&gt;&#13;&#10;                    基准取值同时支持按月对齐与等长平移，两条路径在非自然月窗口下给出不同结果。&#13;&#10;                &lt;/Text&gt;&#13;&#10;            &lt;/Box&gt;&#13;&#10;            &lt;Box style={{ flex: 1, background: '#E8EFF8', padding: '12px 18px', flexDirection: 'column', gap: 3 }}&gt;&#13;&#10;                &lt;Text style={{ fontSize: 19, fontWeight: 'bold', color: '#0E3F8C', fontFamily: '微软雅黑' }}&gt;修法&lt;/Text&gt;&#13;&#10;                &lt;Text style={{ fontSize: 17, color: '#4A5568', fontFamily: '微软雅黑', lineHeight: 1.5 }}&gt;&#13;&#10;                    先判定窗口是否为自然月，是才走月对齐，否则退回等长平移；自然月语义不变。&#13;&#10;                &lt;/Text&gt;&#13;&#10;            &lt;/Box&gt;&#13;&#10;            &lt;Box style={{ flex: 1, background: '#E8EFF8', padding: '12px 18px', flexDirection: 'column', gap: 3 }}&gt;&#13;&#10;                &lt;Text style={{ fontSize: 19, fontWeight: 'bold', color: '#0E3F8C', fontFamily: '微软雅黑' }}&gt;防线&lt;/Text&gt;&#13;&#10;                &lt;Text style={{ fontSize: 17, color: '#4A5568', fontFamily: '微软雅黑', lineHeight: 1.5 }}&gt;&#13;&#10;                    补一条性质断言：任意窗口下环比必须紧邻且等长，新增粒度同样受约束。&#13;&#10;                &lt;/Text&gt;&#13;&#10;            &lt;/Box&gt;&#13;&#10;        &lt;/Box&gt;&#13;&#10;&#13;&#10;        &lt;Text style={{ fontSize: 14, color: '#8B97A8', fontFamily: '微软雅黑' }}&gt;&#13;&#10;            数据与窗口取自 CHANGELOG.md T44 节的端到端记录；单元测试数由 509 增至 520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3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一个会让结论反向的缺陷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评测全绿之后回头翻代码，发现环比基准的窗口计算在非自然月区间上走了一条错误分支。同一个问句，结论方向是反的。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81000" y="1257300"/>
            <a:ext cx="11430000" cy="5905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71500" y="14478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本期窗口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485900" y="1447800"/>
            <a:ext cx="4752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2026-08-15 → 2026-09-15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　本期成交总额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3,563,928.35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元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29375" y="145732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不是自然月，这是触发缺陷的前提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381000" y="1981200"/>
            <a:ext cx="5629275" cy="2505075"/>
          </a:xfrm>
          <a:prstGeom prst="rect">
            <a:avLst/>
          </a:prstGeom>
          <a:solidFill>
            <a:srgbClr val="FDF3F2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552450" y="2162175"/>
            <a:ext cx="628650" cy="2476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8175" y="21907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修复前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266825" y="215265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按整月对齐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52450" y="2505075"/>
            <a:ext cx="52863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环比窗口取到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2026-07-01 → 2026-08-01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。区间与本期不相邻，中间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08-01 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至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08-15 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半月无人覆盖。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5286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D9534F"/>
                </a:solidFill>
                <a:latin typeface="Times New Roman"/>
                <a:ea typeface="Times New Roman"/>
              </a:rPr>
              <a:t>-10.19%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52450" y="4105275"/>
            <a:ext cx="5286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结论写成「较上月回落约一成」，方向与事实相反。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181725" y="1981200"/>
            <a:ext cx="5629275" cy="2505075"/>
          </a:xfrm>
          <a:prstGeom prst="rect">
            <a:avLst/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353175" y="2162175"/>
            <a:ext cx="62865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38900" y="21907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修复后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067550" y="21526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紧邻等长平移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53175" y="2505075"/>
            <a:ext cx="52863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环比窗口取到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2026-07-15 → 2026-08-15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。紧邻本期且长度一致，两条时间轴严格可比。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353175" y="3276600"/>
            <a:ext cx="5286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Times New Roman"/>
                <a:ea typeface="Times New Roman"/>
              </a:rPr>
              <a:t>+8.59%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53175" y="4105275"/>
            <a:ext cx="5286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结论改成「较上月增长约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 8.6%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」，本期值未变。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81000" y="4619625"/>
            <a:ext cx="3724275" cy="1066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52450" y="4733925"/>
            <a:ext cx="338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根因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52450" y="4981575"/>
            <a:ext cx="3381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基准取值同时支持按月对齐与等长平移，两条路径在非自然月窗口下给出不同结果。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238625" y="4619625"/>
            <a:ext cx="3714750" cy="1066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410075" y="47339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修法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410075" y="4981575"/>
            <a:ext cx="3371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先判定窗口是否为自然月，是才走月对齐，否则退回等长平移；自然月语义不变。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8086725" y="4619625"/>
            <a:ext cx="3724275" cy="1066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258175" y="4733925"/>
            <a:ext cx="338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防线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258175" y="4981575"/>
            <a:ext cx="3381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补一条性质断言：任意窗口下环比必须紧邻且等长，新增粒度同样受约束。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58197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数据与窗口取自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CHANGELOG.md T44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节的端到端记录；单元测试数由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509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增至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520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6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真实运行演示&#13;&#10;            &lt;/Text&gt;&#13;&#10;        &lt;/Box&gt;&#13;&#10;        &lt;Text style={{ fontSize: 15, color: 'rgba(255,255,255,0.7)', fontFamily: '微软雅黑' }}&gt;&#13;&#10;            验证与演示&#13;&#10;        &lt;/Text&gt;&#13;&#10;    &lt;/Box&gt;&#13;&#10;&#13;&#10;    &lt;Box style={{ flex: 1, flexDirection: 'column', padding: '18px 40px 0 40px', gap: 12 }}&gt;&#13;&#10;        {/* 第一行 */}&#13;&#10;        &lt;Box style={{ flexDirection: 'row', gap: 14 }}&gt;&#13;&#10;            &lt;Box style={{ flex: 1, flexDirection: 'column', gap: 6 }}&gt;&#13;&#10;                &lt;Image src='assets/01_basic_pipeline.png' style={{ width: '100%', height: 200, objectFit: 'contain', border: { width: 1, color: '#D6DCE5' } }} /&gt;&#13;&#10;                &lt;Text style={{ fontSize: 17, fontWeight: 'bold', color: '#1E4FA8', fontFamily: '微软雅黑' }}&gt;基础链路&lt;/Text&gt;&#13;&#10;                &lt;Text style={{ fontSize: 15, color: '#8B97A8', fontFamily: '微软雅黑' }}&gt;结论、时效标注、异常标记、图表与结果表&lt;/Text&gt;&#13;&#10;            &lt;/Box&gt;&#13;&#10;            &lt;Box style={{ flex: 1, flexDirection: 'column', gap: 6 }}&gt;&#13;&#10;                &lt;Image src='assets/02_trend.png' style={{ width: '100%', height: 200, objectFit: 'contain', border: { width: 1, color: '#D6DCE5' } }} /&gt;&#13;&#10;                &lt;Text style={{ fontSize: 17, fontWeight: 'bold', color: '#1E4FA8', fontFamily: '微软雅黑' }}&gt;趋势问题&lt;/Text&gt;&#13;&#10;                &lt;Text style={{ fontSize: 15, color: '#8B97A8', fontFamily: '微软雅黑' }}&gt;横轴为时间且行数大于 3，选折线并写明依据&lt;/Text&gt;&#13;&#10;            &lt;/Box&gt;&#13;&#10;            &lt;Box style={{ flex: 1, flexDirection: 'column', gap: 6 }}&gt;&#13;&#10;                &lt;Image src='assets/03_followup_check.png' style={{ width: '100%', height: 200, objectFit: 'contain', border: { width: 1, color: '#D6DCE5' } }} /&gt;&#13;&#10;                &lt;Text style={{ fontSize: 17, fontWeight: 'bold', color: '#1E4FA8', fontFamily: '微软雅黑' }}&gt;多轮追问&lt;/Text&gt;&#13;&#10;                &lt;Text style={{ fontSize: 15, color: '#8B97A8', fontFamily: '微软雅黑' }}&gt;「那上个月呢」被改写为完整问句，并校验结论数字&lt;/Text&gt;&#13;&#10;            &lt;/Box&gt;&#13;&#10;        &lt;/Box&gt;&#13;&#10;&#13;&#10;        {/* 第二行 */}&#13;&#10;        &lt;Box style={{ flexDirection: 'row', gap: 14 }}&gt;&#13;&#10;            &lt;Box style={{ flex: 1, flexDirection: 'column', gap: 6 }}&gt;&#13;&#10;                &lt;Image src='assets/04_guard_block.png' style={{ width: '100%', height: 200, objectFit: 'contain', border: { width: 1, color: '#D6DCE5' } }} /&gt;&#13;&#10;                &lt;Text style={{ fontSize: 17, fontWeight: 'bold', color: '#1E4FA8', fontFamily: '微软雅黑' }}&gt;越权请求&lt;/Text&gt;&#13;&#10;                &lt;Text style={{ fontSize: 15, color: '#8B97A8', fontFamily: '微软雅黑' }}&gt;「清理一批无效订单」被挡回，全程只走两个阶段&lt;/Text&gt;&#13;&#10;            &lt;/Box&gt;&#13;&#10;            &lt;Box style={{ flex: 1, flexDirection: 'column', gap: 6 }}&gt;&#13;&#10;                &lt;Image src='assets/05_sql_panel.png' style={{ width: '100%', height: 200, objectFit: 'contain', border: { width: 1, color: '#D6DCE5' } }} /&gt;&#13;&#10;                &lt;Text style={{ fontSize: 17, fontWeight: 'bold', color: '#1E4FA8', fontFamily: '微软雅黑' }}&gt;技术细节&lt;/Text&gt;&#13;&#10;                &lt;Text style={{ fontSize: 15, color: '#8B97A8', fontFamily: '微软雅黑' }}&gt;执行的 SQL、阶段时序、问题槽位与安全沙箱告警&lt;/Text&gt;&#13;&#10;            &lt;/Box&gt;&#13;&#10;            &lt;Box style={{ flex: 1, flexDirection: 'column', gap: 6 }}&gt;&#13;&#10;                &lt;Image src='assets/06_metric_miss.png' style={{ width: '100%', height: 200, objectFit: 'contain', border: { width: 1, color: '#D6DCE5' } }} /&gt;&#13;&#10;                &lt;Text style={{ fontSize: 17, fontWeight: 'bold', color: '#1E4FA8', fontFamily: '微软雅黑' }}&gt;边界提示&lt;/Text&gt;&#13;&#10;                &lt;Text style={{ fontSize: 15, color: '#8B97A8', fontFamily: '微软雅黑' }}&gt;未命中已登记指标时挂出提示，不静默照常回答&lt;/Text&gt;&#13;&#10;            &lt;/Box&gt;&#13;&#10;        &lt;/Box&gt;&#13;&#10;&#13;&#10;        &lt;Text style={{ fontSize: 14, color: '#8B97A8', fontFamily: '微软雅黑' }}&gt;&#13;&#10;            六张截图均于 2026-09-29 在本机采集，模型为 qwen-plus（LLM_MOCK=false），未做任何界面修饰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4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1828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真实运行演示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验证与演示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381000" y="857250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3" name=""/>
          <p:cNvPicPr>
            <a:picLocks noChangeAspect="1"/>
          </p:cNvPicPr>
          <p:nvPr/>
        </p:nvPicPr>
        <p:blipFill>
          <a:blip r:embed="rId1"/>
          <a:srcRect l="0" t="9079" r="0" b="9079"/>
          <a:stretch>
            <a:fillRect/>
          </a:stretch>
        </p:blipFill>
        <p:spPr>
          <a:xfrm rot="0" flipH="0" flipV="0">
            <a:off x="381000" y="857250"/>
            <a:ext cx="3724275" cy="190500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81000" y="2819400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基础链路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1000" y="3076575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结论、时效标注、异常标记、图表与结果表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238625" y="857250"/>
            <a:ext cx="3714750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 r:embed="rId2"/>
          <a:srcRect l="0" t="8974" r="0" b="8974"/>
          <a:stretch>
            <a:fillRect/>
          </a:stretch>
        </p:blipFill>
        <p:spPr>
          <a:xfrm rot="0" flipH="0" flipV="0">
            <a:off x="4238625" y="857250"/>
            <a:ext cx="3714750" cy="190500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238625" y="281940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趋势问题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238625" y="307657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横轴为时间且行数大于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 3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，选折线并写明依据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086725" y="857250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1" name=""/>
          <p:cNvPicPr>
            <a:picLocks noChangeAspect="1"/>
          </p:cNvPicPr>
          <p:nvPr/>
        </p:nvPicPr>
        <p:blipFill>
          <a:blip r:embed="rId3"/>
          <a:srcRect l="0" t="9079" r="0" b="9079"/>
          <a:stretch>
            <a:fillRect/>
          </a:stretch>
        </p:blipFill>
        <p:spPr>
          <a:xfrm rot="0" flipH="0" flipV="0">
            <a:off x="8086725" y="857250"/>
            <a:ext cx="3724275" cy="1905000"/>
          </a:xfrm>
          <a:prstGeom prst="rect">
            <a:avLst/>
          </a:prstGeom>
          <a:ln/>
        </p:spPr>
      </p:pic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86725" y="2819400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多轮追问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086725" y="3076575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「那上个月呢」被改写为完整问句，并校验结论数字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3362325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4"/>
          <a:srcRect l="0" t="9079" r="0" b="9079"/>
          <a:stretch>
            <a:fillRect/>
          </a:stretch>
        </p:blipFill>
        <p:spPr>
          <a:xfrm rot="0" flipH="0" flipV="0">
            <a:off x="381000" y="3362325"/>
            <a:ext cx="3724275" cy="190500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81000" y="53244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越权请求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81000" y="5581650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「清理一批无效订单」被挡回，全程只走两个阶段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238625" y="3362325"/>
            <a:ext cx="3714750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 r:embed="rId5"/>
          <a:srcRect l="0" t="8974" r="0" b="8974"/>
          <a:stretch>
            <a:fillRect/>
          </a:stretch>
        </p:blipFill>
        <p:spPr>
          <a:xfrm rot="0" flipH="0" flipV="0">
            <a:off x="4238625" y="3362325"/>
            <a:ext cx="3714750" cy="190500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238625" y="5324475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技术细节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238625" y="558165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执行的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 SQL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、阶段时序、问题槽位与安全沙箱告警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86725" y="3362325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73" name=""/>
          <p:cNvPicPr>
            <a:picLocks noChangeAspect="1"/>
          </p:cNvPicPr>
          <p:nvPr/>
        </p:nvPicPr>
        <p:blipFill>
          <a:blip r:embed="rId6"/>
          <a:srcRect l="0" t="9079" r="0" b="9079"/>
          <a:stretch>
            <a:fillRect/>
          </a:stretch>
        </p:blipFill>
        <p:spPr>
          <a:xfrm rot="0" flipH="0" flipV="0">
            <a:off x="8086725" y="3362325"/>
            <a:ext cx="3724275" cy="1905000"/>
          </a:xfrm>
          <a:prstGeom prst="rect">
            <a:avLst/>
          </a:prstGeom>
          <a:ln/>
        </p:spPr>
      </p:pic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86725" y="53244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边界提示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86725" y="5581650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未命中已登记指标时挂出提示，不静默照常回答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1000" y="586740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六张截图均于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2026-09-29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在本机采集，模型为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qwen-plus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（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LLM_MOCK=false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），未做任何界面修饰。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评测结果，两套口径&#13;&#10;            &lt;/Text&gt;&#13;&#10;        &lt;/Box&gt;&#13;&#10;        &lt;Text style={{ fontSize: 15, color: 'rgba(255,255,255,0.7)', fontFamily: '微软雅黑' }}&gt;&#13;&#10;            验证与演示&#13;&#10;        &lt;/Text&gt;&#13;&#10;    &lt;/Box&gt;&#13;&#10;&#13;&#10;    &lt;Box style={{ flex: 1, flexDirection: 'column', padding: '18px 40px 0 40px', gap: 12 }}&gt;&#13;&#10;        &lt;Text style={{ fontSize: 21, color: '#4A5568', fontFamily: '微软雅黑' }}&gt;&#13;&#10;            评测分两套跑。桩模式验链路是否完整，真实模型验端到端是否可用。两组数字不混用，也不互相替代。&#13;&#10;        &lt;/Text&gt;&#13;&#10;&#13;&#10;        &lt;Box style={{ flexDirection: 'row', gap: 18, alignItems: 'flex-start' }}&gt;&#13;&#10;            {/* 左：十组表格 */}&#13;&#10;            &lt;Box style={{ flex: 1.15, flexDirection: 'column' }}&gt;&#13;&#10;                &lt;Box style={{ flexDirection: 'row', alignItems: 'center', height: 38, background: '#0E3F8C', padding: '0 12px' }}&gt;&#13;&#10;                    &lt;Text style={{ width: 190, fontSize: 17, fontWeight: 'bold', color: '#FFFFFF', fontFamily: '微软雅黑' }}&gt;评测组&lt;/Text&gt;&#13;&#10;                    &lt;Text style={{ flex: 1, fontSize: 17, fontWeight: 'bold', color: '#FFFFFF', fontFamily: '微软雅黑', textAlign: 'center' }}&gt;用例&lt;/Text&gt;&#13;&#10;                    &lt;Text style={{ flex: 1, fontSize: 17, fontWeight: 'bold', color: '#FFFFFF', fontFamily: '微软雅黑', textAlign: 'center' }}&gt;通过&lt;/Text&gt;&#13;&#10;                    &lt;Text style={{ flex: 1, fontSize: 17, fontWeight: 'bold', color: '#FFFFFF', fontFamily: '微软雅黑', textAlign: 'center' }}&gt;跳过&lt;/Text&gt;&#13;&#10;                &lt;/Box&gt;&#13;&#10;                &lt;Box style={{ flexDirection: 'row', alignItems: 'center', height: 32, border: { bottom: { width: 1, color: '#E5E7EB' } }, padding: '0 12px' }}&gt;&#13;&#10;                    &lt;Text style={{ width: 190, fontSize: 16, color: '#1A2230', fontFamily: '微软雅黑' }}&gt;召回命中 recall&lt;/Text&gt;&#13;&#10;                    &lt;Text style={{ flex: 1, fontSize: 16, color: '#4A5568', fontFamily: '微软雅黑', textAlign: 'center' }}&gt;37&lt;/Text&gt;&#13;&#10;                    &lt;Text style={{ flex: 1, fontSize: 16, fontWeight: 'bold', color: '#1E4FA8', fontFamily: '微软雅黑', textAlign: 'center' }}&gt;37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ackground: '#F7F9FC', border: { bottom: { width: 1, color: '#E5E7EB' } }, padding: '0 12px' }}&gt;&#13;&#10;                    &lt;Text style={{ width: 190, fontSize: 16, color: '#1A2230', fontFamily: '微软雅黑' }}&gt;主链路 pipeline&lt;/Text&gt;&#13;&#10;                    &lt;Text style={{ flex: 1, fontSize: 16, color: '#4A5568', fontFamily: '微软雅黑', textAlign: 'center' }}&gt;10&lt;/Text&gt;&#13;&#10;                    &lt;Text style={{ flex: 1, fontSize: 16, fontWeight: 'bold', color: '#1E4FA8', fontFamily: '微软雅黑', textAlign: 'center' }}&gt;9&lt;/Text&gt;&#13;&#10;                    &lt;Text style={{ flex: 1, fontSize: 16, color: '#8B97A8', fontFamily: '微软雅黑', textAlign: 'center' }}&gt;1&lt;/Text&gt;&#13;&#10;                &lt;/Box&gt;&#13;&#10;                &lt;Box style={{ flexDirection: 'row', alignItems: 'center', height: 32, border: { bottom: { width: 1, color: '#E5E7EB' } }, padding: '0 12px' }}&gt;&#13;&#10;                    &lt;Text style={{ width: 190, fontSize: 16, color: '#1A2230', fontFamily: '微软雅黑' }}&gt;安全沙箱 safety&lt;/Text&gt;&#13;&#10;                    &lt;Text style={{ flex: 1, fontSize: 16, color: '#4A5568', fontFamily: '微软雅黑', textAlign: 'center' }}&gt;8&lt;/Text&gt;&#13;&#10;                    &lt;Text style={{ flex: 1, fontSize: 16, fontWeight: 'bold', color: '#1E4FA8', fontFamily: '微软雅黑', textAlign: 'center' }}&gt;8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ackground: '#F7F9FC', border: { bottom: { width: 1, color: '#E5E7EB' } }, padding: '0 12px' }}&gt;&#13;&#10;                    &lt;Text style={{ width: 190, fontSize: 16, color: '#1A2230', fontFamily: '微软雅黑' }}&gt;数据血缘 datalineage&lt;/Text&gt;&#13;&#10;                    &lt;Text style={{ flex: 1, fontSize: 16, color: '#4A5568', fontFamily: '微软雅黑', textAlign: 'center' }}&gt;5&lt;/Text&gt;&#13;&#10;                    &lt;Text style={{ flex: 1, fontSize: 16, fontWeight: 'bold', color: '#1E4FA8', fontFamily: '微软雅黑', textAlign: 'center' }}&gt;5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order: { bottom: { width: 1, color: '#E5E7EB' } }, padding: '0 12px' }}&gt;&#13;&#10;                    &lt;Text style={{ width: 190, fontSize: 16, color: '#1A2230', fontFamily: '微软雅黑' }}&gt;对比基准 baseline&lt;/Text&gt;&#13;&#10;                    &lt;Text style={{ flex: 1, fontSize: 16, color: '#4A5568', fontFamily: '微软雅黑', textAlign: 'center' }}&gt;6&lt;/Text&gt;&#13;&#10;                    &lt;Text style={{ flex: 1, fontSize: 16, fontWeight: 'bold', color: '#1E4FA8', fontFamily: '微软雅黑', textAlign: 'center' }}&gt;6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ackground: '#F7F9FC', border: { bottom: { width: 1, color: '#E5E7EB' } }, padding: '0 12px' }}&gt;&#13;&#10;                    &lt;Text style={{ width: 190, fontSize: 16, color: '#1A2230', fontFamily: '微软雅黑' }}&gt;下钻 drilldown&lt;/Text&gt;&#13;&#10;                    &lt;Text style={{ flex: 1, fontSize: 16, color: '#4A5568', fontFamily: '微软雅黑', textAlign: 'center' }}&gt;7&lt;/Text&gt;&#13;&#10;                    &lt;Text style={{ flex: 1, fontSize: 16, fontWeight: 'bold', color: '#1E4FA8', fontFamily: '微软雅黑', textAlign: 'center' }}&gt;7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order: { bottom: { width: 1, color: '#E5E7EB' } }, padding: '0 12px' }}&gt;&#13;&#10;                    &lt;Text style={{ width: 190, fontSize: 16, color: '#1A2230', fontFamily: '微软雅黑' }}&gt;健壮性 robust&lt;/Text&gt;&#13;&#10;                    &lt;Text style={{ flex: 1, fontSize: 16, color: '#4A5568', fontFamily: '微软雅黑', textAlign: 'center' }}&gt;2&lt;/Text&gt;&#13;&#10;                    &lt;Text style={{ flex: 1, fontSize: 16, fontWeight: 'bold', color: '#1E4FA8', fontFamily: '微软雅黑', textAlign: 'center' }}&gt;2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ackground: '#F7F9FC', border: { bottom: { width: 1, color: '#E5E7EB' } }, padding: '0 12px' }}&gt;&#13;&#10;                    &lt;Text style={{ width: 190, fontSize: 16, color: '#1A2230', fontFamily: '微软雅黑' }}&gt;告警订阅 alert&lt;/Text&gt;&#13;&#10;                    &lt;Text style={{ flex: 1, fontSize: 16, color: '#4A5568', fontFamily: '微软雅黑', textAlign: 'center' }}&gt;4&lt;/Text&gt;&#13;&#10;                    &lt;Text style={{ flex: 1, fontSize: 16, fontWeight: 'bold', color: '#1E4FA8', fontFamily: '微软雅黑', textAlign: 'center' }}&gt;4&lt;/Text&gt;&#13;&#10;                    &lt;Text style={{ flex: 1, fontSize: 16, color: '#8B97A8', fontFamily: '微软雅黑', textAlign: 'center' }}&gt;0&lt;/Text&gt;&#13;&#10;                &lt;/Box&gt;&#13;&#10;                &lt;Box style={{ flexDirection: 'row', alignItems: 'center', height: 32, border: { bottom: { width: 1, color: '#E5E7EB' } }, padding: '0 12px' }}&gt;&#13;&#10;                    &lt;Text style={{ width: 190, fontSize: 16, color: '#1A2230', fontFamily: '微软雅黑' }}&gt;多轮追问 multiturn&lt;/Text&gt;&#13;&#10;                    &lt;Text style={{ flex: 1, fontSize: 16, color: '#4A5568', fontFamily: '微软雅黑', textAlign: 'center' }}&gt;6&lt;/Text&gt;&#13;&#10;                    &lt;Text style={{ flex: 1, fontSize: 16, fontWeight: 'bold', color: '#1E4FA8', fontFamily: '微软雅黑', textAlign: 'center' }}&gt;5&lt;/Text&gt;&#13;&#10;                    &lt;Text style={{ flex: 1, fontSize: 16, color: '#8B97A8', fontFamily: '微软雅黑', textAlign: 'center' }}&gt;1&lt;/Text&gt;&#13;&#10;                &lt;/Box&gt;&#13;&#10;                &lt;Box style={{ flexDirection: 'row', alignItems: 'center', height: 32, background: '#F7F9FC', border: { bottom: { width: 1, color: '#E5E7EB' } }, padding: '0 12px' }}&gt;&#13;&#10;                    &lt;Text style={{ width: 190, fontSize: 16, color: '#1A2230', fontFamily: '微软雅黑' }}&gt;进阶语法 advanced&lt;/Text&gt;&#13;&#10;                    &lt;Text style={{ flex: 1, fontSize: 16, color: '#4A5568', fontFamily: '微软雅黑', textAlign: 'center' }}&gt;3&lt;/Text&gt;&#13;&#10;                    &lt;Text style={{ flex: 1, fontSize: 16, color: '#8B97A8', fontFamily: '微软雅黑', textAlign: 'center' }}&gt;0&lt;/Text&gt;&#13;&#10;                    &lt;Text style={{ flex: 1, fontSize: 16, color: '#8B97A8', fontFamily: '微软雅黑', textAlign: 'center' }}&gt;3&lt;/Text&gt;&#13;&#10;                &lt;/Box&gt;&#13;&#10;            &lt;/Box&gt;&#13;&#10;&#13;&#10;            {/* 右：两套口径 + 性能 */}&#13;&#10;            &lt;Box style={{ flex: 1, flexDirection: 'column', gap: 12 }}&gt;&#13;&#10;                &lt;Box style={{ background: '#E8EFF8', padding: '12px 16px', flexDirection: 'column', gap: 4 }}&gt;&#13;&#10;                    &lt;Text style={{ fontSize: 19, fontWeight: 'bold', color: '#0E3F8C', fontFamily: '微软雅黑' }}&gt;&#13;&#10;                        桩模式　十组未通过 0 条&#13;&#10;                    &lt;/Text&gt;&#13;&#10;                    &lt;Text style={{ fontSize: 16, color: '#4A5568', fontFamily: '微软雅黑', lineHeight: 1.5 }}&gt;&#13;&#10;                        验证链路完整性：节点是否都走到、断言是否都能过。它不证明模型能力，advanced 组因桩实现不支持而跳过。&#13;&#10;                    &lt;/Text&gt;&#13;&#10;                &lt;/Box&gt;&#13;&#10;                &lt;Box style={{ background: '#F7F9FC', border: { left: { width: 4, color: '#1E4FA8' } }, padding: '12px 16px', flexDirection: 'column', gap: 4 }}&gt;&#13;&#10;                    &lt;Text style={{ fontSize: 19, fontWeight: 'bold', color: '#0E3F8C', fontFamily: '微软雅黑' }}&gt;&#13;&#10;                        真实模型　主链路 8 / 10&#13;&#10;                    &lt;/Text&gt;&#13;&#10;                    &lt;Text style={{ fontSize: 16, color: '#4A5568', fontFamily: '微软雅黑', lineHeight: 1.5 }}&gt;&#13;&#10;                        qwen-plus 端到端跑通，两条失败为口径漂移。这一组的断言覆盖正是随后补入口径签名校验的直接起因。&#13;&#10;                    &lt;/Text&gt;&#13;&#10;                &lt;/Box&gt;&#13;&#10;                &lt;Box style={{ background: '#F7F9FC', border: { left: { width: 4, color: '#3D7BD9' } }, padding: '12px 16px', flexDirection: 'column', gap: 4 }}&gt;&#13;&#10;                    &lt;Text style={{ fontSize: 19, fontWeight: 'bold', color: '#0E3F8C', fontFamily: '微软雅黑' }}&gt;单元测试与延迟&lt;/Text&gt;&#13;&#10;                    &lt;Text style={{ fontSize: 16, color: '#4A5568', fontFamily: '微软雅黑', lineHeight: 1.5 }}&gt;&#13;&#10;                        pytest 520 条通过，2026-09-29 本机实跑。查询延迟 p50 8.8 毫秒、p95 25.2 毫秒，31 次采样。&#13;&#10;                    &lt;/Text&gt;&#13;&#10;                &lt;/Box&gt;&#13;&#10;            &lt;/Box&gt;&#13;&#10;        &lt;/Box&gt;&#13;&#10;&#13;&#10;        &lt;Text style={{ fontSize: 14, color: '#8B97A8', fontFamily: '微软雅黑' }}&gt;&#13;&#10;            桩模式数据取自 backend/eval/report.json（2026-09-23 15:56，LLM_MOCK=true）；真实模型数据取自 report-real-2026-09-22.json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评测结果，两套口径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验证与演示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85725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评测分两套跑。桩模式验链路是否完整，真实模型验端到端是否可用。两组数字不混用，也不互相替代。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1219200"/>
            <a:ext cx="6019800" cy="3619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95300" y="130492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/>
                <a:ea typeface="微软雅黑"/>
              </a:rPr>
              <a:t>评测组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305050" y="1304925"/>
            <a:ext cx="13239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/>
                <a:ea typeface="微软雅黑"/>
              </a:rPr>
              <a:t>用例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629025" y="1304925"/>
            <a:ext cx="13335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/>
                <a:ea typeface="微软雅黑"/>
              </a:rPr>
              <a:t>通过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62525" y="1304925"/>
            <a:ext cx="13239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/>
                <a:ea typeface="微软雅黑"/>
              </a:rPr>
              <a:t>跳过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95300" y="16383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召回命中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recall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2305050" y="16383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629025" y="16383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962525" y="16383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381000" y="1885950"/>
            <a:ext cx="6019800" cy="304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95300" y="19431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主链路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pipeline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305050" y="19431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629025" y="19431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9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962525" y="19431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95300" y="22479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安全沙箱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safety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305050" y="22479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629025" y="22479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962525" y="22479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81000" y="2495550"/>
            <a:ext cx="6019800" cy="304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95300" y="2552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数据血缘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datalineage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305050" y="25527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629025" y="25527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962525" y="25527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95300" y="28575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对比基准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baseline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2305050" y="28575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629025" y="28575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962525" y="28575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81000" y="3105150"/>
            <a:ext cx="6019800" cy="304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95300" y="31623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下钻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drilldown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305050" y="31623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629025" y="31623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962525" y="31623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95300" y="34671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健壮性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robust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305050" y="34671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629025" y="34671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962525" y="34671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381000" y="3714750"/>
            <a:ext cx="6019800" cy="304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95300" y="37719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告警订阅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alert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305050" y="37719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629025" y="37719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962525" y="37719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95300" y="40767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多轮追问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multiturn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305050" y="40767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629025" y="40767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962525" y="40767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81000" y="4324350"/>
            <a:ext cx="6019800" cy="304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95300" y="43815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进阶语法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advanced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305050" y="43815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629025" y="438150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962525" y="4381500"/>
            <a:ext cx="13239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572250" y="1219200"/>
            <a:ext cx="5238750" cy="1038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724650" y="1333500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桩模式　十组未通过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 0 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条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724650" y="159067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验证链路完整性：节点是否都走到、断言是否都能过。它不证明模型能力，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advanced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组因桩实现不支持而跳过。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572250" y="2371725"/>
            <a:ext cx="5238750" cy="10382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724650" y="2486025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真实模型　主链路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 8 / 10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724650" y="2743200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qwen-plus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端到端跑通，两条失败为口径漂移。这一组的断言覆盖正是随后补入口径签名校验的直接起因。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572250" y="3524250"/>
            <a:ext cx="5238750" cy="10382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724650" y="3638550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单元测试与延迟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724650" y="389572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pytest 520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条通过，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2026-09-29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本机实跑。查询延迟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p50 8.8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毫秒、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p95 25.2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毫秒，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31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次采样。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474345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桩模式数据取自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backend/eval/report.json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（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2026-09-23 15:56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LLM_MOCK=true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）；真实模型数据取自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report-real-2026-09-22.json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48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做了什么，下一步做什么&#13;&#10;            &lt;/Text&gt;&#13;&#10;        &lt;/Box&gt;&#13;&#10;        &lt;Text style={{ fontSize: 15, color: 'rgba(255,255,255,0.7)', fontFamily: '微软雅黑' }}&gt;&#13;&#10;            总结与展望&#13;&#10;        &lt;/Text&gt;&#13;&#10;    &lt;/Box&gt;&#13;&#10;&#13;&#10;    &lt;Box style={{ flex: 1, flexDirection: 'column', padding: '20px 40px 0 40px', gap: 14 }}&gt;&#13;&#10;        &lt;Box style={{ flexDirection: 'row', gap: 16, alignItems: 'flex-start' }}&gt;&#13;&#10;            {/* 已实现 */}&#13;&#10;            &lt;Box style={{ flex: 1, background: '#F0F5FC', border: { top: { width: 4, color: '#1E4FA8' } }, flexDirection: 'column', padding: 18, gap: 12 }}&gt;&#13;&#10;                &lt;Text style={{ fontSize: 24, fontWeight: 'bold', color: '#0E3F8C', fontFamily: '微软雅黑' }}&gt;已实现&lt;/Text&gt;&#13;&#10;                &lt;Box style={{ flexDirection: 'column', gap: 9 }}&gt;&#13;&#10;                    &lt;Box style={{ flexDirection: 'column', gap: 2 }}&gt;&#13;&#10;                        &lt;Text style={{ fontSize: 19, fontWeight: 'bold', color: '#1E4FA8', fontFamily: '微软雅黑' }}&gt;口径集中配置&lt;/Text&gt;&#13;&#10;                        &lt;Text style={{ fontSize: 17, color: '#4A5568', fontFamily: '微软雅黑', lineHeight: 1.45 }}&gt;七个指标的表达式、必带过滤与边界说明写入语义层&lt;/Text&gt;&#13;&#10;                    &lt;/Box&gt;&#13;&#10;                    &lt;Box style={{ flexDirection: 'column', gap: 2 }}&gt;&#13;&#10;                        &lt;Text style={{ fontSize: 19, fontWeight: 'bold', color: '#1E4FA8', fontFamily: '微软雅黑' }}&gt;状态机编排&lt;/Text&gt;&#13;&#10;                        &lt;Text style={{ fontSize: 17, color: '#4A5568', fontFamily: '微软雅黑', lineHeight: 1.45 }}&gt;八个业务节点，含重试回环与三条终态出口&lt;/Text&gt;&#13;&#10;                    &lt;/Box&gt;&#13;&#10;                    &lt;Box style={{ flexDirection: 'column', gap: 2 }}&gt;&#13;&#10;                        &lt;Text style={{ fontSize: 19, fontWeight: 'bold', color: '#1E4FA8', fontFamily: '微软雅黑' }}&gt;双层校验&lt;/Text&gt;&#13;&#10;                        &lt;Text style={{ fontSize: 17, color: '#4A5568', fontFamily: '微软雅黑', lineHeight: 1.45 }}&gt;九条守卫管语句安全，口径签名管算的是不是那个量&lt;/Text&gt;&#13;&#10;                    &lt;/Box&gt;&#13;&#10;                    &lt;Box style={{ flexDirection: 'column', gap: 2 }}&gt;&#13;&#10;                        &lt;Text style={{ fontSize: 19, fontWeight: 'bold', color: '#1E4FA8', fontFamily: '微软雅黑' }}&gt;可信与测试&lt;/Text&gt;&#13;&#10;                        &lt;Text style={{ fontSize: 17, color: '#4A5568', fontFamily: '微软雅黑', lineHeight: 1.45 }}&gt;审计留痕、数字回溯，520 条测试覆盖九条规则&lt;/Text&gt;&#13;&#10;                    &lt;/Box&gt;&#13;&#10;                &lt;/Box&gt;&#13;&#10;            &lt;/Box&gt;&#13;&#10;&#13;&#10;            {/* 明确不做 */}&#13;&#10;            &lt;Box style={{ flex: 1, background: '#F7F9FC', border: { top: { width: 4, color: '#8B97A8' } }, flexDirection: 'column', padding: 18, gap: 12 }}&gt;&#13;&#10;                &lt;Text style={{ fontSize: 24, fontWeight: 'bold', color: '#0E3F8C', fontFamily: '微软雅黑' }}&gt;明确不做&lt;/Text&gt;&#13;&#10;                &lt;Box style={{ flexDirection: 'column', gap: 9 }}&gt;&#13;&#10;                    &lt;Box style={{ flexDirection: 'column', gap: 2 }}&gt;&#13;&#10;                        &lt;Text style={{ fontSize: 19, fontWeight: 'bold', color: '#4A5568', fontFamily: '微软雅黑' }}&gt;用户体系&lt;/Text&gt;&#13;&#10;                        &lt;Text style={{ fontSize: 17, color: '#4A5568', fontFamily: '微软雅黑', lineHeight: 1.45 }}&gt;不做注册鉴权，单机演示环境，审计只到会话粒度&lt;/Text&gt;&#13;&#10;                    &lt;/Box&gt;&#13;&#10;                    &lt;Box style={{ flexDirection: 'column', gap: 2 }}&gt;&#13;&#10;                        &lt;Text style={{ fontSize: 19, fontWeight: 'bold', color: '#4A5568', fontFamily: '微软雅黑' }}&gt;多租户&lt;/Text&gt;&#13;&#10;                        &lt;Text style={{ fontSize: 17, color: '#4A5568', fontFamily: '微软雅黑', lineHeight: 1.45 }}&gt;不做租户隔离，也不做读写分离&lt;/Text&gt;&#13;&#10;                    &lt;/Box&gt;&#13;&#10;                    &lt;Box style={{ flexDirection: 'column', gap: 2 }}&gt;&#13;&#10;                        &lt;Text style={{ fontSize: 19, fontWeight: 'bold', color: '#4A5568', fontFamily: '微软雅黑' }}&gt;容器编排&lt;/Text&gt;&#13;&#10;                        &lt;Text style={{ fontSize: 17, color: '#4A5568', fontFamily: '微软雅黑', lineHeight: 1.45 }}&gt;不走 Docker，本地直接启动，减少排查成本&lt;/Text&gt;&#13;&#10;                    &lt;/Box&gt;&#13;&#10;                    &lt;Box style={{ flexDirection: 'column', gap: 2 }}&gt;&#13;&#10;                        &lt;Text style={{ fontSize: 19, fontWeight: 'bold', color: '#4A5568', fontFamily: '微软雅黑' }}&gt;中间件&lt;/Text&gt;&#13;&#10;                        &lt;Text style={{ fontSize: 17, color: '#4A5568', fontFamily: '微软雅黑', lineHeight: 1.45 }}&gt;不引入向量库、缓存与消息队列&lt;/Text&gt;&#13;&#10;                    &lt;/Box&gt;&#13;&#10;                &lt;/Box&gt;&#13;&#10;            &lt;/Box&gt;&#13;&#10;&#13;&#10;            {/* 后续演进 */}&#13;&#10;            &lt;Box style={{ flex: 1, background: '#F7F9FC', border: { top: { width: 4, color: '#3D7BD9' } }, flexDirection: 'column', padding: 18, gap: 12 }}&gt;&#13;&#10;                &lt;Text style={{ fontSize: 24, fontWeight: 'bold', color: '#0E3F8C', fontFamily: '微软雅黑' }}&gt;后续演进&lt;/Text&gt;&#13;&#10;                &lt;Box style={{ flexDirection: 'column', gap: 9 }}&gt;&#13;&#10;                    &lt;Box style={{ flexDirection: 'column', gap: 2 }}&gt;&#13;&#10;                        &lt;Text style={{ fontSize: 19, fontWeight: 'bold', color: '#3D7BD9', fontFamily: '微软雅黑' }}&gt;换库&lt;/Text&gt;&#13;&#10;                        &lt;Text style={{ fontSize: 17, color: '#4A5568', fontFamily: '微软雅黑', lineHeight: 1.45 }}&gt;单表超过 500 万行时切换，仓储层接口已就位&lt;/Text&gt;&#13;&#10;                    &lt;/Box&gt;&#13;&#10;                    &lt;Box style={{ flexDirection: 'column', gap: 2 }}&gt;&#13;&#10;                        &lt;Text style={{ fontSize: 19, fontWeight: 'bold', color: '#3D7BD9', fontFamily: '微软雅黑' }}&gt;召回升级&lt;/Text&gt;&#13;&#10;                        &lt;Text style={{ fontSize: 17, color: '#4A5568', fontFamily: '微软雅黑', lineHeight: 1.45 }}&gt;表数量超过 30 张时，规则匹配改走向量检索&lt;/Text&gt;&#13;&#10;                    &lt;/Box&gt;&#13;&#10;                    &lt;Box style={{ flexDirection: 'column', gap: 2 }}&gt;&#13;&#10;                        &lt;Text style={{ fontSize: 19, fontWeight: 'bold', color: '#3D7BD9', fontFamily: '微软雅黑' }}&gt;审计归档&lt;/Text&gt;&#13;&#10;                        &lt;Text style={{ fontSize: 17, color: '#4A5568', fontFamily: '微软雅黑', lineHeight: 1.45 }}&gt;补保留期与定期清理，当前审计表无过期策略&lt;/Text&gt;&#13;&#10;                    &lt;/Box&gt;&#13;&#10;                    &lt;Box style={{ flexDirection: 'column', gap: 2 }}&gt;&#13;&#10;                        &lt;Text style={{ fontSize: 19, fontWeight: 'bold', color: '#3D7BD9', fontFamily: '微软雅黑' }}&gt;对比留痕&lt;/Text&gt;&#13;&#10;                        &lt;Text style={{ fontSize: 17, color: '#4A5568', fontFamily: '微软雅黑', lineHeight: 1.45 }}&gt;对比期查询补齐 SQL 原文与耗时记录&lt;/Text&gt;&#13;&#10;                    &lt;/Box&gt;&#13;&#10;                &lt;/Box&gt;&#13;&#10;            &lt;/Box&gt;&#13;&#10;        &lt;/Box&gt;&#13;&#10;&#13;&#10;        {/* 致谢条 */}&#13;&#10;        &lt;Box style={{ width: '100%', height: 116, background: '#0E3F8C', flexDirection: 'row', alignItems: 'center', justifyContent: 'space-between', padding: '0 34px' }}&gt;&#13;&#10;            &lt;Box style={{ flexDirection: 'column', gap: 6 }}&gt;&#13;&#10;                &lt;Text style={{ fontSize: 34, fontWeight: 'bold', color: '#FFFFFF', fontFamily: '微软雅黑' }}&gt;&#13;&#10;                    汇报完毕，请各位老师批评指正&#13;&#10;                &lt;/Text&gt;&#13;&#10;                &lt;Text style={{ fontSize: 18, color: 'rgba(255,255,255,0.78)', fontFamily: '微软雅黑' }}&gt;&#13;&#10;                    基于 Text2SQL 的电商数据分析 Agent　·　口径集中配置　执行前校验　结果可追溯&#13;&#10;                &lt;/Text&gt;&#13;&#10;            &lt;/Box&gt;&#13;&#10;            &lt;Box style={{ flexDirection: 'column', gap: 5, alignItems: 'flex-end' }}&gt;&#13;&#10;                &lt;Text style={{ fontSize: 17, color: 'rgba(255,255,255,0.72)', fontFamily: '微软雅黑' }}&gt;答辩人　李金盛&lt;/Text&gt;&#13;&#10;                &lt;Text style={{ fontSize: 17, color: 'rgba(255,255,255,0.72)', fontFamily: '微软雅黑' }}&gt;指导老师　待填写&lt;/Text&gt;&#13;&#10;                &lt;Text style={{ fontSize: 17, color: 'rgba(255,255,255,0.72)', fontFamily: '微软雅黑' }}&gt;学号　2021000000&lt;/Text&gt;&#13;&#10;            &lt;/Box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做了什么，下一步做什么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总结与展望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81000" y="876300"/>
            <a:ext cx="3705225" cy="39433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52450" y="104775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已实现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52450" y="14382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口径集中配置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362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七个指标的表达式、必带过滤与边界说明写入语义层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233362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状态机编排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52450" y="257175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八个业务节点，含重试回环与三条终态出口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2450" y="294322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双层校验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52450" y="3181350"/>
            <a:ext cx="3362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九条守卫管语句安全，口径签名管算的是不是那个量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52450" y="38385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可信与测试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52450" y="4076700"/>
            <a:ext cx="3362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审计留痕、数字回溯，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520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条测试覆盖九条规则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238625" y="876300"/>
            <a:ext cx="3714750" cy="3371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410075" y="1047750"/>
            <a:ext cx="3371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明确不做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410075" y="143827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用户体系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410075" y="1676400"/>
            <a:ext cx="3371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不做注册鉴权，单机演示环境，审计只到会话粒度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410075" y="23336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多租户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410075" y="25717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不做租户隔离，也不做读写分离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410075" y="29432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容器编排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410075" y="31813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不走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Docker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，本地直接启动，减少排查成本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410075" y="35528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中间件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410075" y="37909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不引入向量库、缓存与消息队列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105775" y="876300"/>
            <a:ext cx="3705225" cy="3086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277225" y="104775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后续演进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77225" y="14382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换库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77225" y="16764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单表超过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500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万行时切换，仓储层接口已就位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277225" y="20478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召回升级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277225" y="22860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表数量超过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30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张时，规则匹配改走向量检索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77225" y="26574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审计归档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277225" y="28956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补保留期与定期清理，当前审计表无过期策略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277225" y="32670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对比留痕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277225" y="35052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对比期查询补齐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原文与耗时记录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81000" y="4953000"/>
            <a:ext cx="11430000" cy="1104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04850" y="5181600"/>
            <a:ext cx="6353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微软雅黑"/>
                <a:ea typeface="微软雅黑"/>
              </a:rPr>
              <a:t>汇报完毕，请各位老师批评指正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04850" y="5629275"/>
            <a:ext cx="6353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基于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 Text2SQL 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的电商数据分析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 Agent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　·　口径集中配置　执行前校验　结果可追溯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0353675" y="51625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答辩人　李金盛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191750" y="54102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指导老师　待填写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0115550" y="565785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学号　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2021000000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2026-09-29T09:47:59Z</dcterms:created>
  <dcterms:modified xsi:type="dcterms:W3CDTF">2026-09-29T09:47:59Z</dcterms:modified>
</cp:coreProperties>
</file>